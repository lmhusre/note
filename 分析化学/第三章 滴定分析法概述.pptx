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4a" ContentType="audio/mp4"/>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3" r:id="rId1"/>
    <p:sldMasterId id="2147483685" r:id="rId2"/>
  </p:sldMasterIdLst>
  <p:notesMasterIdLst>
    <p:notesMasterId r:id="rId21"/>
  </p:notesMasterIdLst>
  <p:sldIdLst>
    <p:sldId id="568" r:id="rId3"/>
    <p:sldId id="515" r:id="rId4"/>
    <p:sldId id="569" r:id="rId5"/>
    <p:sldId id="476" r:id="rId6"/>
    <p:sldId id="479" r:id="rId7"/>
    <p:sldId id="480" r:id="rId8"/>
    <p:sldId id="481" r:id="rId9"/>
    <p:sldId id="482" r:id="rId10"/>
    <p:sldId id="483" r:id="rId11"/>
    <p:sldId id="484" r:id="rId12"/>
    <p:sldId id="485" r:id="rId13"/>
    <p:sldId id="487" r:id="rId14"/>
    <p:sldId id="488" r:id="rId15"/>
    <p:sldId id="491" r:id="rId16"/>
    <p:sldId id="489" r:id="rId17"/>
    <p:sldId id="492" r:id="rId18"/>
    <p:sldId id="537" r:id="rId19"/>
    <p:sldId id="497" r:id="rId2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默认节" id="{C0A53AA7-EDFF-4B3E-8779-3014AD212F62}">
          <p14:sldIdLst>
            <p14:sldId id="568"/>
            <p14:sldId id="515"/>
            <p14:sldId id="569"/>
            <p14:sldId id="476"/>
            <p14:sldId id="479"/>
            <p14:sldId id="480"/>
            <p14:sldId id="481"/>
            <p14:sldId id="482"/>
            <p14:sldId id="483"/>
            <p14:sldId id="484"/>
            <p14:sldId id="485"/>
            <p14:sldId id="487"/>
            <p14:sldId id="488"/>
            <p14:sldId id="491"/>
            <p14:sldId id="489"/>
            <p14:sldId id="492"/>
            <p14:sldId id="537"/>
            <p14:sldId id="497"/>
          </p14:sldIdLst>
        </p14:section>
      </p14:sectionLst>
    </p:ex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B13315"/>
    <a:srgbClr val="FFFFFF"/>
    <a:srgbClr val="FF9900"/>
    <a:srgbClr val="CCECFF"/>
    <a:srgbClr val="130658"/>
    <a:srgbClr val="99CC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50" autoAdjust="0"/>
    <p:restoredTop sz="96439" autoAdjust="0"/>
  </p:normalViewPr>
  <p:slideViewPr>
    <p:cSldViewPr>
      <p:cViewPr varScale="1">
        <p:scale>
          <a:sx n="113" d="100"/>
          <a:sy n="113" d="100"/>
        </p:scale>
        <p:origin x="606" y="108"/>
      </p:cViewPr>
      <p:guideLst>
        <p:guide orient="horz" pos="2205"/>
        <p:guide pos="3840"/>
      </p:guideLst>
    </p:cSldViewPr>
  </p:slideViewPr>
  <p:outlineViewPr>
    <p:cViewPr>
      <p:scale>
        <a:sx n="33" d="100"/>
        <a:sy n="33" d="100"/>
      </p:scale>
      <p:origin x="0" y="2674"/>
    </p:cViewPr>
  </p:outlineViewPr>
  <p:notesTextViewPr>
    <p:cViewPr>
      <p:scale>
        <a:sx n="75" d="100"/>
        <a:sy n="7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D26018-2F32-4C15-9D63-33D470E78487}" type="datetimeFigureOut">
              <a:rPr lang="zh-CN" altLang="en-US" smtClean="0"/>
              <a:t>2026/3/18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8357424-E88C-48BF-8C90-922030D4AB5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D241FAAC-A853-4F1F-872A-34BF1B8A5965}" type="slidenum">
              <a:rPr lang="en-US" altLang="zh-CN" b="0" smtClean="0">
                <a:ea typeface="宋体" panose="02010600030101010101" pitchFamily="2" charset="-122"/>
              </a:rPr>
              <a:t>5</a:t>
            </a:fld>
            <a:endParaRPr lang="en-US" altLang="zh-CN" b="0">
              <a:ea typeface="宋体" panose="02010600030101010101" pitchFamily="2" charset="-122"/>
            </a:endParaRPr>
          </a:p>
        </p:txBody>
      </p:sp>
      <p:sp>
        <p:nvSpPr>
          <p:cNvPr id="23555" name="Rectangle 2"/>
          <p:cNvSpPr>
            <a:spLocks noGrp="1" noRot="1" noChangeAspect="1" noChangeArrowheads="1" noTextEdit="1"/>
          </p:cNvSpPr>
          <p:nvPr>
            <p:ph type="sldImg"/>
          </p:nvPr>
        </p:nvSpPr>
        <p:spPr>
          <a:xfrm>
            <a:off x="381000" y="685800"/>
            <a:ext cx="6096000" cy="3429000"/>
          </a:xfrm>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B0E6DBF0-A6D1-47B1-BA27-CF2EB1BDFD60}" type="slidenum">
              <a:rPr lang="en-US" altLang="zh-CN" b="0" smtClean="0">
                <a:ea typeface="宋体" panose="02010600030101010101" pitchFamily="2" charset="-122"/>
              </a:rPr>
              <a:t>6</a:t>
            </a:fld>
            <a:endParaRPr lang="en-US" altLang="zh-CN" b="0">
              <a:ea typeface="宋体" panose="02010600030101010101" pitchFamily="2" charset="-122"/>
            </a:endParaRPr>
          </a:p>
        </p:txBody>
      </p:sp>
      <p:sp>
        <p:nvSpPr>
          <p:cNvPr id="24579" name="Rectangle 2"/>
          <p:cNvSpPr>
            <a:spLocks noGrp="1" noRot="1" noChangeAspect="1" noChangeArrowheads="1" noTextEdit="1"/>
          </p:cNvSpPr>
          <p:nvPr>
            <p:ph type="sldImg"/>
          </p:nvPr>
        </p:nvSpPr>
        <p:spPr>
          <a:xfrm>
            <a:off x="381000" y="685800"/>
            <a:ext cx="6096000" cy="3429000"/>
          </a:xfrm>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5F3A14FB-AFE5-4D14-8774-E4417D3C550A}" type="slidenum">
              <a:rPr lang="en-US" altLang="zh-CN" b="0" smtClean="0">
                <a:ea typeface="宋体" panose="02010600030101010101" pitchFamily="2" charset="-122"/>
              </a:rPr>
              <a:t>7</a:t>
            </a:fld>
            <a:endParaRPr lang="en-US" altLang="zh-CN" b="0">
              <a:ea typeface="宋体" panose="02010600030101010101" pitchFamily="2" charset="-122"/>
            </a:endParaRPr>
          </a:p>
        </p:txBody>
      </p:sp>
      <p:sp>
        <p:nvSpPr>
          <p:cNvPr id="25603" name="Rectangle 2"/>
          <p:cNvSpPr>
            <a:spLocks noGrp="1" noRot="1" noChangeAspect="1" noChangeArrowheads="1" noTextEdit="1"/>
          </p:cNvSpPr>
          <p:nvPr>
            <p:ph type="sldImg"/>
          </p:nvPr>
        </p:nvSpPr>
        <p:spPr>
          <a:xfrm>
            <a:off x="381000" y="685800"/>
            <a:ext cx="6096000" cy="3429000"/>
          </a:xfrm>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961F9AEB-4573-4F6C-8FE3-84149AFE2E3E}" type="slidenum">
              <a:rPr lang="en-US" altLang="zh-CN" b="0" smtClean="0">
                <a:ea typeface="宋体" panose="02010600030101010101" pitchFamily="2" charset="-122"/>
              </a:rPr>
              <a:t>8</a:t>
            </a:fld>
            <a:endParaRPr lang="en-US" altLang="zh-CN" b="0">
              <a:ea typeface="宋体" panose="02010600030101010101" pitchFamily="2" charset="-122"/>
            </a:endParaRPr>
          </a:p>
        </p:txBody>
      </p:sp>
      <p:sp>
        <p:nvSpPr>
          <p:cNvPr id="26627" name="Rectangle 2"/>
          <p:cNvSpPr>
            <a:spLocks noGrp="1" noRot="1" noChangeAspect="1" noChangeArrowheads="1" noTextEdit="1"/>
          </p:cNvSpPr>
          <p:nvPr>
            <p:ph type="sldImg"/>
          </p:nvPr>
        </p:nvSpPr>
        <p:spPr>
          <a:xfrm>
            <a:off x="381000" y="685800"/>
            <a:ext cx="6096000" cy="3429000"/>
          </a:xfrm>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248757E4-069D-401B-9945-AA98DB13DE09}" type="slidenum">
              <a:rPr lang="en-US" altLang="zh-CN" b="0" smtClean="0">
                <a:ea typeface="宋体" panose="02010600030101010101" pitchFamily="2" charset="-122"/>
              </a:rPr>
              <a:t>11</a:t>
            </a:fld>
            <a:endParaRPr lang="en-US" altLang="zh-CN" b="0">
              <a:ea typeface="宋体" panose="02010600030101010101" pitchFamily="2" charset="-122"/>
            </a:endParaRPr>
          </a:p>
        </p:txBody>
      </p:sp>
      <p:sp>
        <p:nvSpPr>
          <p:cNvPr id="28675" name="Rectangle 2"/>
          <p:cNvSpPr>
            <a:spLocks noGrp="1" noRot="1" noChangeAspect="1" noChangeArrowheads="1" noTextEdit="1"/>
          </p:cNvSpPr>
          <p:nvPr>
            <p:ph type="sldImg"/>
          </p:nvPr>
        </p:nvSpPr>
        <p:spPr>
          <a:xfrm>
            <a:off x="381000" y="685800"/>
            <a:ext cx="6096000" cy="3429000"/>
          </a:xfrm>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27348D39-B099-49C1-B0D2-9BC9E88711C8}" type="slidenum">
              <a:rPr lang="en-US" altLang="zh-CN" b="0" smtClean="0">
                <a:ea typeface="宋体" panose="02010600030101010101" pitchFamily="2" charset="-122"/>
              </a:rPr>
              <a:t>12</a:t>
            </a:fld>
            <a:endParaRPr lang="en-US" altLang="zh-CN" b="0">
              <a:ea typeface="宋体" panose="02010600030101010101" pitchFamily="2" charset="-122"/>
            </a:endParaRPr>
          </a:p>
        </p:txBody>
      </p:sp>
      <p:sp>
        <p:nvSpPr>
          <p:cNvPr id="29699" name="Rectangle 2"/>
          <p:cNvSpPr>
            <a:spLocks noGrp="1" noRot="1" noChangeAspect="1" noChangeArrowheads="1" noTextEdit="1"/>
          </p:cNvSpPr>
          <p:nvPr>
            <p:ph type="sldImg"/>
          </p:nvPr>
        </p:nvSpPr>
        <p:spPr>
          <a:xfrm>
            <a:off x="381000" y="685800"/>
            <a:ext cx="6096000" cy="3429000"/>
          </a:xfrm>
        </p:spPr>
      </p:sp>
      <p:sp>
        <p:nvSpPr>
          <p:cNvPr id="29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8357424-E88C-48BF-8C90-922030D4AB5B}" type="slidenum">
              <a:rPr lang="zh-CN" altLang="en-US" smtClean="0"/>
              <a:t>16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5" name="Footer Placeholder 4"/>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
        <p:nvSpPr>
          <p:cNvPr id="7" name="矩形 6">
            <a:extLst>
              <a:ext uri="{FF2B5EF4-FFF2-40B4-BE49-F238E27FC236}">
                <a16:creationId xmlns:a16="http://schemas.microsoft.com/office/drawing/2014/main" id="{1CAB3C65-10F2-4B5F-8CD2-95F8429F1757}"/>
              </a:ext>
            </a:extLst>
          </p:cNvPr>
          <p:cNvSpPr/>
          <p:nvPr userDrawn="1"/>
        </p:nvSpPr>
        <p:spPr>
          <a:xfrm>
            <a:off x="0" y="0"/>
            <a:ext cx="12192000" cy="17008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a:solidFill>
                <a:prstClr val="white"/>
              </a:solidFill>
            </a:endParaRPr>
          </a:p>
        </p:txBody>
      </p:sp>
      <p:pic>
        <p:nvPicPr>
          <p:cNvPr id="8" name="Picture 2" descr="E:\黄臻臻\会议\光功能材料与光电化学\图片\吉林大学校徽.jpg">
            <a:extLst>
              <a:ext uri="{FF2B5EF4-FFF2-40B4-BE49-F238E27FC236}">
                <a16:creationId xmlns:a16="http://schemas.microsoft.com/office/drawing/2014/main" id="{8209A296-C82A-481D-90B6-899FB0E513F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32011" y="15148"/>
            <a:ext cx="1255845" cy="941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625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5" name="Footer Placeholder 4"/>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2439632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5" name="Footer Placeholder 4"/>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730370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6" name="Footer Placeholder 5"/>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7" name="Slide Number Placeholder 6"/>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669705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8" name="Footer Placeholder 7"/>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9" name="Slide Number Placeholder 8"/>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920338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4" name="Footer Placeholder 3"/>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5" name="Slide Number Placeholder 4"/>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3945115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3" name="Footer Placeholder 2"/>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4" name="Slide Number Placeholder 3"/>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
        <p:nvSpPr>
          <p:cNvPr id="5" name="矩形 4">
            <a:extLst>
              <a:ext uri="{FF2B5EF4-FFF2-40B4-BE49-F238E27FC236}">
                <a16:creationId xmlns:a16="http://schemas.microsoft.com/office/drawing/2014/main" id="{F1133D3F-8306-4D6D-9C2A-6179EFE4AFC6}"/>
              </a:ext>
            </a:extLst>
          </p:cNvPr>
          <p:cNvSpPr/>
          <p:nvPr userDrawn="1"/>
        </p:nvSpPr>
        <p:spPr>
          <a:xfrm>
            <a:off x="0" y="0"/>
            <a:ext cx="12192000" cy="1412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07170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6" name="Footer Placeholder 5"/>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7" name="Slide Number Placeholder 6"/>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1035818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6" name="Footer Placeholder 5"/>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7" name="Slide Number Placeholder 6"/>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241889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5" name="Footer Placeholder 4"/>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1882540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95080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5" name="Footer Placeholder 4"/>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
        <p:nvSpPr>
          <p:cNvPr id="7" name="矩形 6">
            <a:extLst>
              <a:ext uri="{FF2B5EF4-FFF2-40B4-BE49-F238E27FC236}">
                <a16:creationId xmlns:a16="http://schemas.microsoft.com/office/drawing/2014/main" id="{5D4AE66F-0164-4C77-AC22-9E8702D13BEA}"/>
              </a:ext>
            </a:extLst>
          </p:cNvPr>
          <p:cNvSpPr/>
          <p:nvPr userDrawn="1"/>
        </p:nvSpPr>
        <p:spPr>
          <a:xfrm>
            <a:off x="0" y="0"/>
            <a:ext cx="12192000" cy="17008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a:solidFill>
                <a:prstClr val="white"/>
              </a:solidFill>
            </a:endParaRPr>
          </a:p>
        </p:txBody>
      </p:sp>
      <p:pic>
        <p:nvPicPr>
          <p:cNvPr id="8" name="Picture 2" descr="E:\黄臻臻\会议\光功能材料与光电化学\图片\吉林大学校徽.jpg">
            <a:extLst>
              <a:ext uri="{FF2B5EF4-FFF2-40B4-BE49-F238E27FC236}">
                <a16:creationId xmlns:a16="http://schemas.microsoft.com/office/drawing/2014/main" id="{6639F375-54E1-42F1-8E3E-78B7C29C113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32011" y="15148"/>
            <a:ext cx="1255845" cy="941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1105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5" name="Footer Placeholder 4"/>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
        <p:nvSpPr>
          <p:cNvPr id="7" name="矩形 6">
            <a:extLst>
              <a:ext uri="{FF2B5EF4-FFF2-40B4-BE49-F238E27FC236}">
                <a16:creationId xmlns:a16="http://schemas.microsoft.com/office/drawing/2014/main" id="{879B97C8-641D-49BC-BF08-A818F09CBAAC}"/>
              </a:ext>
            </a:extLst>
          </p:cNvPr>
          <p:cNvSpPr/>
          <p:nvPr userDrawn="1"/>
        </p:nvSpPr>
        <p:spPr>
          <a:xfrm>
            <a:off x="0" y="0"/>
            <a:ext cx="12192000" cy="13407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9066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5" name="Footer Placeholder 4"/>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12915346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6" name="Footer Placeholder 5"/>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7" name="Slide Number Placeholder 6"/>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
        <p:nvSpPr>
          <p:cNvPr id="8" name="矩形 7">
            <a:extLst>
              <a:ext uri="{FF2B5EF4-FFF2-40B4-BE49-F238E27FC236}">
                <a16:creationId xmlns:a16="http://schemas.microsoft.com/office/drawing/2014/main" id="{ACADDD12-EAE1-438B-8F72-E4DCC58B4FE5}"/>
              </a:ext>
            </a:extLst>
          </p:cNvPr>
          <p:cNvSpPr/>
          <p:nvPr userDrawn="1"/>
        </p:nvSpPr>
        <p:spPr>
          <a:xfrm>
            <a:off x="0" y="0"/>
            <a:ext cx="12192000" cy="1196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64489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8" name="Footer Placeholder 7"/>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9" name="Slide Number Placeholder 8"/>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4448118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4" name="Footer Placeholder 3"/>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5" name="Slide Number Placeholder 4"/>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3983974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3" name="Footer Placeholder 2"/>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4" name="Slide Number Placeholder 3"/>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
        <p:nvSpPr>
          <p:cNvPr id="5" name="矩形 4">
            <a:extLst>
              <a:ext uri="{FF2B5EF4-FFF2-40B4-BE49-F238E27FC236}">
                <a16:creationId xmlns:a16="http://schemas.microsoft.com/office/drawing/2014/main" id="{811CF2A2-E9F6-44D3-A036-A001E3B7F172}"/>
              </a:ext>
            </a:extLst>
          </p:cNvPr>
          <p:cNvSpPr/>
          <p:nvPr userDrawn="1"/>
        </p:nvSpPr>
        <p:spPr>
          <a:xfrm>
            <a:off x="0" y="0"/>
            <a:ext cx="12192000" cy="10527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64172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6" name="Footer Placeholder 5"/>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7" name="Slide Number Placeholder 6"/>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14858556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6" name="Footer Placeholder 5"/>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7" name="Slide Number Placeholder 6"/>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2076434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fontAlgn="auto">
              <a:spcBef>
                <a:spcPts val="0"/>
              </a:spcBef>
              <a:spcAft>
                <a:spcPts val="0"/>
              </a:spcAft>
            </a:pPr>
            <a:fld id="{0E065CFF-BEF3-4D05-B73D-253ADCCDA6F7}" type="datetimeFigureOut">
              <a:rPr lang="zh-CN" altLang="en-US" smtClean="0">
                <a:solidFill>
                  <a:prstClr val="black"/>
                </a:solidFill>
                <a:latin typeface="Calibri" panose="020F0502020204030204"/>
              </a:rPr>
              <a:pPr fontAlgn="auto">
                <a:spcBef>
                  <a:spcPts val="0"/>
                </a:spcBef>
                <a:spcAft>
                  <a:spcPts val="0"/>
                </a:spcAft>
              </a:pPr>
              <a:t>2026/3/18</a:t>
            </a:fld>
            <a:endParaRPr lang="zh-CN" altLang="en-US">
              <a:solidFill>
                <a:prstClr val="black"/>
              </a:solidFill>
              <a:latin typeface="Calibri" panose="020F0502020204030204"/>
            </a:endParaRPr>
          </a:p>
        </p:txBody>
      </p:sp>
      <p:sp>
        <p:nvSpPr>
          <p:cNvPr id="5" name="Footer Placeholder 4"/>
          <p:cNvSpPr>
            <a:spLocks noGrp="1"/>
          </p:cNvSpPr>
          <p:nvPr>
            <p:ph type="ftr" sz="quarter" idx="11"/>
          </p:nvPr>
        </p:nvSpPr>
        <p:spPr/>
        <p:txBody>
          <a:bodyPr/>
          <a:lstStyle/>
          <a:p>
            <a:pPr fontAlgn="auto">
              <a:spcBef>
                <a:spcPts val="0"/>
              </a:spcBef>
              <a:spcAft>
                <a:spcPts val="0"/>
              </a:spcAft>
            </a:pPr>
            <a:endParaRPr lang="zh-CN" altLang="en-US">
              <a:solidFill>
                <a:prstClr val="black"/>
              </a:solidFill>
              <a:latin typeface="Calibri" panose="020F0502020204030204"/>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B3D04A47-57CE-4A30-9286-37270DA8BCDA}" type="slidenum">
              <a:rPr lang="zh-CN" altLang="en-US" smtClean="0">
                <a:solidFill>
                  <a:prstClr val="black"/>
                </a:solidFill>
                <a:latin typeface="Calibri" panose="020F0502020204030204"/>
              </a:rPr>
              <a:pPr fontAlgn="auto">
                <a:spcBef>
                  <a:spcPts val="0"/>
                </a:spcBef>
                <a:spcAft>
                  <a:spcPts val="0"/>
                </a:spcAft>
              </a:pPr>
              <a:t>‹#›</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30750299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339769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_标题幻灯片">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8" name="Rectangle 6"/>
          <p:cNvSpPr>
            <a:spLocks noGrp="1" noChangeArrowheads="1"/>
          </p:cNvSpPr>
          <p:nvPr>
            <p:ph type="sldNum" sz="quarter" idx="4"/>
          </p:nvPr>
        </p:nvSpPr>
        <p:spPr>
          <a:xfrm>
            <a:off x="304800" y="6400801"/>
            <a:ext cx="508000" cy="244475"/>
          </a:xfrm>
          <a:prstGeom prst="rect">
            <a:avLst/>
          </a:prstGeom>
        </p:spPr>
        <p:txBody>
          <a:bodyPr/>
          <a:lstStyle>
            <a:lvl1pPr>
              <a:defRPr sz="1200">
                <a:solidFill>
                  <a:schemeClr val="bg1"/>
                </a:solidFill>
              </a:defRPr>
            </a:lvl1pPr>
          </a:lstStyle>
          <a:p>
            <a:fld id="{4D7560BD-21FA-4386-AD47-88265649C02E}" type="slidenum">
              <a:rPr lang="en-US" altLang="zh-CN"/>
              <a:t>‹#›</a:t>
            </a:fld>
            <a:endParaRPr lang="en-US" altLang="zh-CN"/>
          </a:p>
        </p:txBody>
      </p:sp>
    </p:spTree>
    <p:extLst>
      <p:ext uri="{BB962C8B-B14F-4D97-AF65-F5344CB8AC3E}">
        <p14:creationId xmlns:p14="http://schemas.microsoft.com/office/powerpoint/2010/main" val="313561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3/18/2026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pic>
        <p:nvPicPr>
          <p:cNvPr id="7" name="Picture 7" descr="图片1">
            <a:extLst>
              <a:ext uri="{FF2B5EF4-FFF2-40B4-BE49-F238E27FC236}">
                <a16:creationId xmlns:a16="http://schemas.microsoft.com/office/drawing/2014/main" id="{CAC953AE-7B9F-4613-B065-50E465D9D7C0}"/>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b="83287"/>
          <a:stretch>
            <a:fillRect/>
          </a:stretch>
        </p:blipFill>
        <p:spPr bwMode="auto">
          <a:xfrm>
            <a:off x="-5869" y="6453337"/>
            <a:ext cx="12219517" cy="415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图片1">
            <a:extLst>
              <a:ext uri="{FF2B5EF4-FFF2-40B4-BE49-F238E27FC236}">
                <a16:creationId xmlns:a16="http://schemas.microsoft.com/office/drawing/2014/main" id="{52C49FD3-CC9D-42D5-BA4A-94A481E03D97}"/>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b="83287"/>
          <a:stretch>
            <a:fillRect/>
          </a:stretch>
        </p:blipFill>
        <p:spPr bwMode="auto">
          <a:xfrm rot="10800000">
            <a:off x="-23272" y="-21266"/>
            <a:ext cx="12219517" cy="785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2DF278B9-4643-4423-9BBF-7BA0485FFF3A}"/>
              </a:ext>
            </a:extLst>
          </p:cNvPr>
          <p:cNvSpPr/>
          <p:nvPr userDrawn="1"/>
        </p:nvSpPr>
        <p:spPr>
          <a:xfrm>
            <a:off x="0" y="6381329"/>
            <a:ext cx="12196245" cy="4873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7A5BAC8-E0B8-476C-9D8E-D7342D960621}"/>
              </a:ext>
            </a:extLst>
          </p:cNvPr>
          <p:cNvSpPr/>
          <p:nvPr userDrawn="1"/>
        </p:nvSpPr>
        <p:spPr>
          <a:xfrm>
            <a:off x="5767" y="1"/>
            <a:ext cx="12196245" cy="7647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986AB4-D3CD-4555-A321-725C973431F3}"/>
              </a:ext>
            </a:extLst>
          </p:cNvPr>
          <p:cNvSpPr/>
          <p:nvPr userDrawn="1"/>
        </p:nvSpPr>
        <p:spPr>
          <a:xfrm>
            <a:off x="0" y="6660985"/>
            <a:ext cx="12192000" cy="207649"/>
          </a:xfrm>
          <a:prstGeom prst="rect">
            <a:avLst/>
          </a:prstGeom>
          <a:solidFill>
            <a:srgbClr val="009999"/>
          </a:solid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107844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3/18/2026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pic>
        <p:nvPicPr>
          <p:cNvPr id="7" name="Picture 7" descr="图片1">
            <a:extLst>
              <a:ext uri="{FF2B5EF4-FFF2-40B4-BE49-F238E27FC236}">
                <a16:creationId xmlns:a16="http://schemas.microsoft.com/office/drawing/2014/main" id="{B1BA47A2-E001-4D28-80D3-830FDD71EA69}"/>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b="83287"/>
          <a:stretch>
            <a:fillRect/>
          </a:stretch>
        </p:blipFill>
        <p:spPr bwMode="auto">
          <a:xfrm>
            <a:off x="-5869" y="6453337"/>
            <a:ext cx="12219517" cy="415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图片1">
            <a:extLst>
              <a:ext uri="{FF2B5EF4-FFF2-40B4-BE49-F238E27FC236}">
                <a16:creationId xmlns:a16="http://schemas.microsoft.com/office/drawing/2014/main" id="{7305D540-2425-431A-B6BD-88A1EACB1E7F}"/>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b="83287"/>
          <a:stretch>
            <a:fillRect/>
          </a:stretch>
        </p:blipFill>
        <p:spPr bwMode="auto">
          <a:xfrm rot="10800000">
            <a:off x="-23272" y="-21266"/>
            <a:ext cx="12219517" cy="785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56DEBD3D-7DC4-4D08-B3E2-C6B47A330D45}"/>
              </a:ext>
            </a:extLst>
          </p:cNvPr>
          <p:cNvSpPr/>
          <p:nvPr userDrawn="1"/>
        </p:nvSpPr>
        <p:spPr>
          <a:xfrm>
            <a:off x="0" y="6381329"/>
            <a:ext cx="12196245" cy="48730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6A87B477-1EDB-43CB-A853-0B0B322803F7}"/>
              </a:ext>
            </a:extLst>
          </p:cNvPr>
          <p:cNvSpPr/>
          <p:nvPr userDrawn="1"/>
        </p:nvSpPr>
        <p:spPr>
          <a:xfrm>
            <a:off x="17403" y="8313"/>
            <a:ext cx="12196245" cy="7563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2459034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slideLayout" Target="../slideLayouts/slideLayout7.xml"/><Relationship Id="rId7" Type="http://schemas.openxmlformats.org/officeDocument/2006/relationships/image" Target="../media/image5.wmf"/><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wmf"/><Relationship Id="rId4" Type="http://schemas.openxmlformats.org/officeDocument/2006/relationships/oleObject" Target="../embeddings/oleObject1.bin"/><Relationship Id="rId9" Type="http://schemas.openxmlformats.org/officeDocument/2006/relationships/image" Target="../media/image6.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slideLayout" Target="../slideLayouts/slideLayout18.xml"/><Relationship Id="rId7" Type="http://schemas.openxmlformats.org/officeDocument/2006/relationships/image" Target="../media/image5.wmf"/><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6.wmf"/><Relationship Id="rId5" Type="http://schemas.openxmlformats.org/officeDocument/2006/relationships/image" Target="../media/image4.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7.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slideLayout" Target="../slideLayouts/slideLayout18.xml"/><Relationship Id="rId7" Type="http://schemas.openxmlformats.org/officeDocument/2006/relationships/image" Target="../media/image5.wmf"/><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oleObject" Target="../embeddings/oleObject9.bin"/><Relationship Id="rId11" Type="http://schemas.openxmlformats.org/officeDocument/2006/relationships/image" Target="../media/image6.wmf"/><Relationship Id="rId5" Type="http://schemas.openxmlformats.org/officeDocument/2006/relationships/image" Target="../media/image4.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7.w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6.xml"/><Relationship Id="rId1" Type="http://schemas.openxmlformats.org/officeDocument/2006/relationships/vmlDrawing" Target="../drawings/vmlDrawing4.vml"/><Relationship Id="rId6" Type="http://schemas.openxmlformats.org/officeDocument/2006/relationships/image" Target="../media/image8.wmf"/><Relationship Id="rId5" Type="http://schemas.openxmlformats.org/officeDocument/2006/relationships/oleObject" Target="../embeddings/oleObject12.bin"/><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slideLayout" Target="../slideLayouts/slideLayout13.xml"/><Relationship Id="rId7" Type="http://schemas.openxmlformats.org/officeDocument/2006/relationships/oleObject" Target="../embeddings/oleObject14.bin"/><Relationship Id="rId2" Type="http://schemas.openxmlformats.org/officeDocument/2006/relationships/tags" Target="../tags/tag7.xml"/><Relationship Id="rId1" Type="http://schemas.openxmlformats.org/officeDocument/2006/relationships/vmlDrawing" Target="../drawings/vmlDrawing5.vml"/><Relationship Id="rId6" Type="http://schemas.openxmlformats.org/officeDocument/2006/relationships/image" Target="../media/image9.wmf"/><Relationship Id="rId5" Type="http://schemas.openxmlformats.org/officeDocument/2006/relationships/oleObject" Target="../embeddings/oleObject13.bin"/><Relationship Id="rId4"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5.wmf"/><Relationship Id="rId2" Type="http://schemas.openxmlformats.org/officeDocument/2006/relationships/tags" Target="../tags/tag11.xml"/><Relationship Id="rId1" Type="http://schemas.openxmlformats.org/officeDocument/2006/relationships/vmlDrawing" Target="../drawings/vmlDrawing6.vml"/><Relationship Id="rId6" Type="http://schemas.openxmlformats.org/officeDocument/2006/relationships/oleObject" Target="../embeddings/oleObject16.bin"/><Relationship Id="rId5" Type="http://schemas.openxmlformats.org/officeDocument/2006/relationships/image" Target="../media/image14.wmf"/><Relationship Id="rId4" Type="http://schemas.openxmlformats.org/officeDocument/2006/relationships/oleObject" Target="../embeddings/oleObject15.bin"/></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8.xml"/><Relationship Id="rId1" Type="http://schemas.openxmlformats.org/officeDocument/2006/relationships/tags" Target="../tags/tag1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3.xml"/><Relationship Id="rId1" Type="http://schemas.openxmlformats.org/officeDocument/2006/relationships/tags" Target="../tags/tag13.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29.png"/><Relationship Id="rId2" Type="http://schemas.openxmlformats.org/officeDocument/2006/relationships/slideLayout" Target="../slideLayouts/slideLayout18.xml"/><Relationship Id="rId1" Type="http://schemas.openxmlformats.org/officeDocument/2006/relationships/tags" Target="../tags/tag14.xml"/><Relationship Id="rId6"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287689" y="2492897"/>
            <a:ext cx="8332291" cy="64633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800" b="1">
                <a:solidFill>
                  <a:schemeClr val="tx1"/>
                </a:solidFill>
                <a:latin typeface="Tahoma" panose="020B0604030504040204" pitchFamily="34" charset="0"/>
                <a:ea typeface="黑体" panose="02010609060101010101" pitchFamily="2" charset="-122"/>
              </a:defRPr>
            </a:lvl1pPr>
            <a:lvl2pPr marL="742950" indent="-285750" eaLnBrk="0" hangingPunct="0">
              <a:defRPr sz="2800" b="1">
                <a:solidFill>
                  <a:schemeClr val="tx1"/>
                </a:solidFill>
                <a:latin typeface="Tahoma" panose="020B0604030504040204" pitchFamily="34" charset="0"/>
                <a:ea typeface="黑体" panose="02010609060101010101" pitchFamily="2" charset="-122"/>
              </a:defRPr>
            </a:lvl2pPr>
            <a:lvl3pPr marL="1143000" indent="-228600" eaLnBrk="0" hangingPunct="0">
              <a:defRPr sz="2800" b="1">
                <a:solidFill>
                  <a:schemeClr val="tx1"/>
                </a:solidFill>
                <a:latin typeface="Tahoma" panose="020B0604030504040204" pitchFamily="34" charset="0"/>
                <a:ea typeface="黑体" panose="02010609060101010101" pitchFamily="2" charset="-122"/>
              </a:defRPr>
            </a:lvl3pPr>
            <a:lvl4pPr marL="1600200" indent="-228600" eaLnBrk="0" hangingPunct="0">
              <a:defRPr sz="2800" b="1">
                <a:solidFill>
                  <a:schemeClr val="tx1"/>
                </a:solidFill>
                <a:latin typeface="Tahoma" panose="020B0604030504040204" pitchFamily="34" charset="0"/>
                <a:ea typeface="黑体" panose="02010609060101010101" pitchFamily="2" charset="-122"/>
              </a:defRPr>
            </a:lvl4pPr>
            <a:lvl5pPr marL="2057400" indent="-228600" eaLnBrk="0" hangingPunct="0">
              <a:defRPr sz="2800" b="1">
                <a:solidFill>
                  <a:schemeClr val="tx1"/>
                </a:solidFill>
                <a:latin typeface="Tahoma" panose="020B0604030504040204" pitchFamily="34" charset="0"/>
                <a:ea typeface="黑体" panose="02010609060101010101" pitchFamily="2" charset="-122"/>
              </a:defRPr>
            </a:lvl5pPr>
            <a:lvl6pPr marL="2514600" indent="-228600" eaLnBrk="0" fontAlgn="base" hangingPunct="0">
              <a:lnSpc>
                <a:spcPct val="180000"/>
              </a:lnSpc>
              <a:spcBef>
                <a:spcPct val="50000"/>
              </a:spcBef>
              <a:spcAft>
                <a:spcPct val="0"/>
              </a:spcAft>
              <a:defRPr sz="2800" b="1">
                <a:solidFill>
                  <a:schemeClr val="tx1"/>
                </a:solidFill>
                <a:latin typeface="Tahoma" panose="020B0604030504040204" pitchFamily="34" charset="0"/>
                <a:ea typeface="黑体" panose="02010609060101010101" pitchFamily="2" charset="-122"/>
              </a:defRPr>
            </a:lvl6pPr>
            <a:lvl7pPr marL="2971800" indent="-228600" eaLnBrk="0" fontAlgn="base" hangingPunct="0">
              <a:lnSpc>
                <a:spcPct val="180000"/>
              </a:lnSpc>
              <a:spcBef>
                <a:spcPct val="50000"/>
              </a:spcBef>
              <a:spcAft>
                <a:spcPct val="0"/>
              </a:spcAft>
              <a:defRPr sz="2800" b="1">
                <a:solidFill>
                  <a:schemeClr val="tx1"/>
                </a:solidFill>
                <a:latin typeface="Tahoma" panose="020B0604030504040204" pitchFamily="34" charset="0"/>
                <a:ea typeface="黑体" panose="02010609060101010101" pitchFamily="2" charset="-122"/>
              </a:defRPr>
            </a:lvl7pPr>
            <a:lvl8pPr marL="3429000" indent="-228600" eaLnBrk="0" fontAlgn="base" hangingPunct="0">
              <a:lnSpc>
                <a:spcPct val="180000"/>
              </a:lnSpc>
              <a:spcBef>
                <a:spcPct val="50000"/>
              </a:spcBef>
              <a:spcAft>
                <a:spcPct val="0"/>
              </a:spcAft>
              <a:defRPr sz="2800" b="1">
                <a:solidFill>
                  <a:schemeClr val="tx1"/>
                </a:solidFill>
                <a:latin typeface="Tahoma" panose="020B0604030504040204" pitchFamily="34" charset="0"/>
                <a:ea typeface="黑体" panose="02010609060101010101" pitchFamily="2" charset="-122"/>
              </a:defRPr>
            </a:lvl8pPr>
            <a:lvl9pPr marL="3886200" indent="-228600" eaLnBrk="0" fontAlgn="base" hangingPunct="0">
              <a:lnSpc>
                <a:spcPct val="180000"/>
              </a:lnSpc>
              <a:spcBef>
                <a:spcPct val="50000"/>
              </a:spcBef>
              <a:spcAft>
                <a:spcPct val="0"/>
              </a:spcAft>
              <a:defRPr sz="2800" b="1">
                <a:solidFill>
                  <a:schemeClr val="tx1"/>
                </a:solidFill>
                <a:latin typeface="Tahoma" panose="020B0604030504040204" pitchFamily="34" charset="0"/>
                <a:ea typeface="黑体" panose="02010609060101010101" pitchFamily="2" charset="-122"/>
              </a:defRPr>
            </a:lvl9pPr>
          </a:lstStyle>
          <a:p>
            <a:pPr eaLnBrk="1" hangingPunct="1">
              <a:spcBef>
                <a:spcPct val="50000"/>
              </a:spcBef>
            </a:pPr>
            <a:r>
              <a:rPr kumimoji="1" lang="zh-CN" altLang="en-US" sz="3600" dirty="0">
                <a:solidFill>
                  <a:srgbClr val="C00000"/>
                </a:solidFill>
                <a:latin typeface="Times New Roman" panose="02020603050405020304" pitchFamily="18" charset="0"/>
                <a:ea typeface="微软雅黑" panose="020B0503020204020204" pitchFamily="34" charset="-122"/>
              </a:rPr>
              <a:t>第三章</a:t>
            </a:r>
            <a:r>
              <a:rPr kumimoji="1" lang="en-US" altLang="zh-CN" sz="3600" dirty="0">
                <a:solidFill>
                  <a:srgbClr val="C00000"/>
                </a:solidFill>
                <a:latin typeface="Times New Roman" panose="02020603050405020304" pitchFamily="18" charset="0"/>
                <a:ea typeface="微软雅黑" panose="020B0503020204020204" pitchFamily="34" charset="-122"/>
              </a:rPr>
              <a:t>  </a:t>
            </a:r>
            <a:r>
              <a:rPr kumimoji="1" lang="zh-CN" altLang="en-US" sz="3600" dirty="0">
                <a:solidFill>
                  <a:srgbClr val="C00000"/>
                </a:solidFill>
                <a:latin typeface="Times New Roman" panose="02020603050405020304" pitchFamily="18" charset="0"/>
                <a:ea typeface="微软雅黑" panose="020B0503020204020204" pitchFamily="34" charset="-122"/>
              </a:rPr>
              <a:t>滴定分析法概述</a:t>
            </a:r>
          </a:p>
        </p:txBody>
      </p:sp>
    </p:spTree>
  </p:cSld>
  <p:clrMapOvr>
    <a:masterClrMapping/>
  </p:clrMapOvr>
  <mc:AlternateContent xmlns:mc="http://schemas.openxmlformats.org/markup-compatibility/2006" xmlns:p14="http://schemas.microsoft.com/office/powerpoint/2010/main">
    <mc:Choice Requires="p14">
      <p:transition spd="slow" p14:dur="2000" advTm="11318"/>
    </mc:Choice>
    <mc:Fallback xmlns="">
      <p:transition spd="slow" advTm="1131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775520" y="1270100"/>
            <a:ext cx="2882650" cy="5111229"/>
            <a:chOff x="35496" y="1190331"/>
            <a:chExt cx="2882650" cy="5111229"/>
          </a:xfrm>
        </p:grpSpPr>
        <p:graphicFrame>
          <p:nvGraphicFramePr>
            <p:cNvPr id="3" name="Object 23"/>
            <p:cNvGraphicFramePr>
              <a:graphicFrameLocks noChangeAspect="1"/>
            </p:cNvGraphicFramePr>
            <p:nvPr/>
          </p:nvGraphicFramePr>
          <p:xfrm>
            <a:off x="570122" y="4117160"/>
            <a:ext cx="1241425" cy="2184400"/>
          </p:xfrm>
          <a:graphic>
            <a:graphicData uri="http://schemas.openxmlformats.org/presentationml/2006/ole">
              <mc:AlternateContent xmlns:mc="http://schemas.openxmlformats.org/markup-compatibility/2006">
                <mc:Choice xmlns:v="urn:schemas-microsoft-com:vml" Requires="v">
                  <p:oleObj spid="_x0000_s256252" name="CS ChemDraw Drawing" r:id="rId4" imgW="1488440" imgH="2621280" progId="ChemDraw.Document.6.0">
                    <p:embed/>
                  </p:oleObj>
                </mc:Choice>
                <mc:Fallback>
                  <p:oleObj name="CS ChemDraw Drawing" r:id="rId4" imgW="1488440" imgH="2621280" progId="ChemDraw.Document.6.0">
                    <p:embed/>
                    <p:pic>
                      <p:nvPicPr>
                        <p:cNvPr id="0" name="图片 2561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122" y="4117160"/>
                          <a:ext cx="1241425" cy="218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AutoShape 24"/>
            <p:cNvSpPr>
              <a:spLocks noChangeArrowheads="1"/>
            </p:cNvSpPr>
            <p:nvPr/>
          </p:nvSpPr>
          <p:spPr bwMode="auto">
            <a:xfrm flipH="1">
              <a:off x="1159085" y="2967810"/>
              <a:ext cx="107950" cy="862013"/>
            </a:xfrm>
            <a:prstGeom prst="flowChartTerminator">
              <a:avLst/>
            </a:prstGeom>
            <a:solidFill>
              <a:schemeClr val="accent5">
                <a:lumMod val="20000"/>
                <a:lumOff val="80000"/>
              </a:schemeClr>
            </a:solidFill>
            <a:ln>
              <a:noFill/>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5" name="AutoShape 25"/>
            <p:cNvSpPr>
              <a:spLocks noChangeArrowheads="1"/>
            </p:cNvSpPr>
            <p:nvPr/>
          </p:nvSpPr>
          <p:spPr bwMode="auto">
            <a:xfrm>
              <a:off x="1049547" y="1489848"/>
              <a:ext cx="287338" cy="1620837"/>
            </a:xfrm>
            <a:prstGeom prst="flowChartTerminator">
              <a:avLst/>
            </a:prstGeom>
            <a:solidFill>
              <a:schemeClr val="accent5">
                <a:lumMod val="20000"/>
                <a:lumOff val="80000"/>
              </a:schemeClr>
            </a:solidFill>
            <a:ln>
              <a:noFill/>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graphicFrame>
          <p:nvGraphicFramePr>
            <p:cNvPr id="6" name="Object 27"/>
            <p:cNvGraphicFramePr>
              <a:graphicFrameLocks noChangeAspect="1"/>
            </p:cNvGraphicFramePr>
            <p:nvPr/>
          </p:nvGraphicFramePr>
          <p:xfrm>
            <a:off x="906672" y="1190331"/>
            <a:ext cx="720725" cy="2725738"/>
          </p:xfrm>
          <a:graphic>
            <a:graphicData uri="http://schemas.openxmlformats.org/presentationml/2006/ole">
              <mc:AlternateContent xmlns:mc="http://schemas.openxmlformats.org/markup-compatibility/2006">
                <mc:Choice xmlns:v="urn:schemas-microsoft-com:vml" Requires="v">
                  <p:oleObj spid="_x0000_s256253" name="CS ChemDraw Drawing" r:id="rId6" imgW="690880" imgH="4556760" progId="ChemDraw.Document.6.0">
                    <p:embed/>
                  </p:oleObj>
                </mc:Choice>
                <mc:Fallback>
                  <p:oleObj name="CS ChemDraw Drawing" r:id="rId6" imgW="690880" imgH="4556760" progId="ChemDraw.Document.6.0">
                    <p:embed/>
                    <p:pic>
                      <p:nvPicPr>
                        <p:cNvPr id="0" name="图片 2561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672" y="1190331"/>
                          <a:ext cx="720725" cy="272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AutoShape 29"/>
            <p:cNvSpPr>
              <a:spLocks noChangeAspect="1" noChangeArrowheads="1"/>
            </p:cNvSpPr>
            <p:nvPr/>
          </p:nvSpPr>
          <p:spPr bwMode="auto">
            <a:xfrm>
              <a:off x="1138447" y="3902848"/>
              <a:ext cx="107950" cy="107950"/>
            </a:xfrm>
            <a:prstGeom prst="flowChartConnector">
              <a:avLst/>
            </a:prstGeom>
            <a:solidFill>
              <a:srgbClr val="CCECFF"/>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graphicFrame>
          <p:nvGraphicFramePr>
            <p:cNvPr id="10" name="Object 31"/>
            <p:cNvGraphicFramePr>
              <a:graphicFrameLocks noChangeAspect="1"/>
            </p:cNvGraphicFramePr>
            <p:nvPr/>
          </p:nvGraphicFramePr>
          <p:xfrm>
            <a:off x="1157497" y="3264673"/>
            <a:ext cx="827088" cy="874712"/>
          </p:xfrm>
          <a:graphic>
            <a:graphicData uri="http://schemas.openxmlformats.org/presentationml/2006/ole">
              <mc:AlternateContent xmlns:mc="http://schemas.openxmlformats.org/markup-compatibility/2006">
                <mc:Choice xmlns:v="urn:schemas-microsoft-com:vml" Requires="v">
                  <p:oleObj spid="_x0000_s256254" name="CS ChemDraw Drawing" r:id="rId8" imgW="828040" imgH="873760" progId="ChemDraw.Document.6.0">
                    <p:embed/>
                  </p:oleObj>
                </mc:Choice>
                <mc:Fallback>
                  <p:oleObj name="CS ChemDraw Drawing" r:id="rId8" imgW="828040" imgH="873760" progId="ChemDraw.Document.6.0">
                    <p:embed/>
                    <p:pic>
                      <p:nvPicPr>
                        <p:cNvPr id="0" name="图片 25616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7497" y="3264673"/>
                          <a:ext cx="827088" cy="874712"/>
                        </a:xfrm>
                        <a:prstGeom prst="rect">
                          <a:avLst/>
                        </a:prstGeom>
                        <a:noFill/>
                        <a:ln>
                          <a:noFill/>
                        </a:ln>
                        <a:effectLst/>
                      </p:spPr>
                    </p:pic>
                  </p:oleObj>
                </mc:Fallback>
              </mc:AlternateContent>
            </a:graphicData>
          </a:graphic>
        </p:graphicFrame>
        <p:sp>
          <p:nvSpPr>
            <p:cNvPr id="11" name="AutoShape 32"/>
            <p:cNvSpPr>
              <a:spLocks noChangeAspect="1" noChangeArrowheads="1"/>
            </p:cNvSpPr>
            <p:nvPr/>
          </p:nvSpPr>
          <p:spPr bwMode="auto">
            <a:xfrm>
              <a:off x="1157497" y="4345760"/>
              <a:ext cx="71438" cy="71438"/>
            </a:xfrm>
            <a:prstGeom prst="flowChartConnector">
              <a:avLst/>
            </a:prstGeom>
            <a:solidFill>
              <a:srgbClr val="00FF00"/>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12" name="AutoShape 33"/>
            <p:cNvSpPr>
              <a:spLocks noChangeAspect="1" noChangeArrowheads="1"/>
            </p:cNvSpPr>
            <p:nvPr/>
          </p:nvSpPr>
          <p:spPr bwMode="auto">
            <a:xfrm>
              <a:off x="1157497" y="4345760"/>
              <a:ext cx="71438" cy="71438"/>
            </a:xfrm>
            <a:prstGeom prst="flowChartConnector">
              <a:avLst/>
            </a:prstGeom>
            <a:solidFill>
              <a:srgbClr val="00FF00"/>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13" name="AutoShape 34"/>
            <p:cNvSpPr>
              <a:spLocks noChangeAspect="1" noChangeArrowheads="1"/>
            </p:cNvSpPr>
            <p:nvPr/>
          </p:nvSpPr>
          <p:spPr bwMode="auto">
            <a:xfrm>
              <a:off x="1166692" y="3902848"/>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14" name="AutoShape 35"/>
            <p:cNvSpPr>
              <a:spLocks noChangeAspect="1" noChangeArrowheads="1"/>
            </p:cNvSpPr>
            <p:nvPr/>
          </p:nvSpPr>
          <p:spPr bwMode="auto">
            <a:xfrm>
              <a:off x="1159085" y="3911209"/>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15" name="AutoShape 36"/>
            <p:cNvSpPr>
              <a:spLocks noChangeAspect="1" noChangeArrowheads="1"/>
            </p:cNvSpPr>
            <p:nvPr/>
          </p:nvSpPr>
          <p:spPr bwMode="auto">
            <a:xfrm>
              <a:off x="1157497" y="3918572"/>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16" name="AutoShape 37"/>
            <p:cNvSpPr>
              <a:spLocks noChangeAspect="1" noChangeArrowheads="1"/>
            </p:cNvSpPr>
            <p:nvPr/>
          </p:nvSpPr>
          <p:spPr bwMode="auto">
            <a:xfrm>
              <a:off x="1159085" y="3900392"/>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17" name="AutoShape 38"/>
            <p:cNvSpPr>
              <a:spLocks noChangeAspect="1" noChangeArrowheads="1"/>
            </p:cNvSpPr>
            <p:nvPr/>
          </p:nvSpPr>
          <p:spPr bwMode="auto">
            <a:xfrm>
              <a:off x="1166692" y="3914455"/>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18" name="AutoShape 39"/>
            <p:cNvSpPr>
              <a:spLocks noChangeAspect="1" noChangeArrowheads="1"/>
            </p:cNvSpPr>
            <p:nvPr/>
          </p:nvSpPr>
          <p:spPr bwMode="auto">
            <a:xfrm>
              <a:off x="1157497" y="3912959"/>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19" name="AutoShape 40"/>
            <p:cNvSpPr>
              <a:spLocks noChangeAspect="1" noChangeArrowheads="1"/>
            </p:cNvSpPr>
            <p:nvPr/>
          </p:nvSpPr>
          <p:spPr bwMode="auto">
            <a:xfrm>
              <a:off x="1157497" y="3918572"/>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20" name="AutoShape 41"/>
            <p:cNvSpPr>
              <a:spLocks noChangeAspect="1" noChangeArrowheads="1"/>
            </p:cNvSpPr>
            <p:nvPr/>
          </p:nvSpPr>
          <p:spPr bwMode="auto">
            <a:xfrm>
              <a:off x="1157497" y="3911209"/>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21" name="AutoShape 42"/>
            <p:cNvSpPr>
              <a:spLocks noChangeAspect="1" noChangeArrowheads="1"/>
            </p:cNvSpPr>
            <p:nvPr/>
          </p:nvSpPr>
          <p:spPr bwMode="auto">
            <a:xfrm>
              <a:off x="1157497" y="3918572"/>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22" name="Rectangle 44"/>
            <p:cNvSpPr>
              <a:spLocks noChangeArrowheads="1"/>
            </p:cNvSpPr>
            <p:nvPr/>
          </p:nvSpPr>
          <p:spPr bwMode="auto">
            <a:xfrm>
              <a:off x="1471822" y="1607323"/>
              <a:ext cx="121058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2000" dirty="0">
                  <a:solidFill>
                    <a:srgbClr val="C00000"/>
                  </a:solidFill>
                  <a:latin typeface="Tahoma" panose="020B0604030504040204" pitchFamily="34" charset="0"/>
                  <a:ea typeface="微软雅黑" panose="020B0503020204020204" pitchFamily="34" charset="-122"/>
                </a:rPr>
                <a:t>标准溶液</a:t>
              </a:r>
              <a:endParaRPr lang="en-US" altLang="zh-CN" sz="2000" dirty="0">
                <a:solidFill>
                  <a:srgbClr val="C00000"/>
                </a:solidFill>
                <a:latin typeface="Tahoma" panose="020B0604030504040204" pitchFamily="34" charset="0"/>
                <a:ea typeface="微软雅黑" panose="020B0503020204020204" pitchFamily="34" charset="-122"/>
              </a:endParaRPr>
            </a:p>
            <a:p>
              <a:pPr eaLnBrk="1" hangingPunct="1">
                <a:spcBef>
                  <a:spcPct val="50000"/>
                </a:spcBef>
                <a:buFontTx/>
                <a:buNone/>
              </a:pPr>
              <a:r>
                <a:rPr lang="en-US" altLang="zh-CN" sz="2000" dirty="0">
                  <a:solidFill>
                    <a:srgbClr val="C00000"/>
                  </a:solidFill>
                  <a:latin typeface="Tahoma" panose="020B0604030504040204" pitchFamily="34" charset="0"/>
                  <a:ea typeface="微软雅黑" panose="020B0503020204020204" pitchFamily="34" charset="-122"/>
                </a:rPr>
                <a:t>(</a:t>
              </a:r>
              <a:r>
                <a:rPr lang="zh-CN" altLang="en-US" sz="2000" dirty="0">
                  <a:solidFill>
                    <a:srgbClr val="C00000"/>
                  </a:solidFill>
                  <a:latin typeface="Tahoma" panose="020B0604030504040204" pitchFamily="34" charset="0"/>
                  <a:ea typeface="微软雅黑" panose="020B0503020204020204" pitchFamily="34" charset="-122"/>
                </a:rPr>
                <a:t>滴定剂</a:t>
              </a:r>
              <a:r>
                <a:rPr lang="en-US" altLang="zh-CN" sz="2000" dirty="0">
                  <a:solidFill>
                    <a:srgbClr val="C00000"/>
                  </a:solidFill>
                  <a:latin typeface="Tahoma" panose="020B0604030504040204" pitchFamily="34" charset="0"/>
                  <a:ea typeface="微软雅黑" panose="020B0503020204020204" pitchFamily="34" charset="-122"/>
                </a:rPr>
                <a:t>)</a:t>
              </a:r>
              <a:endParaRPr lang="zh-CN" altLang="en-US" sz="2000" dirty="0">
                <a:solidFill>
                  <a:srgbClr val="C00000"/>
                </a:solidFill>
                <a:latin typeface="Tahoma" panose="020B0604030504040204" pitchFamily="34" charset="0"/>
                <a:ea typeface="微软雅黑" panose="020B0503020204020204" pitchFamily="34" charset="-122"/>
              </a:endParaRPr>
            </a:p>
          </p:txBody>
        </p:sp>
        <p:sp>
          <p:nvSpPr>
            <p:cNvPr id="23" name="Rectangle 45"/>
            <p:cNvSpPr>
              <a:spLocks noChangeArrowheads="1"/>
            </p:cNvSpPr>
            <p:nvPr/>
          </p:nvSpPr>
          <p:spPr bwMode="auto">
            <a:xfrm>
              <a:off x="1711646" y="5947485"/>
              <a:ext cx="1206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2000" dirty="0">
                  <a:solidFill>
                    <a:srgbClr val="C00000"/>
                  </a:solidFill>
                  <a:latin typeface="Tahoma" panose="020B0604030504040204" pitchFamily="34" charset="0"/>
                  <a:ea typeface="微软雅黑" panose="020B0503020204020204" pitchFamily="34" charset="-122"/>
                </a:rPr>
                <a:t>待测溶液</a:t>
              </a:r>
            </a:p>
          </p:txBody>
        </p:sp>
        <p:sp>
          <p:nvSpPr>
            <p:cNvPr id="24" name="TextBox 23"/>
            <p:cNvSpPr txBox="1"/>
            <p:nvPr/>
          </p:nvSpPr>
          <p:spPr>
            <a:xfrm>
              <a:off x="35496" y="1886410"/>
              <a:ext cx="958917" cy="400110"/>
            </a:xfrm>
            <a:prstGeom prst="rect">
              <a:avLst/>
            </a:prstGeom>
            <a:noFill/>
          </p:spPr>
          <p:txBody>
            <a:bodyPr wrap="none" rtlCol="0">
              <a:spAutoFit/>
            </a:bodyPr>
            <a:lstStyle/>
            <a:p>
              <a:r>
                <a:rPr lang="zh-CN" altLang="en-US" sz="2000" b="1" dirty="0"/>
                <a:t>滴定管</a:t>
              </a:r>
            </a:p>
          </p:txBody>
        </p:sp>
        <p:sp>
          <p:nvSpPr>
            <p:cNvPr id="26" name="TextBox 25"/>
            <p:cNvSpPr txBox="1"/>
            <p:nvPr/>
          </p:nvSpPr>
          <p:spPr>
            <a:xfrm>
              <a:off x="1649691" y="1231879"/>
              <a:ext cx="825867" cy="369332"/>
            </a:xfrm>
            <a:prstGeom prst="rect">
              <a:avLst/>
            </a:prstGeom>
            <a:noFill/>
          </p:spPr>
          <p:txBody>
            <a:bodyPr wrap="none" rtlCol="0">
              <a:spAutoFit/>
            </a:bodyPr>
            <a:lstStyle/>
            <a:p>
              <a:r>
                <a:rPr lang="en-US" altLang="zh-CN" dirty="0" err="1"/>
                <a:t>NaOH</a:t>
              </a:r>
              <a:endParaRPr lang="zh-CN" altLang="en-US" dirty="0"/>
            </a:p>
          </p:txBody>
        </p:sp>
        <p:sp>
          <p:nvSpPr>
            <p:cNvPr id="27" name="TextBox 26"/>
            <p:cNvSpPr txBox="1"/>
            <p:nvPr/>
          </p:nvSpPr>
          <p:spPr>
            <a:xfrm>
              <a:off x="1616633" y="4054634"/>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酚酞</a:t>
              </a:r>
            </a:p>
          </p:txBody>
        </p:sp>
      </p:grpSp>
      <p:sp>
        <p:nvSpPr>
          <p:cNvPr id="29" name="TextBox 28"/>
          <p:cNvSpPr txBox="1"/>
          <p:nvPr/>
        </p:nvSpPr>
        <p:spPr>
          <a:xfrm>
            <a:off x="6384033" y="5445225"/>
            <a:ext cx="3097323" cy="461665"/>
          </a:xfrm>
          <a:prstGeom prst="rect">
            <a:avLst/>
          </a:prstGeom>
          <a:noFill/>
        </p:spPr>
        <p:txBody>
          <a:bodyPr wrap="none" rtlCol="0">
            <a:spAutoFit/>
          </a:bodyPr>
          <a:lstStyle/>
          <a:p>
            <a:r>
              <a:rPr lang="en-US" altLang="zh-CN" sz="2400" b="1" i="1" dirty="0" err="1">
                <a:latin typeface="Times New Roman" panose="02020603050405020304" pitchFamily="18" charset="0"/>
                <a:cs typeface="Times New Roman" panose="02020603050405020304" pitchFamily="18" charset="0"/>
              </a:rPr>
              <a:t>V</a:t>
            </a:r>
            <a:r>
              <a:rPr lang="en-US" altLang="zh-CN" sz="2400" b="1" i="1" baseline="-25000" dirty="0" err="1">
                <a:latin typeface="Times New Roman" panose="02020603050405020304" pitchFamily="18" charset="0"/>
                <a:cs typeface="Times New Roman" panose="02020603050405020304" pitchFamily="18" charset="0"/>
              </a:rPr>
              <a:t>NaOH</a:t>
            </a:r>
            <a:r>
              <a:rPr lang="en-US" altLang="zh-CN" sz="2400" b="1" i="1" dirty="0" err="1">
                <a:latin typeface="Times New Roman" panose="02020603050405020304" pitchFamily="18" charset="0"/>
                <a:cs typeface="Times New Roman" panose="02020603050405020304" pitchFamily="18" charset="0"/>
              </a:rPr>
              <a:t>c</a:t>
            </a:r>
            <a:r>
              <a:rPr lang="en-US" altLang="zh-CN" sz="2400" b="1" i="1" baseline="-25000" dirty="0" err="1">
                <a:latin typeface="Times New Roman" panose="02020603050405020304" pitchFamily="18" charset="0"/>
                <a:cs typeface="Times New Roman" panose="02020603050405020304" pitchFamily="18" charset="0"/>
              </a:rPr>
              <a:t>NaOH</a:t>
            </a:r>
            <a:r>
              <a:rPr lang="en-US" altLang="zh-CN" sz="2400" b="1" i="1" dirty="0">
                <a:latin typeface="Times New Roman" panose="02020603050405020304" pitchFamily="18" charset="0"/>
                <a:cs typeface="Times New Roman" panose="02020603050405020304" pitchFamily="18" charset="0"/>
              </a:rPr>
              <a:t> =</a:t>
            </a:r>
            <a:r>
              <a:rPr lang="en-US" altLang="zh-CN" sz="2400" b="1" i="1" dirty="0">
                <a:solidFill>
                  <a:prstClr val="black"/>
                </a:solidFill>
                <a:latin typeface="Times New Roman" panose="02020603050405020304" pitchFamily="18" charset="0"/>
                <a:cs typeface="Times New Roman" panose="02020603050405020304" pitchFamily="18" charset="0"/>
              </a:rPr>
              <a:t> </a:t>
            </a:r>
            <a:r>
              <a:rPr lang="en-US" altLang="zh-CN" sz="2400" b="1" i="1" dirty="0" err="1">
                <a:solidFill>
                  <a:prstClr val="black"/>
                </a:solidFill>
                <a:latin typeface="Times New Roman" panose="02020603050405020304" pitchFamily="18" charset="0"/>
                <a:cs typeface="Times New Roman" panose="02020603050405020304" pitchFamily="18" charset="0"/>
              </a:rPr>
              <a:t>V</a:t>
            </a:r>
            <a:r>
              <a:rPr lang="en-US" altLang="zh-CN" sz="2400" b="1" i="1" baseline="-25000" dirty="0" err="1">
                <a:solidFill>
                  <a:prstClr val="black"/>
                </a:solidFill>
                <a:latin typeface="Times New Roman" panose="02020603050405020304" pitchFamily="18" charset="0"/>
                <a:cs typeface="Times New Roman" panose="02020603050405020304" pitchFamily="18" charset="0"/>
              </a:rPr>
              <a:t>HCl</a:t>
            </a:r>
            <a:r>
              <a:rPr lang="en-US" altLang="zh-CN" sz="2400" b="1" i="1" dirty="0" err="1">
                <a:solidFill>
                  <a:prstClr val="black"/>
                </a:solidFill>
                <a:latin typeface="Times New Roman" panose="02020603050405020304" pitchFamily="18" charset="0"/>
                <a:cs typeface="Times New Roman" panose="02020603050405020304" pitchFamily="18" charset="0"/>
              </a:rPr>
              <a:t>c</a:t>
            </a:r>
            <a:r>
              <a:rPr lang="en-US" altLang="zh-CN" sz="2400" b="1" i="1" baseline="-25000" dirty="0" err="1">
                <a:solidFill>
                  <a:prstClr val="black"/>
                </a:solidFill>
                <a:latin typeface="Times New Roman" panose="02020603050405020304" pitchFamily="18" charset="0"/>
                <a:cs typeface="Times New Roman" panose="02020603050405020304" pitchFamily="18" charset="0"/>
              </a:rPr>
              <a:t>HCl</a:t>
            </a:r>
            <a:endParaRPr lang="zh-CN" altLang="en-US" sz="2400" b="1" i="1" baseline="-25000" dirty="0">
              <a:latin typeface="Times New Roman" panose="02020603050405020304" pitchFamily="18" charset="0"/>
              <a:cs typeface="Times New Roman" panose="02020603050405020304" pitchFamily="18" charset="0"/>
            </a:endParaRPr>
          </a:p>
        </p:txBody>
      </p:sp>
      <p:sp>
        <p:nvSpPr>
          <p:cNvPr id="30" name="TextBox 29"/>
          <p:cNvSpPr txBox="1"/>
          <p:nvPr/>
        </p:nvSpPr>
        <p:spPr>
          <a:xfrm>
            <a:off x="6240016" y="4869161"/>
            <a:ext cx="3982180" cy="461665"/>
          </a:xfrm>
          <a:prstGeom prst="rect">
            <a:avLst/>
          </a:prstGeom>
          <a:noFill/>
        </p:spPr>
        <p:txBody>
          <a:bodyPr wrap="none" rtlCol="0">
            <a:spAutoFit/>
          </a:bodyPr>
          <a:lstStyle/>
          <a:p>
            <a:r>
              <a:rPr lang="en-US" altLang="zh-CN" sz="2400" b="1" dirty="0" err="1"/>
              <a:t>HCl</a:t>
            </a:r>
            <a:r>
              <a:rPr lang="en-US" altLang="zh-CN" sz="2400" b="1" dirty="0"/>
              <a:t> + </a:t>
            </a:r>
            <a:r>
              <a:rPr lang="en-US" altLang="zh-CN" sz="2400" b="1" dirty="0" err="1"/>
              <a:t>NaOH</a:t>
            </a:r>
            <a:r>
              <a:rPr lang="en-US" altLang="zh-CN" sz="2400" b="1" dirty="0"/>
              <a:t> = </a:t>
            </a:r>
            <a:r>
              <a:rPr lang="en-US" altLang="zh-CN" sz="2400" b="1" dirty="0" err="1"/>
              <a:t>NaCl</a:t>
            </a:r>
            <a:r>
              <a:rPr lang="en-US" altLang="zh-CN" sz="2400" b="1" dirty="0"/>
              <a:t> +  H</a:t>
            </a:r>
            <a:r>
              <a:rPr lang="en-US" altLang="zh-CN" sz="2400" b="1" baseline="-25000" dirty="0"/>
              <a:t>2</a:t>
            </a:r>
            <a:r>
              <a:rPr lang="en-US" altLang="zh-CN" sz="2400" b="1" dirty="0"/>
              <a:t>O</a:t>
            </a:r>
            <a:endParaRPr lang="zh-CN" altLang="en-US" sz="2400" b="1" dirty="0"/>
          </a:p>
        </p:txBody>
      </p:sp>
      <p:sp>
        <p:nvSpPr>
          <p:cNvPr id="32" name="矩形 31"/>
          <p:cNvSpPr/>
          <p:nvPr/>
        </p:nvSpPr>
        <p:spPr>
          <a:xfrm>
            <a:off x="0" y="-79"/>
            <a:ext cx="12192000" cy="918296"/>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dirty="0">
              <a:solidFill>
                <a:prstClr val="white"/>
              </a:solidFill>
              <a:ea typeface="微软雅黑" panose="020B0503020204020204" pitchFamily="34" charset="-122"/>
            </a:endParaRPr>
          </a:p>
        </p:txBody>
      </p:sp>
      <p:sp>
        <p:nvSpPr>
          <p:cNvPr id="33" name="TextBox 32"/>
          <p:cNvSpPr txBox="1"/>
          <p:nvPr/>
        </p:nvSpPr>
        <p:spPr>
          <a:xfrm>
            <a:off x="440210" y="132135"/>
            <a:ext cx="4698722" cy="1076325"/>
          </a:xfrm>
          <a:prstGeom prst="rect">
            <a:avLst/>
          </a:prstGeom>
          <a:noFill/>
        </p:spPr>
        <p:txBody>
          <a:bodyPr wrap="square" rtlCol="0">
            <a:spAutoFit/>
          </a:bodyPr>
          <a:lstStyle/>
          <a:p>
            <a:pPr fontAlgn="auto">
              <a:spcBef>
                <a:spcPts val="0"/>
              </a:spcBef>
              <a:spcAft>
                <a:spcPts val="0"/>
              </a:spcAft>
            </a:pPr>
            <a:r>
              <a:rPr lang="zh-CN" altLang="en-US" sz="32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滴定分析法测定盐酸浓度</a:t>
            </a:r>
          </a:p>
          <a:p>
            <a:pPr fontAlgn="auto">
              <a:spcBef>
                <a:spcPts val="0"/>
              </a:spcBef>
              <a:spcAft>
                <a:spcPts val="0"/>
              </a:spcAft>
            </a:pPr>
            <a:endParaRPr lang="zh-CN" altLang="en-US" sz="3200" b="1"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4" name="矩形 33"/>
          <p:cNvSpPr/>
          <p:nvPr/>
        </p:nvSpPr>
        <p:spPr>
          <a:xfrm>
            <a:off x="4691336" y="1733932"/>
            <a:ext cx="6445224" cy="2554545"/>
          </a:xfrm>
          <a:prstGeom prst="rect">
            <a:avLst/>
          </a:prstGeom>
        </p:spPr>
        <p:txBody>
          <a:bodyPr wrap="square">
            <a:spAutoFit/>
          </a:bodyPr>
          <a:lstStyle/>
          <a:p>
            <a:pPr>
              <a:lnSpc>
                <a:spcPct val="200000"/>
              </a:lnSpc>
            </a:pPr>
            <a:r>
              <a:rPr lang="zh-CN" altLang="en-US" sz="2000" b="1" dirty="0">
                <a:solidFill>
                  <a:srgbClr val="002060"/>
                </a:solidFill>
                <a:latin typeface="微软雅黑" panose="020B0503020204020204" pitchFamily="34" charset="-122"/>
                <a:ea typeface="微软雅黑" panose="020B0503020204020204" pitchFamily="34" charset="-122"/>
              </a:rPr>
              <a:t>例：</a:t>
            </a:r>
            <a:r>
              <a:rPr lang="zh-CN" altLang="en-US" sz="2000" b="1" dirty="0">
                <a:latin typeface="微软雅黑" panose="020B0503020204020204" pitchFamily="34" charset="-122"/>
                <a:ea typeface="微软雅黑" panose="020B0503020204020204" pitchFamily="34" charset="-122"/>
              </a:rPr>
              <a:t>滴定分析法测定</a:t>
            </a:r>
            <a:r>
              <a:rPr lang="en-US" altLang="zh-CN" sz="2000" b="1" dirty="0" err="1">
                <a:latin typeface="微软雅黑" panose="020B0503020204020204" pitchFamily="34" charset="-122"/>
                <a:ea typeface="微软雅黑" panose="020B0503020204020204" pitchFamily="34" charset="-122"/>
              </a:rPr>
              <a:t>HCl</a:t>
            </a:r>
            <a:r>
              <a:rPr lang="zh-CN" altLang="en-US" sz="2000" b="1" dirty="0">
                <a:latin typeface="微软雅黑" panose="020B0503020204020204" pitchFamily="34" charset="-122"/>
                <a:ea typeface="微软雅黑" panose="020B0503020204020204" pitchFamily="34" charset="-122"/>
              </a:rPr>
              <a:t>溶液的浓度</a:t>
            </a:r>
            <a:endParaRPr lang="en-US" altLang="zh-CN" sz="2000" b="1" dirty="0">
              <a:latin typeface="微软雅黑" panose="020B0503020204020204" pitchFamily="34" charset="-122"/>
              <a:ea typeface="微软雅黑" panose="020B0503020204020204" pitchFamily="34" charset="-122"/>
            </a:endParaRPr>
          </a:p>
          <a:p>
            <a:pPr>
              <a:lnSpc>
                <a:spcPct val="200000"/>
              </a:lnSpc>
            </a:pPr>
            <a:r>
              <a:rPr lang="zh-CN" altLang="en-US" sz="2000" b="1" dirty="0">
                <a:solidFill>
                  <a:srgbClr val="C00000"/>
                </a:solidFill>
                <a:latin typeface="微软雅黑" panose="020B0503020204020204" pitchFamily="34" charset="-122"/>
                <a:ea typeface="微软雅黑" panose="020B0503020204020204" pitchFamily="34" charset="-122"/>
              </a:rPr>
              <a:t>准确量取</a:t>
            </a:r>
            <a:r>
              <a:rPr lang="en-US" altLang="zh-CN" sz="2000" b="1" dirty="0">
                <a:latin typeface="微软雅黑" panose="020B0503020204020204" pitchFamily="34" charset="-122"/>
                <a:ea typeface="微软雅黑" panose="020B0503020204020204" pitchFamily="34" charset="-122"/>
              </a:rPr>
              <a:t>20.00 mL HCl</a:t>
            </a:r>
            <a:r>
              <a:rPr lang="zh-CN" altLang="en-US" sz="2000" b="1" dirty="0">
                <a:solidFill>
                  <a:srgbClr val="C00000"/>
                </a:solidFill>
                <a:latin typeface="微软雅黑" panose="020B0503020204020204" pitchFamily="34" charset="-122"/>
                <a:ea typeface="微软雅黑" panose="020B0503020204020204" pitchFamily="34" charset="-122"/>
              </a:rPr>
              <a:t>待测溶液</a:t>
            </a:r>
            <a:r>
              <a:rPr lang="zh-CN" altLang="en-US" sz="2000" b="1" dirty="0">
                <a:latin typeface="微软雅黑" panose="020B0503020204020204" pitchFamily="34" charset="-122"/>
                <a:ea typeface="微软雅黑" panose="020B0503020204020204" pitchFamily="34" charset="-122"/>
              </a:rPr>
              <a:t>于锥形瓶中</a:t>
            </a:r>
            <a:r>
              <a:rPr lang="zh-CN" altLang="en-US" sz="2000" b="1" dirty="0">
                <a:solidFill>
                  <a:srgbClr val="002060"/>
                </a:solidFill>
                <a:latin typeface="微软雅黑" panose="020B0503020204020204" pitchFamily="34" charset="-122"/>
                <a:ea typeface="微软雅黑" panose="020B0503020204020204" pitchFamily="34" charset="-122"/>
              </a:rPr>
              <a:t>，加入</a:t>
            </a:r>
            <a:r>
              <a:rPr lang="en-US" altLang="zh-CN" sz="2000" b="1" dirty="0">
                <a:solidFill>
                  <a:srgbClr val="002060"/>
                </a:solidFill>
                <a:latin typeface="微软雅黑" panose="020B0503020204020204" pitchFamily="34" charset="-122"/>
                <a:ea typeface="微软雅黑" panose="020B0503020204020204" pitchFamily="34" charset="-122"/>
              </a:rPr>
              <a:t>2</a:t>
            </a:r>
            <a:r>
              <a:rPr lang="zh-CN" altLang="en-US" sz="2000" b="1" dirty="0">
                <a:solidFill>
                  <a:srgbClr val="002060"/>
                </a:solidFill>
                <a:latin typeface="微软雅黑" panose="020B0503020204020204" pitchFamily="34" charset="-122"/>
                <a:ea typeface="微软雅黑" panose="020B0503020204020204" pitchFamily="34" charset="-122"/>
              </a:rPr>
              <a:t>滴</a:t>
            </a:r>
            <a:r>
              <a:rPr lang="zh-CN" altLang="en-US" sz="2000" b="1" dirty="0">
                <a:latin typeface="微软雅黑" panose="020B0503020204020204" pitchFamily="34" charset="-122"/>
                <a:ea typeface="微软雅黑" panose="020B0503020204020204" pitchFamily="34" charset="-122"/>
              </a:rPr>
              <a:t>酚酞</a:t>
            </a:r>
            <a:r>
              <a:rPr lang="zh-CN" altLang="en-US" sz="2000" b="1" dirty="0">
                <a:solidFill>
                  <a:srgbClr val="C00000"/>
                </a:solidFill>
                <a:latin typeface="微软雅黑" panose="020B0503020204020204" pitchFamily="34" charset="-122"/>
                <a:ea typeface="微软雅黑" panose="020B0503020204020204" pitchFamily="34" charset="-122"/>
              </a:rPr>
              <a:t>指示剂</a:t>
            </a:r>
            <a:r>
              <a:rPr lang="zh-CN" altLang="en-US" sz="2000" b="1" dirty="0">
                <a:latin typeface="微软雅黑" panose="020B0503020204020204" pitchFamily="34" charset="-122"/>
                <a:ea typeface="微软雅黑" panose="020B0503020204020204" pitchFamily="34" charset="-122"/>
              </a:rPr>
              <a:t>，用</a:t>
            </a:r>
            <a:r>
              <a:rPr lang="en-US" altLang="zh-CN" sz="2000" b="1" dirty="0">
                <a:latin typeface="微软雅黑" panose="020B0503020204020204" pitchFamily="34" charset="-122"/>
                <a:ea typeface="微软雅黑" panose="020B0503020204020204" pitchFamily="34" charset="-122"/>
              </a:rPr>
              <a:t>0.1000 </a:t>
            </a:r>
            <a:r>
              <a:rPr lang="en-US" altLang="zh-CN" sz="2000" b="1" dirty="0" err="1">
                <a:latin typeface="微软雅黑" panose="020B0503020204020204" pitchFamily="34" charset="-122"/>
                <a:ea typeface="微软雅黑" panose="020B0503020204020204" pitchFamily="34" charset="-122"/>
              </a:rPr>
              <a:t>mol</a:t>
            </a:r>
            <a:r>
              <a:rPr lang="en-US" altLang="zh-CN" sz="2000" b="1" dirty="0">
                <a:latin typeface="微软雅黑" panose="020B0503020204020204" pitchFamily="34" charset="-122"/>
                <a:ea typeface="微软雅黑" panose="020B0503020204020204" pitchFamily="34" charset="-122"/>
              </a:rPr>
              <a:t>/L </a:t>
            </a:r>
            <a:r>
              <a:rPr lang="en-US" altLang="zh-CN" sz="2000" b="1" dirty="0" err="1">
                <a:latin typeface="微软雅黑" panose="020B0503020204020204" pitchFamily="34" charset="-122"/>
                <a:ea typeface="微软雅黑" panose="020B0503020204020204" pitchFamily="34" charset="-122"/>
              </a:rPr>
              <a:t>NaOH</a:t>
            </a:r>
            <a:r>
              <a:rPr lang="zh-CN" altLang="en-US" sz="2000" b="1" dirty="0">
                <a:solidFill>
                  <a:srgbClr val="C00000"/>
                </a:solidFill>
                <a:latin typeface="微软雅黑" panose="020B0503020204020204" pitchFamily="34" charset="-122"/>
                <a:ea typeface="微软雅黑" panose="020B0503020204020204" pitchFamily="34" charset="-122"/>
              </a:rPr>
              <a:t>标准溶液</a:t>
            </a:r>
            <a:r>
              <a:rPr lang="zh-CN" altLang="en-US" sz="2000" b="1" dirty="0">
                <a:latin typeface="微软雅黑" panose="020B0503020204020204" pitchFamily="34" charset="-122"/>
                <a:ea typeface="微软雅黑" panose="020B0503020204020204" pitchFamily="34" charset="-122"/>
              </a:rPr>
              <a:t>滴定</a:t>
            </a:r>
            <a:r>
              <a:rPr lang="zh-CN" altLang="en-US" sz="2000" b="1" dirty="0">
                <a:solidFill>
                  <a:srgbClr val="002060"/>
                </a:solidFill>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至溶液显红色，到达</a:t>
            </a:r>
            <a:r>
              <a:rPr lang="zh-CN" altLang="en-US" sz="2000" b="1" dirty="0">
                <a:solidFill>
                  <a:srgbClr val="C00000"/>
                </a:solidFill>
                <a:latin typeface="微软雅黑" panose="020B0503020204020204" pitchFamily="34" charset="-122"/>
                <a:ea typeface="微软雅黑" panose="020B0503020204020204" pitchFamily="34" charset="-122"/>
              </a:rPr>
              <a:t>滴定终点</a:t>
            </a:r>
            <a:r>
              <a:rPr lang="zh-CN" altLang="en-US" sz="2000" b="1" dirty="0">
                <a:solidFill>
                  <a:srgbClr val="002060"/>
                </a:solidFill>
                <a:latin typeface="微软雅黑" panose="020B0503020204020204" pitchFamily="34" charset="-122"/>
                <a:ea typeface="微软雅黑" panose="020B0503020204020204" pitchFamily="34" charset="-122"/>
              </a:rPr>
              <a:t>。</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67417"/>
    </mc:Choice>
    <mc:Fallback xmlns="">
      <p:transition spd="slow" advTm="6741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Object 23"/>
          <p:cNvGraphicFramePr>
            <a:graphicFrameLocks noChangeAspect="1"/>
          </p:cNvGraphicFramePr>
          <p:nvPr/>
        </p:nvGraphicFramePr>
        <p:xfrm>
          <a:off x="2094123" y="3508681"/>
          <a:ext cx="1241425" cy="2184400"/>
        </p:xfrm>
        <a:graphic>
          <a:graphicData uri="http://schemas.openxmlformats.org/presentationml/2006/ole">
            <mc:AlternateContent xmlns:mc="http://schemas.openxmlformats.org/markup-compatibility/2006">
              <mc:Choice xmlns:v="urn:schemas-microsoft-com:vml" Requires="v">
                <p:oleObj spid="_x0000_s259278" name="CS ChemDraw Drawing" r:id="rId4" imgW="1488440" imgH="2621280" progId="ChemDraw.Document.6.0">
                  <p:embed/>
                </p:oleObj>
              </mc:Choice>
              <mc:Fallback>
                <p:oleObj name="CS ChemDraw Drawing" r:id="rId4" imgW="1488440" imgH="2621280" progId="ChemDraw.Document.6.0">
                  <p:embed/>
                  <p:pic>
                    <p:nvPicPr>
                      <p:cNvPr id="0" name="图片 25916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4123" y="3508681"/>
                        <a:ext cx="1241425" cy="218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AutoShape 24"/>
          <p:cNvSpPr>
            <a:spLocks noChangeArrowheads="1"/>
          </p:cNvSpPr>
          <p:nvPr/>
        </p:nvSpPr>
        <p:spPr bwMode="auto">
          <a:xfrm flipH="1">
            <a:off x="2683085" y="2359332"/>
            <a:ext cx="107950" cy="862013"/>
          </a:xfrm>
          <a:prstGeom prst="flowChartTerminator">
            <a:avLst/>
          </a:prstGeom>
          <a:solidFill>
            <a:schemeClr val="accent5">
              <a:lumMod val="20000"/>
              <a:lumOff val="80000"/>
            </a:schemeClr>
          </a:solidFill>
          <a:ln>
            <a:noFill/>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29" name="AutoShape 25"/>
          <p:cNvSpPr>
            <a:spLocks noChangeArrowheads="1"/>
          </p:cNvSpPr>
          <p:nvPr/>
        </p:nvSpPr>
        <p:spPr bwMode="auto">
          <a:xfrm>
            <a:off x="2573547" y="881370"/>
            <a:ext cx="287338" cy="1620837"/>
          </a:xfrm>
          <a:prstGeom prst="flowChartTerminator">
            <a:avLst/>
          </a:prstGeom>
          <a:solidFill>
            <a:schemeClr val="accent5">
              <a:lumMod val="20000"/>
              <a:lumOff val="80000"/>
            </a:schemeClr>
          </a:solidFill>
          <a:ln>
            <a:noFill/>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graphicFrame>
        <p:nvGraphicFramePr>
          <p:cNvPr id="31" name="Object 27"/>
          <p:cNvGraphicFramePr>
            <a:graphicFrameLocks noChangeAspect="1"/>
          </p:cNvGraphicFramePr>
          <p:nvPr/>
        </p:nvGraphicFramePr>
        <p:xfrm>
          <a:off x="2430673" y="581852"/>
          <a:ext cx="720725" cy="2725738"/>
        </p:xfrm>
        <a:graphic>
          <a:graphicData uri="http://schemas.openxmlformats.org/presentationml/2006/ole">
            <mc:AlternateContent xmlns:mc="http://schemas.openxmlformats.org/markup-compatibility/2006">
              <mc:Choice xmlns:v="urn:schemas-microsoft-com:vml" Requires="v">
                <p:oleObj spid="_x0000_s259279" name="CS ChemDraw Drawing" r:id="rId6" imgW="690880" imgH="4556760" progId="ChemDraw.Document.6.0">
                  <p:embed/>
                </p:oleObj>
              </mc:Choice>
              <mc:Fallback>
                <p:oleObj name="CS ChemDraw Drawing" r:id="rId6" imgW="690880" imgH="4556760" progId="ChemDraw.Document.6.0">
                  <p:embed/>
                  <p:pic>
                    <p:nvPicPr>
                      <p:cNvPr id="0" name="图片 2591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0673" y="581852"/>
                        <a:ext cx="720725" cy="272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AutoShape 29"/>
          <p:cNvSpPr>
            <a:spLocks noChangeAspect="1" noChangeArrowheads="1"/>
          </p:cNvSpPr>
          <p:nvPr/>
        </p:nvSpPr>
        <p:spPr bwMode="auto">
          <a:xfrm>
            <a:off x="2662447" y="3294369"/>
            <a:ext cx="107950" cy="107950"/>
          </a:xfrm>
          <a:prstGeom prst="flowChartConnector">
            <a:avLst/>
          </a:prstGeom>
          <a:solidFill>
            <a:srgbClr val="CCECFF"/>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graphicFrame>
        <p:nvGraphicFramePr>
          <p:cNvPr id="34" name="Object 30"/>
          <p:cNvGraphicFramePr>
            <a:graphicFrameLocks noChangeAspect="1"/>
          </p:cNvGraphicFramePr>
          <p:nvPr/>
        </p:nvGraphicFramePr>
        <p:xfrm>
          <a:off x="2088963" y="3497569"/>
          <a:ext cx="1243013" cy="2187575"/>
        </p:xfrm>
        <a:graphic>
          <a:graphicData uri="http://schemas.openxmlformats.org/presentationml/2006/ole">
            <mc:AlternateContent xmlns:mc="http://schemas.openxmlformats.org/markup-compatibility/2006">
              <mc:Choice xmlns:v="urn:schemas-microsoft-com:vml" Requires="v">
                <p:oleObj spid="_x0000_s259280" name="CS ChemDraw Drawing" r:id="rId8" imgW="1488440" imgH="2621280" progId="ChemDraw.Document.6.0">
                  <p:embed/>
                </p:oleObj>
              </mc:Choice>
              <mc:Fallback>
                <p:oleObj name="CS ChemDraw Drawing" r:id="rId8" imgW="1488440" imgH="2621280" progId="ChemDraw.Document.6.0">
                  <p:embed/>
                  <p:pic>
                    <p:nvPicPr>
                      <p:cNvPr id="0" name="图片 25916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88963" y="3497569"/>
                        <a:ext cx="1243013"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 name="Object 31"/>
          <p:cNvGraphicFramePr>
            <a:graphicFrameLocks noChangeAspect="1"/>
          </p:cNvGraphicFramePr>
          <p:nvPr/>
        </p:nvGraphicFramePr>
        <p:xfrm>
          <a:off x="2681497" y="2656194"/>
          <a:ext cx="827088" cy="874712"/>
        </p:xfrm>
        <a:graphic>
          <a:graphicData uri="http://schemas.openxmlformats.org/presentationml/2006/ole">
            <mc:AlternateContent xmlns:mc="http://schemas.openxmlformats.org/markup-compatibility/2006">
              <mc:Choice xmlns:v="urn:schemas-microsoft-com:vml" Requires="v">
                <p:oleObj spid="_x0000_s259281" name="CS ChemDraw Drawing" r:id="rId10" imgW="828040" imgH="873760" progId="ChemDraw.Document.6.0">
                  <p:embed/>
                </p:oleObj>
              </mc:Choice>
              <mc:Fallback>
                <p:oleObj name="CS ChemDraw Drawing" r:id="rId10" imgW="828040" imgH="873760" progId="ChemDraw.Document.6.0">
                  <p:embed/>
                  <p:pic>
                    <p:nvPicPr>
                      <p:cNvPr id="0" name="图片 25916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81497" y="2656194"/>
                        <a:ext cx="827088" cy="874712"/>
                      </a:xfrm>
                      <a:prstGeom prst="rect">
                        <a:avLst/>
                      </a:prstGeom>
                      <a:noFill/>
                      <a:ln>
                        <a:noFill/>
                      </a:ln>
                      <a:effectLst/>
                    </p:spPr>
                  </p:pic>
                </p:oleObj>
              </mc:Fallback>
            </mc:AlternateContent>
          </a:graphicData>
        </a:graphic>
      </p:graphicFrame>
      <p:sp>
        <p:nvSpPr>
          <p:cNvPr id="36" name="AutoShape 32"/>
          <p:cNvSpPr>
            <a:spLocks noChangeAspect="1" noChangeArrowheads="1"/>
          </p:cNvSpPr>
          <p:nvPr/>
        </p:nvSpPr>
        <p:spPr bwMode="auto">
          <a:xfrm>
            <a:off x="2681497" y="3737281"/>
            <a:ext cx="71438" cy="71438"/>
          </a:xfrm>
          <a:prstGeom prst="flowChartConnector">
            <a:avLst/>
          </a:prstGeom>
          <a:solidFill>
            <a:srgbClr val="00FF00"/>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37" name="AutoShape 33"/>
          <p:cNvSpPr>
            <a:spLocks noChangeAspect="1" noChangeArrowheads="1"/>
          </p:cNvSpPr>
          <p:nvPr/>
        </p:nvSpPr>
        <p:spPr bwMode="auto">
          <a:xfrm>
            <a:off x="2681497" y="3737281"/>
            <a:ext cx="71438" cy="71438"/>
          </a:xfrm>
          <a:prstGeom prst="flowChartConnector">
            <a:avLst/>
          </a:prstGeom>
          <a:solidFill>
            <a:srgbClr val="00FF00"/>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38" name="AutoShape 34"/>
          <p:cNvSpPr>
            <a:spLocks noChangeAspect="1" noChangeArrowheads="1"/>
          </p:cNvSpPr>
          <p:nvPr/>
        </p:nvSpPr>
        <p:spPr bwMode="auto">
          <a:xfrm>
            <a:off x="2690692" y="3294369"/>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39" name="AutoShape 35"/>
          <p:cNvSpPr>
            <a:spLocks noChangeAspect="1" noChangeArrowheads="1"/>
          </p:cNvSpPr>
          <p:nvPr/>
        </p:nvSpPr>
        <p:spPr bwMode="auto">
          <a:xfrm>
            <a:off x="2683085" y="3302730"/>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0" name="AutoShape 36"/>
          <p:cNvSpPr>
            <a:spLocks noChangeAspect="1" noChangeArrowheads="1"/>
          </p:cNvSpPr>
          <p:nvPr/>
        </p:nvSpPr>
        <p:spPr bwMode="auto">
          <a:xfrm>
            <a:off x="2681497" y="3310093"/>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1" name="AutoShape 37"/>
          <p:cNvSpPr>
            <a:spLocks noChangeAspect="1" noChangeArrowheads="1"/>
          </p:cNvSpPr>
          <p:nvPr/>
        </p:nvSpPr>
        <p:spPr bwMode="auto">
          <a:xfrm>
            <a:off x="2683085" y="3291913"/>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2" name="AutoShape 38"/>
          <p:cNvSpPr>
            <a:spLocks noChangeAspect="1" noChangeArrowheads="1"/>
          </p:cNvSpPr>
          <p:nvPr/>
        </p:nvSpPr>
        <p:spPr bwMode="auto">
          <a:xfrm>
            <a:off x="2690692" y="3305976"/>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3" name="AutoShape 39"/>
          <p:cNvSpPr>
            <a:spLocks noChangeAspect="1" noChangeArrowheads="1"/>
          </p:cNvSpPr>
          <p:nvPr/>
        </p:nvSpPr>
        <p:spPr bwMode="auto">
          <a:xfrm>
            <a:off x="2681497" y="3304480"/>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4" name="AutoShape 40"/>
          <p:cNvSpPr>
            <a:spLocks noChangeAspect="1" noChangeArrowheads="1"/>
          </p:cNvSpPr>
          <p:nvPr/>
        </p:nvSpPr>
        <p:spPr bwMode="auto">
          <a:xfrm>
            <a:off x="2681497" y="3310093"/>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5" name="AutoShape 41"/>
          <p:cNvSpPr>
            <a:spLocks noChangeAspect="1" noChangeArrowheads="1"/>
          </p:cNvSpPr>
          <p:nvPr/>
        </p:nvSpPr>
        <p:spPr bwMode="auto">
          <a:xfrm>
            <a:off x="2681497" y="3302730"/>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6" name="AutoShape 42"/>
          <p:cNvSpPr>
            <a:spLocks noChangeAspect="1" noChangeArrowheads="1"/>
          </p:cNvSpPr>
          <p:nvPr/>
        </p:nvSpPr>
        <p:spPr bwMode="auto">
          <a:xfrm>
            <a:off x="2681497" y="3310093"/>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7" name="Rectangle 44"/>
          <p:cNvSpPr>
            <a:spLocks noChangeArrowheads="1"/>
          </p:cNvSpPr>
          <p:nvPr/>
        </p:nvSpPr>
        <p:spPr bwMode="auto">
          <a:xfrm>
            <a:off x="2995822" y="998845"/>
            <a:ext cx="121058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2000" dirty="0">
                <a:solidFill>
                  <a:srgbClr val="C00000"/>
                </a:solidFill>
                <a:latin typeface="Tahoma" panose="020B0604030504040204" pitchFamily="34" charset="0"/>
                <a:ea typeface="微软雅黑" panose="020B0503020204020204" pitchFamily="34" charset="-122"/>
              </a:rPr>
              <a:t>标准溶液</a:t>
            </a:r>
            <a:endParaRPr lang="en-US" altLang="zh-CN" sz="2000" dirty="0">
              <a:solidFill>
                <a:srgbClr val="C00000"/>
              </a:solidFill>
              <a:latin typeface="Tahoma" panose="020B0604030504040204" pitchFamily="34" charset="0"/>
              <a:ea typeface="微软雅黑" panose="020B0503020204020204" pitchFamily="34" charset="-122"/>
            </a:endParaRPr>
          </a:p>
          <a:p>
            <a:pPr eaLnBrk="1" hangingPunct="1">
              <a:spcBef>
                <a:spcPct val="50000"/>
              </a:spcBef>
              <a:buFontTx/>
              <a:buNone/>
            </a:pPr>
            <a:r>
              <a:rPr lang="en-US" altLang="zh-CN" sz="2000" dirty="0">
                <a:solidFill>
                  <a:srgbClr val="C00000"/>
                </a:solidFill>
                <a:latin typeface="Tahoma" panose="020B0604030504040204" pitchFamily="34" charset="0"/>
                <a:ea typeface="微软雅黑" panose="020B0503020204020204" pitchFamily="34" charset="-122"/>
              </a:rPr>
              <a:t>(</a:t>
            </a:r>
            <a:r>
              <a:rPr lang="zh-CN" altLang="en-US" sz="2000" dirty="0">
                <a:solidFill>
                  <a:srgbClr val="C00000"/>
                </a:solidFill>
                <a:latin typeface="Tahoma" panose="020B0604030504040204" pitchFamily="34" charset="0"/>
                <a:ea typeface="微软雅黑" panose="020B0503020204020204" pitchFamily="34" charset="-122"/>
              </a:rPr>
              <a:t>滴定剂</a:t>
            </a:r>
            <a:r>
              <a:rPr lang="en-US" altLang="zh-CN" sz="2000" dirty="0">
                <a:solidFill>
                  <a:srgbClr val="C00000"/>
                </a:solidFill>
                <a:latin typeface="Tahoma" panose="020B0604030504040204" pitchFamily="34" charset="0"/>
                <a:ea typeface="微软雅黑" panose="020B0503020204020204" pitchFamily="34" charset="-122"/>
              </a:rPr>
              <a:t>)</a:t>
            </a:r>
            <a:endParaRPr lang="zh-CN" altLang="en-US" sz="2000" dirty="0">
              <a:solidFill>
                <a:srgbClr val="C00000"/>
              </a:solidFill>
              <a:latin typeface="Tahoma" panose="020B0604030504040204" pitchFamily="34" charset="0"/>
              <a:ea typeface="微软雅黑" panose="020B0503020204020204" pitchFamily="34" charset="-122"/>
            </a:endParaRPr>
          </a:p>
        </p:txBody>
      </p:sp>
      <p:sp>
        <p:nvSpPr>
          <p:cNvPr id="48" name="Rectangle 45"/>
          <p:cNvSpPr>
            <a:spLocks noChangeArrowheads="1"/>
          </p:cNvSpPr>
          <p:nvPr/>
        </p:nvSpPr>
        <p:spPr bwMode="auto">
          <a:xfrm>
            <a:off x="3235646" y="5339006"/>
            <a:ext cx="1206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2000" dirty="0">
                <a:solidFill>
                  <a:srgbClr val="855ADA"/>
                </a:solidFill>
                <a:latin typeface="Tahoma" panose="020B0604030504040204" pitchFamily="34" charset="0"/>
                <a:ea typeface="微软雅黑" panose="020B0503020204020204" pitchFamily="34" charset="-122"/>
              </a:rPr>
              <a:t>待测溶液</a:t>
            </a:r>
          </a:p>
        </p:txBody>
      </p:sp>
      <p:sp>
        <p:nvSpPr>
          <p:cNvPr id="49" name="TextBox 48"/>
          <p:cNvSpPr txBox="1"/>
          <p:nvPr/>
        </p:nvSpPr>
        <p:spPr>
          <a:xfrm>
            <a:off x="1559497" y="1277931"/>
            <a:ext cx="958917" cy="400110"/>
          </a:xfrm>
          <a:prstGeom prst="rect">
            <a:avLst/>
          </a:prstGeom>
          <a:noFill/>
        </p:spPr>
        <p:txBody>
          <a:bodyPr wrap="none" rtlCol="0">
            <a:spAutoFit/>
          </a:bodyPr>
          <a:lstStyle/>
          <a:p>
            <a:r>
              <a:rPr lang="zh-CN" altLang="en-US" sz="2000" b="1" dirty="0">
                <a:solidFill>
                  <a:prstClr val="black"/>
                </a:solidFill>
              </a:rPr>
              <a:t>滴定管</a:t>
            </a:r>
          </a:p>
        </p:txBody>
      </p:sp>
      <p:sp>
        <p:nvSpPr>
          <p:cNvPr id="50" name="Rectangle 3"/>
          <p:cNvSpPr txBox="1">
            <a:spLocks noChangeArrowheads="1"/>
          </p:cNvSpPr>
          <p:nvPr/>
        </p:nvSpPr>
        <p:spPr>
          <a:xfrm>
            <a:off x="4329354" y="623401"/>
            <a:ext cx="5715898" cy="515937"/>
          </a:xfrm>
          <a:prstGeom prst="rect">
            <a:avLst/>
          </a:prstGeom>
        </p:spPr>
        <p:txBody>
          <a:bodyPr/>
          <a:lstStyle>
            <a:lvl1pPr marL="342900" indent="-342900" algn="l" rtl="0" eaLnBrk="1" fontAlgn="base" hangingPunct="1">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1" fontAlgn="base" hangingPunct="1">
              <a:spcBef>
                <a:spcPct val="20000"/>
              </a:spcBef>
              <a:spcAft>
                <a:spcPct val="0"/>
              </a:spcAft>
              <a:buClr>
                <a:schemeClr val="accent2"/>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buClr>
                <a:srgbClr val="1F497D"/>
              </a:buClr>
              <a:buFontTx/>
              <a:buNone/>
            </a:pPr>
            <a:r>
              <a:rPr lang="en-US" altLang="zh-CN" sz="2400" b="1" dirty="0">
                <a:solidFill>
                  <a:srgbClr val="C00000"/>
                </a:solidFill>
                <a:latin typeface="Arial" panose="020B0604020202020204" pitchFamily="34" charset="0"/>
                <a:ea typeface="微软雅黑" panose="020B0503020204020204" pitchFamily="34" charset="-122"/>
              </a:rPr>
              <a:t>1. </a:t>
            </a:r>
            <a:r>
              <a:rPr lang="zh-CN" altLang="en-US" sz="2400" b="1" dirty="0">
                <a:solidFill>
                  <a:srgbClr val="C00000"/>
                </a:solidFill>
                <a:latin typeface="Arial" panose="020B0604020202020204" pitchFamily="34" charset="0"/>
                <a:ea typeface="微软雅黑" panose="020B0503020204020204" pitchFamily="34" charset="-122"/>
              </a:rPr>
              <a:t>标准溶液</a:t>
            </a:r>
            <a:r>
              <a:rPr lang="zh-CN" altLang="en-US" sz="2400" b="1" dirty="0">
                <a:solidFill>
                  <a:srgbClr val="E20000"/>
                </a:solidFill>
                <a:latin typeface="Arial" panose="020B0604020202020204" pitchFamily="34" charset="0"/>
                <a:ea typeface="微软雅黑" panose="020B0503020204020204" pitchFamily="34" charset="-122"/>
              </a:rPr>
              <a:t>：</a:t>
            </a:r>
            <a:r>
              <a:rPr lang="zh-CN" altLang="en-US" sz="2400" kern="0" dirty="0">
                <a:solidFill>
                  <a:prstClr val="black"/>
                </a:solidFill>
                <a:latin typeface="Arial" panose="020B0604020202020204" pitchFamily="34" charset="0"/>
                <a:ea typeface="微软雅黑" panose="020B0503020204020204" pitchFamily="34" charset="-122"/>
              </a:rPr>
              <a:t>已知准确浓度的试剂溶液。</a:t>
            </a:r>
          </a:p>
        </p:txBody>
      </p:sp>
      <p:sp>
        <p:nvSpPr>
          <p:cNvPr id="2" name="矩形 1"/>
          <p:cNvSpPr/>
          <p:nvPr/>
        </p:nvSpPr>
        <p:spPr>
          <a:xfrm>
            <a:off x="4329354" y="1309891"/>
            <a:ext cx="6534472" cy="1200329"/>
          </a:xfrm>
          <a:prstGeom prst="rect">
            <a:avLst/>
          </a:prstGeom>
        </p:spPr>
        <p:txBody>
          <a:bodyPr wrap="square">
            <a:spAutoFit/>
          </a:bodyPr>
          <a:lstStyle/>
          <a:p>
            <a:r>
              <a:rPr lang="en-US" altLang="zh-CN" sz="2400" b="1" dirty="0">
                <a:solidFill>
                  <a:srgbClr val="C00000"/>
                </a:solidFill>
                <a:ea typeface="微软雅黑" panose="020B0503020204020204" pitchFamily="34" charset="-122"/>
              </a:rPr>
              <a:t>2.</a:t>
            </a:r>
            <a:r>
              <a:rPr lang="zh-CN" altLang="en-US" sz="2400" b="1" dirty="0">
                <a:solidFill>
                  <a:srgbClr val="C00000"/>
                </a:solidFill>
                <a:ea typeface="微软雅黑" panose="020B0503020204020204" pitchFamily="34" charset="-122"/>
              </a:rPr>
              <a:t>化学计量点</a:t>
            </a:r>
            <a:r>
              <a:rPr lang="en-US" altLang="zh-CN" sz="2400" dirty="0">
                <a:solidFill>
                  <a:srgbClr val="C00000"/>
                </a:solidFill>
                <a:ea typeface="微软雅黑" panose="020B0503020204020204" pitchFamily="34" charset="-122"/>
              </a:rPr>
              <a:t>(</a:t>
            </a:r>
            <a:r>
              <a:rPr lang="en-US" altLang="zh-CN" sz="2400" dirty="0" err="1">
                <a:solidFill>
                  <a:srgbClr val="C00000"/>
                </a:solidFill>
                <a:ea typeface="微软雅黑" panose="020B0503020204020204" pitchFamily="34" charset="-122"/>
              </a:rPr>
              <a:t>sp</a:t>
            </a:r>
            <a:r>
              <a:rPr lang="en-US" altLang="zh-CN" sz="2400" dirty="0">
                <a:solidFill>
                  <a:srgbClr val="C00000"/>
                </a:solidFill>
                <a:ea typeface="微软雅黑" panose="020B0503020204020204" pitchFamily="34" charset="-122"/>
              </a:rPr>
              <a:t>)   </a:t>
            </a:r>
            <a:r>
              <a:rPr lang="zh-CN" altLang="en-US" sz="2400" dirty="0">
                <a:solidFill>
                  <a:prstClr val="black"/>
                </a:solidFill>
                <a:ea typeface="微软雅黑" panose="020B0503020204020204" pitchFamily="34" charset="-122"/>
              </a:rPr>
              <a:t>当加入的标准溶液与被测物质按照滴定反应式的化学计量关系刚好反应完全时，称为达到了化学计量点</a:t>
            </a:r>
            <a:endParaRPr lang="zh-CN" altLang="en-US" dirty="0">
              <a:solidFill>
                <a:prstClr val="black"/>
              </a:solidFill>
            </a:endParaRPr>
          </a:p>
        </p:txBody>
      </p:sp>
      <p:sp>
        <p:nvSpPr>
          <p:cNvPr id="53" name="TextBox 52"/>
          <p:cNvSpPr txBox="1"/>
          <p:nvPr/>
        </p:nvSpPr>
        <p:spPr>
          <a:xfrm>
            <a:off x="1786997" y="5786635"/>
            <a:ext cx="2417650" cy="461665"/>
          </a:xfrm>
          <a:prstGeom prst="rect">
            <a:avLst/>
          </a:prstGeom>
          <a:noFill/>
        </p:spPr>
        <p:txBody>
          <a:bodyPr wrap="none" rtlCol="0">
            <a:spAutoFit/>
          </a:bodyPr>
          <a:lstStyle/>
          <a:p>
            <a:r>
              <a:rPr lang="en-US" altLang="zh-CN" sz="2400" b="1" dirty="0">
                <a:solidFill>
                  <a:prstClr val="black"/>
                </a:solidFill>
              </a:rPr>
              <a:t>H</a:t>
            </a:r>
            <a:r>
              <a:rPr lang="en-US" altLang="zh-CN" sz="2400" b="1" baseline="30000" dirty="0">
                <a:solidFill>
                  <a:prstClr val="black"/>
                </a:solidFill>
              </a:rPr>
              <a:t>+</a:t>
            </a:r>
            <a:r>
              <a:rPr lang="en-US" altLang="zh-CN" sz="2400" b="1" dirty="0">
                <a:solidFill>
                  <a:prstClr val="black"/>
                </a:solidFill>
              </a:rPr>
              <a:t> + OH</a:t>
            </a:r>
            <a:r>
              <a:rPr lang="en-US" altLang="zh-CN" sz="2400" b="1" baseline="30000" dirty="0">
                <a:solidFill>
                  <a:prstClr val="black"/>
                </a:solidFill>
              </a:rPr>
              <a:t>-</a:t>
            </a:r>
            <a:r>
              <a:rPr lang="en-US" altLang="zh-CN" sz="2400" b="1" dirty="0">
                <a:solidFill>
                  <a:prstClr val="black"/>
                </a:solidFill>
              </a:rPr>
              <a:t> =  H</a:t>
            </a:r>
            <a:r>
              <a:rPr lang="en-US" altLang="zh-CN" sz="2400" b="1" baseline="-25000" dirty="0">
                <a:solidFill>
                  <a:prstClr val="black"/>
                </a:solidFill>
              </a:rPr>
              <a:t>2</a:t>
            </a:r>
            <a:r>
              <a:rPr lang="en-US" altLang="zh-CN" sz="2400" b="1" dirty="0">
                <a:solidFill>
                  <a:prstClr val="black"/>
                </a:solidFill>
              </a:rPr>
              <a:t>O</a:t>
            </a:r>
            <a:endParaRPr lang="zh-CN" altLang="en-US" sz="2400" b="1" dirty="0">
              <a:solidFill>
                <a:prstClr val="black"/>
              </a:solidFill>
            </a:endParaRPr>
          </a:p>
        </p:txBody>
      </p:sp>
      <p:sp>
        <p:nvSpPr>
          <p:cNvPr id="54" name="矩形 53"/>
          <p:cNvSpPr/>
          <p:nvPr/>
        </p:nvSpPr>
        <p:spPr>
          <a:xfrm>
            <a:off x="4405202" y="2651428"/>
            <a:ext cx="6318448" cy="1569660"/>
          </a:xfrm>
          <a:prstGeom prst="rect">
            <a:avLst/>
          </a:prstGeom>
        </p:spPr>
        <p:txBody>
          <a:bodyPr wrap="square">
            <a:spAutoFit/>
          </a:bodyPr>
          <a:lstStyle/>
          <a:p>
            <a:r>
              <a:rPr lang="en-US" altLang="zh-CN" sz="2400" b="1" dirty="0">
                <a:solidFill>
                  <a:srgbClr val="C00000"/>
                </a:solidFill>
                <a:ea typeface="微软雅黑" panose="020B0503020204020204" pitchFamily="34" charset="-122"/>
              </a:rPr>
              <a:t>3.</a:t>
            </a:r>
            <a:r>
              <a:rPr lang="zh-CN" altLang="en-US" sz="2400" b="1" dirty="0">
                <a:solidFill>
                  <a:srgbClr val="C00000"/>
                </a:solidFill>
                <a:ea typeface="微软雅黑" panose="020B0503020204020204" pitchFamily="34" charset="-122"/>
              </a:rPr>
              <a:t>指示剂</a:t>
            </a:r>
            <a:r>
              <a:rPr lang="zh-CN" altLang="en-US" sz="2400" dirty="0">
                <a:solidFill>
                  <a:srgbClr val="000000"/>
                </a:solidFill>
                <a:ea typeface="微软雅黑" panose="020B0503020204020204" pitchFamily="34" charset="-122"/>
              </a:rPr>
              <a:t>为了比较准确地掌握化学计量点的达到，加入一种辅助剂，借助于它的颜色变化指示化学计量点的到达，这种辅助试剂称为指示剂</a:t>
            </a:r>
            <a:endParaRPr lang="zh-CN" altLang="en-US" dirty="0">
              <a:solidFill>
                <a:prstClr val="black"/>
              </a:solidFill>
            </a:endParaRPr>
          </a:p>
        </p:txBody>
      </p:sp>
      <p:sp>
        <p:nvSpPr>
          <p:cNvPr id="55" name="矩形 54"/>
          <p:cNvSpPr/>
          <p:nvPr/>
        </p:nvSpPr>
        <p:spPr>
          <a:xfrm>
            <a:off x="4434768" y="4221089"/>
            <a:ext cx="6233232" cy="580415"/>
          </a:xfrm>
          <a:prstGeom prst="rect">
            <a:avLst/>
          </a:prstGeom>
        </p:spPr>
        <p:txBody>
          <a:bodyPr wrap="square">
            <a:spAutoFit/>
          </a:bodyPr>
          <a:lstStyle/>
          <a:p>
            <a:pPr algn="just" fontAlgn="auto">
              <a:lnSpc>
                <a:spcPct val="150000"/>
              </a:lnSpc>
              <a:spcAft>
                <a:spcPts val="0"/>
              </a:spcAft>
            </a:pPr>
            <a:r>
              <a:rPr lang="en-US" altLang="zh-CN" sz="2400" b="1" dirty="0">
                <a:solidFill>
                  <a:srgbClr val="C00000"/>
                </a:solidFill>
                <a:ea typeface="微软雅黑" panose="020B0503020204020204" pitchFamily="34" charset="-122"/>
              </a:rPr>
              <a:t>4.</a:t>
            </a:r>
            <a:r>
              <a:rPr lang="zh-CN" altLang="en-US" sz="2400" b="1" dirty="0">
                <a:solidFill>
                  <a:srgbClr val="C00000"/>
                </a:solidFill>
                <a:ea typeface="微软雅黑" panose="020B0503020204020204" pitchFamily="34" charset="-122"/>
              </a:rPr>
              <a:t>滴定终点</a:t>
            </a:r>
            <a:r>
              <a:rPr lang="en-US" altLang="zh-CN" sz="2400" dirty="0">
                <a:solidFill>
                  <a:srgbClr val="C00000"/>
                </a:solidFill>
                <a:ea typeface="微软雅黑" panose="020B0503020204020204" pitchFamily="34" charset="-122"/>
              </a:rPr>
              <a:t>(ep)</a:t>
            </a:r>
            <a:r>
              <a:rPr lang="zh-CN" altLang="en-US" sz="2400" dirty="0">
                <a:solidFill>
                  <a:prstClr val="black"/>
                </a:solidFill>
                <a:ea typeface="微软雅黑" panose="020B0503020204020204" pitchFamily="34" charset="-122"/>
              </a:rPr>
              <a:t>指示剂正好发生颜色变化的点。</a:t>
            </a:r>
          </a:p>
        </p:txBody>
      </p:sp>
      <p:sp>
        <p:nvSpPr>
          <p:cNvPr id="56" name="矩形 55"/>
          <p:cNvSpPr/>
          <p:nvPr/>
        </p:nvSpPr>
        <p:spPr>
          <a:xfrm>
            <a:off x="4473284" y="5043642"/>
            <a:ext cx="6246612" cy="1128579"/>
          </a:xfrm>
          <a:prstGeom prst="rect">
            <a:avLst/>
          </a:prstGeom>
        </p:spPr>
        <p:txBody>
          <a:bodyPr wrap="square">
            <a:spAutoFit/>
          </a:bodyPr>
          <a:lstStyle/>
          <a:p>
            <a:pPr algn="just" fontAlgn="auto">
              <a:lnSpc>
                <a:spcPct val="150000"/>
              </a:lnSpc>
              <a:spcAft>
                <a:spcPts val="0"/>
              </a:spcAft>
            </a:pPr>
            <a:r>
              <a:rPr lang="en-US" altLang="zh-CN" sz="2400" b="1" dirty="0">
                <a:solidFill>
                  <a:srgbClr val="C00000"/>
                </a:solidFill>
                <a:ea typeface="微软雅黑" panose="020B0503020204020204" pitchFamily="34" charset="-122"/>
              </a:rPr>
              <a:t>5.</a:t>
            </a:r>
            <a:r>
              <a:rPr lang="zh-CN" altLang="en-US" sz="2400" b="1" dirty="0">
                <a:solidFill>
                  <a:srgbClr val="C00000"/>
                </a:solidFill>
                <a:ea typeface="微软雅黑" panose="020B0503020204020204" pitchFamily="34" charset="-122"/>
              </a:rPr>
              <a:t>滴定误差</a:t>
            </a:r>
            <a:r>
              <a:rPr lang="zh-CN" altLang="en-US" sz="2400" dirty="0">
                <a:solidFill>
                  <a:srgbClr val="C00000"/>
                </a:solidFill>
                <a:ea typeface="微软雅黑" panose="020B0503020204020204" pitchFamily="34" charset="-122"/>
              </a:rPr>
              <a:t> </a:t>
            </a:r>
            <a:r>
              <a:rPr lang="en-US" altLang="zh-CN" sz="2400" dirty="0">
                <a:solidFill>
                  <a:srgbClr val="C00000"/>
                </a:solidFill>
                <a:ea typeface="微软雅黑" panose="020B0503020204020204" pitchFamily="34" charset="-122"/>
              </a:rPr>
              <a:t>(E</a:t>
            </a:r>
            <a:r>
              <a:rPr lang="en-US" altLang="zh-CN" sz="2400" baseline="-25000" dirty="0">
                <a:solidFill>
                  <a:srgbClr val="C00000"/>
                </a:solidFill>
                <a:ea typeface="微软雅黑" panose="020B0503020204020204" pitchFamily="34" charset="-122"/>
              </a:rPr>
              <a:t>t</a:t>
            </a:r>
            <a:r>
              <a:rPr lang="en-US" altLang="zh-CN" sz="2400" dirty="0">
                <a:solidFill>
                  <a:srgbClr val="C00000"/>
                </a:solidFill>
                <a:ea typeface="微软雅黑" panose="020B0503020204020204" pitchFamily="34" charset="-122"/>
              </a:rPr>
              <a:t>)  </a:t>
            </a:r>
            <a:r>
              <a:rPr lang="zh-CN" altLang="en-US" sz="2400" dirty="0">
                <a:solidFill>
                  <a:prstClr val="black"/>
                </a:solidFill>
                <a:ea typeface="微软雅黑" panose="020B0503020204020204" pitchFamily="34" charset="-122"/>
              </a:rPr>
              <a:t>滴定终点与化学计量点不一致所造成的误差。</a:t>
            </a:r>
          </a:p>
        </p:txBody>
      </p:sp>
      <p:sp>
        <p:nvSpPr>
          <p:cNvPr id="58" name="TextBox 57"/>
          <p:cNvSpPr txBox="1"/>
          <p:nvPr/>
        </p:nvSpPr>
        <p:spPr>
          <a:xfrm>
            <a:off x="3173692" y="623400"/>
            <a:ext cx="825867" cy="369332"/>
          </a:xfrm>
          <a:prstGeom prst="rect">
            <a:avLst/>
          </a:prstGeom>
          <a:noFill/>
        </p:spPr>
        <p:txBody>
          <a:bodyPr wrap="none" rtlCol="0">
            <a:spAutoFit/>
          </a:bodyPr>
          <a:lstStyle/>
          <a:p>
            <a:r>
              <a:rPr lang="en-US" altLang="zh-CN" dirty="0" err="1">
                <a:solidFill>
                  <a:prstClr val="black"/>
                </a:solidFill>
              </a:rPr>
              <a:t>NaOH</a:t>
            </a:r>
            <a:endParaRPr lang="zh-CN" altLang="en-US" dirty="0">
              <a:solidFill>
                <a:prstClr val="black"/>
              </a:solidFill>
            </a:endParaRPr>
          </a:p>
        </p:txBody>
      </p:sp>
      <p:sp>
        <p:nvSpPr>
          <p:cNvPr id="59" name="TextBox 58"/>
          <p:cNvSpPr txBox="1"/>
          <p:nvPr/>
        </p:nvSpPr>
        <p:spPr>
          <a:xfrm>
            <a:off x="3140634" y="3446155"/>
            <a:ext cx="646331" cy="369332"/>
          </a:xfrm>
          <a:prstGeom prst="rect">
            <a:avLst/>
          </a:prstGeom>
          <a:noFill/>
        </p:spPr>
        <p:txBody>
          <a:bodyPr wrap="none" rtlCol="0">
            <a:spAutoFit/>
          </a:bodyPr>
          <a:lstStyle/>
          <a:p>
            <a:r>
              <a:rPr lang="zh-CN" altLang="en-US" dirty="0">
                <a:solidFill>
                  <a:prstClr val="black"/>
                </a:solidFill>
                <a:latin typeface="微软雅黑" panose="020B0503020204020204" pitchFamily="34" charset="-122"/>
                <a:ea typeface="微软雅黑" panose="020B0503020204020204" pitchFamily="34" charset="-122"/>
              </a:rPr>
              <a:t>酚酞</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122100"/>
    </mc:Choice>
    <mc:Fallback xmlns="">
      <p:transition spd="slow" advTm="1221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fade">
                                      <p:cBhvr>
                                        <p:cTn id="14" dur="1000"/>
                                        <p:tgtEl>
                                          <p:spTgt spid="54"/>
                                        </p:tgtEl>
                                      </p:cBhvr>
                                    </p:animEffect>
                                    <p:anim calcmode="lin" valueType="num">
                                      <p:cBhvr>
                                        <p:cTn id="15" dur="1000" fill="hold"/>
                                        <p:tgtEl>
                                          <p:spTgt spid="54"/>
                                        </p:tgtEl>
                                        <p:attrNameLst>
                                          <p:attrName>ppt_x</p:attrName>
                                        </p:attrNameLst>
                                      </p:cBhvr>
                                      <p:tavLst>
                                        <p:tav tm="0">
                                          <p:val>
                                            <p:strVal val="#ppt_x"/>
                                          </p:val>
                                        </p:tav>
                                        <p:tav tm="100000">
                                          <p:val>
                                            <p:strVal val="#ppt_x"/>
                                          </p:val>
                                        </p:tav>
                                      </p:tavLst>
                                    </p:anim>
                                    <p:anim calcmode="lin" valueType="num">
                                      <p:cBhvr>
                                        <p:cTn id="16"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1000"/>
                                        <p:tgtEl>
                                          <p:spTgt spid="55"/>
                                        </p:tgtEl>
                                      </p:cBhvr>
                                    </p:animEffect>
                                    <p:anim calcmode="lin" valueType="num">
                                      <p:cBhvr>
                                        <p:cTn id="22" dur="1000" fill="hold"/>
                                        <p:tgtEl>
                                          <p:spTgt spid="55"/>
                                        </p:tgtEl>
                                        <p:attrNameLst>
                                          <p:attrName>ppt_x</p:attrName>
                                        </p:attrNameLst>
                                      </p:cBhvr>
                                      <p:tavLst>
                                        <p:tav tm="0">
                                          <p:val>
                                            <p:strVal val="#ppt_x"/>
                                          </p:val>
                                        </p:tav>
                                        <p:tav tm="100000">
                                          <p:val>
                                            <p:strVal val="#ppt_x"/>
                                          </p:val>
                                        </p:tav>
                                      </p:tavLst>
                                    </p:anim>
                                    <p:anim calcmode="lin" valueType="num">
                                      <p:cBhvr>
                                        <p:cTn id="23"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1000"/>
                                        <p:tgtEl>
                                          <p:spTgt spid="56"/>
                                        </p:tgtEl>
                                      </p:cBhvr>
                                    </p:animEffect>
                                    <p:anim calcmode="lin" valueType="num">
                                      <p:cBhvr>
                                        <p:cTn id="29" dur="1000" fill="hold"/>
                                        <p:tgtEl>
                                          <p:spTgt spid="56"/>
                                        </p:tgtEl>
                                        <p:attrNameLst>
                                          <p:attrName>ppt_x</p:attrName>
                                        </p:attrNameLst>
                                      </p:cBhvr>
                                      <p:tavLst>
                                        <p:tav tm="0">
                                          <p:val>
                                            <p:strVal val="#ppt_x"/>
                                          </p:val>
                                        </p:tav>
                                        <p:tav tm="100000">
                                          <p:val>
                                            <p:strVal val="#ppt_x"/>
                                          </p:val>
                                        </p:tav>
                                      </p:tavLst>
                                    </p:anim>
                                    <p:anim calcmode="lin" valueType="num">
                                      <p:cBhvr>
                                        <p:cTn id="30"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4" grpId="0"/>
      <p:bldP spid="55" grpId="0"/>
      <p:bldP spid="5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67808" y="565809"/>
            <a:ext cx="4464496" cy="715581"/>
          </a:xfrm>
          <a:prstGeom prst="rect">
            <a:avLst/>
          </a:prstGeom>
        </p:spPr>
        <p:txBody>
          <a:bodyPr wrap="square">
            <a:spAutoFit/>
          </a:bodyPr>
          <a:lstStyle/>
          <a:p>
            <a:pPr>
              <a:lnSpc>
                <a:spcPct val="200000"/>
              </a:lnSpc>
            </a:pPr>
            <a:r>
              <a:rPr lang="zh-CN" altLang="en-US" sz="2400" dirty="0">
                <a:solidFill>
                  <a:srgbClr val="002060"/>
                </a:solidFill>
                <a:latin typeface="微软雅黑" panose="020B0503020204020204" pitchFamily="34" charset="-122"/>
                <a:ea typeface="微软雅黑" panose="020B0503020204020204" pitchFamily="34" charset="-122"/>
              </a:rPr>
              <a:t>例：滴定分析法测定盐酸浓度</a:t>
            </a:r>
            <a:endParaRPr lang="en-US" altLang="zh-CN" sz="2400" dirty="0">
              <a:solidFill>
                <a:srgbClr val="002060"/>
              </a:solidFill>
              <a:latin typeface="微软雅黑" panose="020B0503020204020204" pitchFamily="34" charset="-122"/>
              <a:ea typeface="微软雅黑" panose="020B0503020204020204" pitchFamily="34" charset="-122"/>
            </a:endParaRPr>
          </a:p>
        </p:txBody>
      </p:sp>
      <p:graphicFrame>
        <p:nvGraphicFramePr>
          <p:cNvPr id="27" name="Object 23"/>
          <p:cNvGraphicFramePr>
            <a:graphicFrameLocks noChangeAspect="1"/>
          </p:cNvGraphicFramePr>
          <p:nvPr/>
        </p:nvGraphicFramePr>
        <p:xfrm>
          <a:off x="2094123" y="4117160"/>
          <a:ext cx="1241425" cy="2184400"/>
        </p:xfrm>
        <a:graphic>
          <a:graphicData uri="http://schemas.openxmlformats.org/presentationml/2006/ole">
            <mc:AlternateContent xmlns:mc="http://schemas.openxmlformats.org/markup-compatibility/2006">
              <mc:Choice xmlns:v="urn:schemas-microsoft-com:vml" Requires="v">
                <p:oleObj spid="_x0000_s254630" name="CS ChemDraw Drawing" r:id="rId4" imgW="1488440" imgH="2621280" progId="ChemDraw.Document.6.0">
                  <p:embed/>
                </p:oleObj>
              </mc:Choice>
              <mc:Fallback>
                <p:oleObj name="CS ChemDraw Drawing" r:id="rId4" imgW="1488440" imgH="2621280" progId="ChemDraw.Document.6.0">
                  <p:embed/>
                  <p:pic>
                    <p:nvPicPr>
                      <p:cNvPr id="0" name="图片 2545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4123" y="4117160"/>
                        <a:ext cx="1241425" cy="218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AutoShape 24"/>
          <p:cNvSpPr>
            <a:spLocks noChangeArrowheads="1"/>
          </p:cNvSpPr>
          <p:nvPr/>
        </p:nvSpPr>
        <p:spPr bwMode="auto">
          <a:xfrm flipH="1">
            <a:off x="2683085" y="2967811"/>
            <a:ext cx="107950" cy="862013"/>
          </a:xfrm>
          <a:prstGeom prst="flowChartTerminator">
            <a:avLst/>
          </a:prstGeom>
          <a:solidFill>
            <a:schemeClr val="accent5">
              <a:lumMod val="20000"/>
              <a:lumOff val="80000"/>
            </a:schemeClr>
          </a:solidFill>
          <a:ln>
            <a:noFill/>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29" name="AutoShape 25"/>
          <p:cNvSpPr>
            <a:spLocks noChangeArrowheads="1"/>
          </p:cNvSpPr>
          <p:nvPr/>
        </p:nvSpPr>
        <p:spPr bwMode="auto">
          <a:xfrm>
            <a:off x="2573547" y="1489849"/>
            <a:ext cx="287338" cy="1620837"/>
          </a:xfrm>
          <a:prstGeom prst="flowChartTerminator">
            <a:avLst/>
          </a:prstGeom>
          <a:solidFill>
            <a:schemeClr val="accent5">
              <a:lumMod val="20000"/>
              <a:lumOff val="80000"/>
            </a:schemeClr>
          </a:solidFill>
          <a:ln>
            <a:noFill/>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graphicFrame>
        <p:nvGraphicFramePr>
          <p:cNvPr id="31" name="Object 27"/>
          <p:cNvGraphicFramePr>
            <a:graphicFrameLocks noChangeAspect="1"/>
          </p:cNvGraphicFramePr>
          <p:nvPr/>
        </p:nvGraphicFramePr>
        <p:xfrm>
          <a:off x="2430673" y="1190331"/>
          <a:ext cx="720725" cy="2725738"/>
        </p:xfrm>
        <a:graphic>
          <a:graphicData uri="http://schemas.openxmlformats.org/presentationml/2006/ole">
            <mc:AlternateContent xmlns:mc="http://schemas.openxmlformats.org/markup-compatibility/2006">
              <mc:Choice xmlns:v="urn:schemas-microsoft-com:vml" Requires="v">
                <p:oleObj spid="_x0000_s254631" name="CS ChemDraw Drawing" r:id="rId6" imgW="690880" imgH="4556760" progId="ChemDraw.Document.6.0">
                  <p:embed/>
                </p:oleObj>
              </mc:Choice>
              <mc:Fallback>
                <p:oleObj name="CS ChemDraw Drawing" r:id="rId6" imgW="690880" imgH="4556760" progId="ChemDraw.Document.6.0">
                  <p:embed/>
                  <p:pic>
                    <p:nvPicPr>
                      <p:cNvPr id="0" name="图片 2545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0673" y="1190331"/>
                        <a:ext cx="720725" cy="272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AutoShape 29"/>
          <p:cNvSpPr>
            <a:spLocks noChangeAspect="1" noChangeArrowheads="1"/>
          </p:cNvSpPr>
          <p:nvPr/>
        </p:nvSpPr>
        <p:spPr bwMode="auto">
          <a:xfrm>
            <a:off x="2662447" y="3902848"/>
            <a:ext cx="107950" cy="107950"/>
          </a:xfrm>
          <a:prstGeom prst="flowChartConnector">
            <a:avLst/>
          </a:prstGeom>
          <a:solidFill>
            <a:srgbClr val="CCECFF"/>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graphicFrame>
        <p:nvGraphicFramePr>
          <p:cNvPr id="34" name="Object 30"/>
          <p:cNvGraphicFramePr>
            <a:graphicFrameLocks noChangeAspect="1"/>
          </p:cNvGraphicFramePr>
          <p:nvPr/>
        </p:nvGraphicFramePr>
        <p:xfrm>
          <a:off x="2088963" y="4106048"/>
          <a:ext cx="1243013" cy="2187575"/>
        </p:xfrm>
        <a:graphic>
          <a:graphicData uri="http://schemas.openxmlformats.org/presentationml/2006/ole">
            <mc:AlternateContent xmlns:mc="http://schemas.openxmlformats.org/markup-compatibility/2006">
              <mc:Choice xmlns:v="urn:schemas-microsoft-com:vml" Requires="v">
                <p:oleObj spid="_x0000_s254632" name="CS ChemDraw Drawing" r:id="rId8" imgW="1488440" imgH="2621280" progId="ChemDraw.Document.6.0">
                  <p:embed/>
                </p:oleObj>
              </mc:Choice>
              <mc:Fallback>
                <p:oleObj name="CS ChemDraw Drawing" r:id="rId8" imgW="1488440" imgH="2621280" progId="ChemDraw.Document.6.0">
                  <p:embed/>
                  <p:pic>
                    <p:nvPicPr>
                      <p:cNvPr id="0" name="图片 2545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88963" y="4106048"/>
                        <a:ext cx="1243013"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 name="Object 31"/>
          <p:cNvGraphicFramePr>
            <a:graphicFrameLocks noChangeAspect="1"/>
          </p:cNvGraphicFramePr>
          <p:nvPr/>
        </p:nvGraphicFramePr>
        <p:xfrm>
          <a:off x="2681497" y="3264673"/>
          <a:ext cx="827088" cy="874712"/>
        </p:xfrm>
        <a:graphic>
          <a:graphicData uri="http://schemas.openxmlformats.org/presentationml/2006/ole">
            <mc:AlternateContent xmlns:mc="http://schemas.openxmlformats.org/markup-compatibility/2006">
              <mc:Choice xmlns:v="urn:schemas-microsoft-com:vml" Requires="v">
                <p:oleObj spid="_x0000_s254633" name="CS ChemDraw Drawing" r:id="rId10" imgW="828040" imgH="873760" progId="ChemDraw.Document.6.0">
                  <p:embed/>
                </p:oleObj>
              </mc:Choice>
              <mc:Fallback>
                <p:oleObj name="CS ChemDraw Drawing" r:id="rId10" imgW="828040" imgH="873760" progId="ChemDraw.Document.6.0">
                  <p:embed/>
                  <p:pic>
                    <p:nvPicPr>
                      <p:cNvPr id="0" name="图片 2545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81497" y="3264673"/>
                        <a:ext cx="827088" cy="874712"/>
                      </a:xfrm>
                      <a:prstGeom prst="rect">
                        <a:avLst/>
                      </a:prstGeom>
                      <a:noFill/>
                      <a:ln>
                        <a:noFill/>
                      </a:ln>
                      <a:effectLst/>
                    </p:spPr>
                  </p:pic>
                </p:oleObj>
              </mc:Fallback>
            </mc:AlternateContent>
          </a:graphicData>
        </a:graphic>
      </p:graphicFrame>
      <p:sp>
        <p:nvSpPr>
          <p:cNvPr id="36" name="AutoShape 32"/>
          <p:cNvSpPr>
            <a:spLocks noChangeAspect="1" noChangeArrowheads="1"/>
          </p:cNvSpPr>
          <p:nvPr/>
        </p:nvSpPr>
        <p:spPr bwMode="auto">
          <a:xfrm>
            <a:off x="2681497" y="4345760"/>
            <a:ext cx="71438" cy="71438"/>
          </a:xfrm>
          <a:prstGeom prst="flowChartConnector">
            <a:avLst/>
          </a:prstGeom>
          <a:solidFill>
            <a:srgbClr val="00FF00"/>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37" name="AutoShape 33"/>
          <p:cNvSpPr>
            <a:spLocks noChangeAspect="1" noChangeArrowheads="1"/>
          </p:cNvSpPr>
          <p:nvPr/>
        </p:nvSpPr>
        <p:spPr bwMode="auto">
          <a:xfrm>
            <a:off x="2681497" y="4345760"/>
            <a:ext cx="71438" cy="71438"/>
          </a:xfrm>
          <a:prstGeom prst="flowChartConnector">
            <a:avLst/>
          </a:prstGeom>
          <a:solidFill>
            <a:srgbClr val="00FF00"/>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38" name="AutoShape 34"/>
          <p:cNvSpPr>
            <a:spLocks noChangeAspect="1" noChangeArrowheads="1"/>
          </p:cNvSpPr>
          <p:nvPr/>
        </p:nvSpPr>
        <p:spPr bwMode="auto">
          <a:xfrm>
            <a:off x="2690692" y="3902848"/>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39" name="AutoShape 35"/>
          <p:cNvSpPr>
            <a:spLocks noChangeAspect="1" noChangeArrowheads="1"/>
          </p:cNvSpPr>
          <p:nvPr/>
        </p:nvSpPr>
        <p:spPr bwMode="auto">
          <a:xfrm>
            <a:off x="2683085" y="3911209"/>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0" name="AutoShape 36"/>
          <p:cNvSpPr>
            <a:spLocks noChangeAspect="1" noChangeArrowheads="1"/>
          </p:cNvSpPr>
          <p:nvPr/>
        </p:nvSpPr>
        <p:spPr bwMode="auto">
          <a:xfrm>
            <a:off x="2681497" y="3918572"/>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1" name="AutoShape 37"/>
          <p:cNvSpPr>
            <a:spLocks noChangeAspect="1" noChangeArrowheads="1"/>
          </p:cNvSpPr>
          <p:nvPr/>
        </p:nvSpPr>
        <p:spPr bwMode="auto">
          <a:xfrm>
            <a:off x="2683085" y="3900392"/>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2" name="AutoShape 38"/>
          <p:cNvSpPr>
            <a:spLocks noChangeAspect="1" noChangeArrowheads="1"/>
          </p:cNvSpPr>
          <p:nvPr/>
        </p:nvSpPr>
        <p:spPr bwMode="auto">
          <a:xfrm>
            <a:off x="2690692" y="3914455"/>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3" name="AutoShape 39"/>
          <p:cNvSpPr>
            <a:spLocks noChangeAspect="1" noChangeArrowheads="1"/>
          </p:cNvSpPr>
          <p:nvPr/>
        </p:nvSpPr>
        <p:spPr bwMode="auto">
          <a:xfrm>
            <a:off x="2681497" y="3912959"/>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4" name="AutoShape 40"/>
          <p:cNvSpPr>
            <a:spLocks noChangeAspect="1" noChangeArrowheads="1"/>
          </p:cNvSpPr>
          <p:nvPr/>
        </p:nvSpPr>
        <p:spPr bwMode="auto">
          <a:xfrm>
            <a:off x="2681497" y="3918572"/>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5" name="AutoShape 41"/>
          <p:cNvSpPr>
            <a:spLocks noChangeAspect="1" noChangeArrowheads="1"/>
          </p:cNvSpPr>
          <p:nvPr/>
        </p:nvSpPr>
        <p:spPr bwMode="auto">
          <a:xfrm>
            <a:off x="2681497" y="3911209"/>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6" name="AutoShape 42"/>
          <p:cNvSpPr>
            <a:spLocks noChangeAspect="1" noChangeArrowheads="1"/>
          </p:cNvSpPr>
          <p:nvPr/>
        </p:nvSpPr>
        <p:spPr bwMode="auto">
          <a:xfrm>
            <a:off x="2681497" y="3918572"/>
            <a:ext cx="107950" cy="107950"/>
          </a:xfrm>
          <a:prstGeom prst="flowChartConnector">
            <a:avLst/>
          </a:prstGeom>
          <a:solidFill>
            <a:schemeClr val="accent5">
              <a:lumMod val="20000"/>
              <a:lumOff val="80000"/>
            </a:schemeClr>
          </a:solidFill>
          <a:ln w="9525" algn="ctr">
            <a:solidFill>
              <a:schemeClr val="tx1"/>
            </a:solidFill>
            <a:round/>
          </a:ln>
          <a:effectLst/>
        </p:spPr>
        <p:txBody>
          <a:bodyPr wrap="none" tIns="0" bIns="0"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endParaRPr lang="zh-CN" altLang="en-US" sz="2800" dirty="0">
              <a:solidFill>
                <a:srgbClr val="000000"/>
              </a:solidFill>
              <a:latin typeface="Tahoma" panose="020B0604030504040204" pitchFamily="34" charset="0"/>
              <a:ea typeface="微软雅黑" panose="020B0503020204020204" pitchFamily="34" charset="-122"/>
            </a:endParaRPr>
          </a:p>
        </p:txBody>
      </p:sp>
      <p:sp>
        <p:nvSpPr>
          <p:cNvPr id="47" name="Rectangle 44"/>
          <p:cNvSpPr>
            <a:spLocks noChangeArrowheads="1"/>
          </p:cNvSpPr>
          <p:nvPr/>
        </p:nvSpPr>
        <p:spPr bwMode="auto">
          <a:xfrm>
            <a:off x="2995822" y="1607324"/>
            <a:ext cx="121058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2000" dirty="0">
                <a:solidFill>
                  <a:srgbClr val="855ADA"/>
                </a:solidFill>
                <a:latin typeface="Tahoma" panose="020B0604030504040204" pitchFamily="34" charset="0"/>
                <a:ea typeface="微软雅黑" panose="020B0503020204020204" pitchFamily="34" charset="-122"/>
              </a:rPr>
              <a:t>标准溶液</a:t>
            </a:r>
            <a:endParaRPr lang="en-US" altLang="zh-CN" sz="2000" dirty="0">
              <a:solidFill>
                <a:srgbClr val="855ADA"/>
              </a:solidFill>
              <a:latin typeface="Tahoma" panose="020B0604030504040204" pitchFamily="34" charset="0"/>
              <a:ea typeface="微软雅黑" panose="020B0503020204020204" pitchFamily="34" charset="-122"/>
            </a:endParaRPr>
          </a:p>
          <a:p>
            <a:pPr eaLnBrk="1" hangingPunct="1">
              <a:spcBef>
                <a:spcPct val="50000"/>
              </a:spcBef>
              <a:buFontTx/>
              <a:buNone/>
            </a:pPr>
            <a:r>
              <a:rPr lang="en-US" altLang="zh-CN" sz="2000" dirty="0">
                <a:solidFill>
                  <a:srgbClr val="855ADA"/>
                </a:solidFill>
                <a:latin typeface="Tahoma" panose="020B0604030504040204" pitchFamily="34" charset="0"/>
                <a:ea typeface="微软雅黑" panose="020B0503020204020204" pitchFamily="34" charset="-122"/>
              </a:rPr>
              <a:t>(</a:t>
            </a:r>
            <a:r>
              <a:rPr lang="zh-CN" altLang="en-US" sz="2000" dirty="0">
                <a:solidFill>
                  <a:srgbClr val="855ADA"/>
                </a:solidFill>
                <a:latin typeface="Tahoma" panose="020B0604030504040204" pitchFamily="34" charset="0"/>
                <a:ea typeface="微软雅黑" panose="020B0503020204020204" pitchFamily="34" charset="-122"/>
              </a:rPr>
              <a:t>滴定剂</a:t>
            </a:r>
            <a:r>
              <a:rPr lang="en-US" altLang="zh-CN" sz="2000" dirty="0">
                <a:solidFill>
                  <a:srgbClr val="855ADA"/>
                </a:solidFill>
                <a:latin typeface="Tahoma" panose="020B0604030504040204" pitchFamily="34" charset="0"/>
                <a:ea typeface="微软雅黑" panose="020B0503020204020204" pitchFamily="34" charset="-122"/>
              </a:rPr>
              <a:t>)</a:t>
            </a:r>
            <a:endParaRPr lang="zh-CN" altLang="en-US" sz="2000" dirty="0">
              <a:solidFill>
                <a:srgbClr val="855ADA"/>
              </a:solidFill>
              <a:latin typeface="Tahoma" panose="020B0604030504040204" pitchFamily="34" charset="0"/>
              <a:ea typeface="微软雅黑" panose="020B0503020204020204" pitchFamily="34" charset="-122"/>
            </a:endParaRPr>
          </a:p>
        </p:txBody>
      </p:sp>
      <p:sp>
        <p:nvSpPr>
          <p:cNvPr id="48" name="Rectangle 45"/>
          <p:cNvSpPr>
            <a:spLocks noChangeArrowheads="1"/>
          </p:cNvSpPr>
          <p:nvPr/>
        </p:nvSpPr>
        <p:spPr bwMode="auto">
          <a:xfrm>
            <a:off x="3235646" y="5947485"/>
            <a:ext cx="1206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zh-CN" altLang="en-US" sz="2000" dirty="0">
                <a:solidFill>
                  <a:srgbClr val="855ADA"/>
                </a:solidFill>
                <a:latin typeface="Tahoma" panose="020B0604030504040204" pitchFamily="34" charset="0"/>
                <a:ea typeface="微软雅黑" panose="020B0503020204020204" pitchFamily="34" charset="-122"/>
              </a:rPr>
              <a:t>待测溶液</a:t>
            </a:r>
          </a:p>
        </p:txBody>
      </p:sp>
      <p:sp>
        <p:nvSpPr>
          <p:cNvPr id="49" name="TextBox 48"/>
          <p:cNvSpPr txBox="1"/>
          <p:nvPr/>
        </p:nvSpPr>
        <p:spPr>
          <a:xfrm>
            <a:off x="1559497" y="1886410"/>
            <a:ext cx="958917" cy="400110"/>
          </a:xfrm>
          <a:prstGeom prst="rect">
            <a:avLst/>
          </a:prstGeom>
          <a:noFill/>
        </p:spPr>
        <p:txBody>
          <a:bodyPr wrap="none" rtlCol="0">
            <a:spAutoFit/>
          </a:bodyPr>
          <a:lstStyle/>
          <a:p>
            <a:r>
              <a:rPr lang="zh-CN" altLang="en-US" sz="2000" b="1" dirty="0"/>
              <a:t>滴定管</a:t>
            </a:r>
          </a:p>
        </p:txBody>
      </p:sp>
      <p:sp>
        <p:nvSpPr>
          <p:cNvPr id="50" name="Rectangle 3"/>
          <p:cNvSpPr txBox="1">
            <a:spLocks noChangeArrowheads="1"/>
          </p:cNvSpPr>
          <p:nvPr/>
        </p:nvSpPr>
        <p:spPr>
          <a:xfrm>
            <a:off x="4341347" y="1862408"/>
            <a:ext cx="6939995" cy="4487280"/>
          </a:xfrm>
          <a:prstGeom prst="rect">
            <a:avLst/>
          </a:prstGeom>
        </p:spPr>
        <p:txBody>
          <a:bodyPr/>
          <a:lstStyle>
            <a:lvl1pPr marL="342900" indent="-342900" algn="l" rtl="0" eaLnBrk="1" fontAlgn="base" hangingPunct="1">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1" fontAlgn="base" hangingPunct="1">
              <a:spcBef>
                <a:spcPct val="20000"/>
              </a:spcBef>
              <a:spcAft>
                <a:spcPct val="0"/>
              </a:spcAft>
              <a:buClr>
                <a:schemeClr val="accent2"/>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50000"/>
              </a:lnSpc>
              <a:buFontTx/>
              <a:buNone/>
            </a:pPr>
            <a:r>
              <a:rPr lang="zh-CN" altLang="en-US" sz="2400" b="1" kern="0" dirty="0">
                <a:latin typeface="Arial" panose="020B0604020202020204" pitchFamily="34" charset="0"/>
                <a:ea typeface="微软雅黑" panose="020B0503020204020204" pitchFamily="34" charset="-122"/>
              </a:rPr>
              <a:t>    滴定分析法：</a:t>
            </a:r>
            <a:r>
              <a:rPr lang="zh-CN" altLang="en-US" sz="2400" kern="0" dirty="0">
                <a:latin typeface="Arial" panose="020B0604020202020204" pitchFamily="34" charset="0"/>
                <a:ea typeface="微软雅黑" panose="020B0503020204020204" pitchFamily="34" charset="-122"/>
              </a:rPr>
              <a:t>又称容量分析法。将一种已知准确浓度的试剂溶液（标准溶液）滴加到被测物质的溶液中，或者是将被测物质的溶液滴加倒标准溶液中，直到所加的标准溶液与被测物质按化学计量关系定量反应完全，然后根据所消耗的标准溶液的量，计算被测物质含量的分析方法。</a:t>
            </a:r>
          </a:p>
        </p:txBody>
      </p:sp>
      <p:sp>
        <p:nvSpPr>
          <p:cNvPr id="57" name="Rectangle 2"/>
          <p:cNvSpPr txBox="1">
            <a:spLocks noChangeArrowheads="1"/>
          </p:cNvSpPr>
          <p:nvPr/>
        </p:nvSpPr>
        <p:spPr>
          <a:xfrm>
            <a:off x="275143" y="215484"/>
            <a:ext cx="5046997" cy="576263"/>
          </a:xfrm>
          <a:prstGeom prst="rect">
            <a:avLst/>
          </a:prstGeom>
          <a:solidFill>
            <a:srgbClr val="009999"/>
          </a:solidFill>
        </p:spPr>
        <p:txBody>
          <a:bodyPr/>
          <a:lstStyle>
            <a:lvl1pPr marL="342900" indent="-342900" algn="l" rtl="0" eaLnBrk="1" fontAlgn="base" hangingPunct="1">
              <a:spcBef>
                <a:spcPct val="20000"/>
              </a:spcBef>
              <a:spcAft>
                <a:spcPct val="0"/>
              </a:spcAft>
              <a:buClr>
                <a:schemeClr val="tx2"/>
              </a:buClr>
              <a:buFont typeface="Wingdings" panose="05000000000000000000"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600">
                <a:solidFill>
                  <a:schemeClr val="tx1"/>
                </a:solidFill>
                <a:latin typeface="+mn-lt"/>
              </a:defRPr>
            </a:lvl2pPr>
            <a:lvl3pPr marL="1143000" indent="-228600" algn="l" rtl="0" eaLnBrk="1" fontAlgn="base" hangingPunct="1">
              <a:spcBef>
                <a:spcPct val="20000"/>
              </a:spcBef>
              <a:spcAft>
                <a:spcPct val="0"/>
              </a:spcAft>
              <a:buClr>
                <a:schemeClr val="accent2"/>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1249680" indent="-1249680" algn="just">
              <a:buNone/>
            </a:pPr>
            <a:r>
              <a:rPr lang="en-US" altLang="zh-CN" b="1" kern="0" dirty="0">
                <a:solidFill>
                  <a:schemeClr val="bg1"/>
                </a:solidFill>
                <a:latin typeface="Times New Roman" panose="02020603050405020304" pitchFamily="18" charset="0"/>
                <a:ea typeface="微软雅黑" panose="020B0503020204020204" pitchFamily="34" charset="-122"/>
              </a:rPr>
              <a:t>2.1   </a:t>
            </a:r>
            <a:r>
              <a:rPr lang="zh-CN" altLang="en-US" b="1" kern="0" dirty="0">
                <a:solidFill>
                  <a:schemeClr val="bg1"/>
                </a:solidFill>
                <a:latin typeface="Times New Roman" panose="02020603050405020304" pitchFamily="18" charset="0"/>
                <a:ea typeface="微软雅黑" panose="020B0503020204020204" pitchFamily="34" charset="-122"/>
              </a:rPr>
              <a:t>滴定分析法的基本概念</a:t>
            </a:r>
          </a:p>
        </p:txBody>
      </p:sp>
      <p:sp>
        <p:nvSpPr>
          <p:cNvPr id="58" name="TextBox 57"/>
          <p:cNvSpPr txBox="1"/>
          <p:nvPr/>
        </p:nvSpPr>
        <p:spPr>
          <a:xfrm>
            <a:off x="3173692" y="1231879"/>
            <a:ext cx="825867" cy="369332"/>
          </a:xfrm>
          <a:prstGeom prst="rect">
            <a:avLst/>
          </a:prstGeom>
          <a:noFill/>
        </p:spPr>
        <p:txBody>
          <a:bodyPr wrap="none" rtlCol="0">
            <a:spAutoFit/>
          </a:bodyPr>
          <a:lstStyle/>
          <a:p>
            <a:r>
              <a:rPr lang="en-US" altLang="zh-CN" dirty="0" err="1"/>
              <a:t>NaOH</a:t>
            </a:r>
            <a:endParaRPr lang="zh-CN" altLang="en-US" dirty="0"/>
          </a:p>
        </p:txBody>
      </p:sp>
      <p:sp>
        <p:nvSpPr>
          <p:cNvPr id="59" name="TextBox 58"/>
          <p:cNvSpPr txBox="1"/>
          <p:nvPr/>
        </p:nvSpPr>
        <p:spPr>
          <a:xfrm>
            <a:off x="3140634" y="4054634"/>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酚酞</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43408"/>
    </mc:Choice>
    <mc:Fallback xmlns="">
      <p:transition spd="slow" advTm="434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1000"/>
                                  </p:stCondLst>
                                  <p:childTnLst>
                                    <p:set>
                                      <p:cBhvr>
                                        <p:cTn id="6" dur="1" fill="hold">
                                          <p:stCondLst>
                                            <p:cond delay="0"/>
                                          </p:stCondLst>
                                        </p:cTn>
                                        <p:tgtEl>
                                          <p:spTgt spid="35"/>
                                        </p:tgtEl>
                                        <p:attrNameLst>
                                          <p:attrName>style.visibility</p:attrName>
                                        </p:attrNameLst>
                                      </p:cBhvr>
                                      <p:to>
                                        <p:strVal val="visible"/>
                                      </p:to>
                                    </p:set>
                                    <p:animEffect transition="in" filter="strips(downLeft)">
                                      <p:cBhvr>
                                        <p:cTn id="7" dur="500"/>
                                        <p:tgtEl>
                                          <p:spTgt spid="35"/>
                                        </p:tgtEl>
                                      </p:cBhvr>
                                    </p:animEffect>
                                  </p:childTnLst>
                                </p:cTn>
                              </p:par>
                            </p:childTnLst>
                          </p:cTn>
                        </p:par>
                        <p:par>
                          <p:cTn id="8" fill="hold">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par>
                          <p:cTn id="11" fill="hold">
                            <p:stCondLst>
                              <p:cond delay="1500"/>
                            </p:stCondLst>
                            <p:childTnLst>
                              <p:par>
                                <p:cTn id="12" presetID="42" presetClass="path" presetSubtype="0" accel="50000" decel="50000" fill="hold" grpId="1" nodeType="afterEffect">
                                  <p:stCondLst>
                                    <p:cond delay="0"/>
                                  </p:stCondLst>
                                  <p:childTnLst>
                                    <p:animMotion origin="layout" path="M 3.05556E-6 -2.59259E-6 L -0.00417 0.22778 " pathEditMode="relative" rAng="0" ptsTypes="AA">
                                      <p:cBhvr>
                                        <p:cTn id="13" dur="2000" fill="hold"/>
                                        <p:tgtEl>
                                          <p:spTgt spid="37"/>
                                        </p:tgtEl>
                                        <p:attrNameLst>
                                          <p:attrName>ppt_x</p:attrName>
                                          <p:attrName>ppt_y</p:attrName>
                                        </p:attrNameLst>
                                      </p:cBhvr>
                                      <p:rCtr x="-208" y="11389"/>
                                    </p:animMotion>
                                  </p:childTnLst>
                                  <p:subTnLst>
                                    <p:set>
                                      <p:cBhvr override="childStyle">
                                        <p:cTn dur="1" fill="hold" display="0" masterRel="sameClick" afterEffect="1">
                                          <p:stCondLst>
                                            <p:cond evt="end" delay="0">
                                              <p:tn val="12"/>
                                            </p:cond>
                                          </p:stCondLst>
                                        </p:cTn>
                                        <p:tgtEl>
                                          <p:spTgt spid="37"/>
                                        </p:tgtEl>
                                        <p:attrNameLst>
                                          <p:attrName>style.visibility</p:attrName>
                                        </p:attrNameLst>
                                      </p:cBhvr>
                                      <p:to>
                                        <p:strVal val="hidden"/>
                                      </p:to>
                                    </p:set>
                                  </p:subTnLst>
                                </p:cTn>
                              </p:par>
                            </p:childTnLst>
                          </p:cTn>
                        </p:par>
                        <p:par>
                          <p:cTn id="14" fill="hold">
                            <p:stCondLst>
                              <p:cond delay="3500"/>
                            </p:stCondLst>
                            <p:childTnLst>
                              <p:par>
                                <p:cTn id="15" presetID="1" presetClass="entr" presetSubtype="0" fill="hold" grpId="0" nodeType="after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par>
                          <p:cTn id="17" fill="hold">
                            <p:stCondLst>
                              <p:cond delay="3500"/>
                            </p:stCondLst>
                            <p:childTnLst>
                              <p:par>
                                <p:cTn id="18" presetID="42" presetClass="path" presetSubtype="0" accel="50000" decel="50000" fill="hold" grpId="1" nodeType="afterEffect">
                                  <p:stCondLst>
                                    <p:cond delay="0"/>
                                  </p:stCondLst>
                                  <p:childTnLst>
                                    <p:animMotion origin="layout" path="M 3.05556E-6 -2.59259E-6 L 3.05556E-6 0.23635 " pathEditMode="relative" rAng="0" ptsTypes="AA">
                                      <p:cBhvr>
                                        <p:cTn id="19" dur="2000" fill="hold"/>
                                        <p:tgtEl>
                                          <p:spTgt spid="36"/>
                                        </p:tgtEl>
                                        <p:attrNameLst>
                                          <p:attrName>ppt_x</p:attrName>
                                          <p:attrName>ppt_y</p:attrName>
                                        </p:attrNameLst>
                                      </p:cBhvr>
                                      <p:rCtr x="0" y="11806"/>
                                    </p:animMotion>
                                  </p:childTnLst>
                                  <p:subTnLst>
                                    <p:set>
                                      <p:cBhvr override="childStyle">
                                        <p:cTn dur="1" fill="hold" display="0" masterRel="sameClick" afterEffect="1">
                                          <p:stCondLst>
                                            <p:cond evt="end" delay="0">
                                              <p:tn val="18"/>
                                            </p:cond>
                                          </p:stCondLst>
                                        </p:cTn>
                                        <p:tgtEl>
                                          <p:spTgt spid="36"/>
                                        </p:tgtEl>
                                        <p:attrNameLst>
                                          <p:attrName>style.visibility</p:attrName>
                                        </p:attrNameLst>
                                      </p:cBhvr>
                                      <p:to>
                                        <p:strVal val="hidden"/>
                                      </p:to>
                                    </p:set>
                                  </p:subTnLst>
                                </p:cTn>
                              </p:par>
                            </p:childTnLst>
                          </p:cTn>
                        </p:par>
                        <p:par>
                          <p:cTn id="20" fill="hold">
                            <p:stCondLst>
                              <p:cond delay="5500"/>
                            </p:stCondLst>
                            <p:childTnLst>
                              <p:par>
                                <p:cTn id="21" presetID="10" presetClass="exit" presetSubtype="0" fill="hold" nodeType="afterEffect">
                                  <p:stCondLst>
                                    <p:cond delay="200"/>
                                  </p:stCondLst>
                                  <p:childTnLst>
                                    <p:animEffect transition="out" filter="fade">
                                      <p:cBhvr>
                                        <p:cTn id="22" dur="1000"/>
                                        <p:tgtEl>
                                          <p:spTgt spid="35"/>
                                        </p:tgtEl>
                                      </p:cBhvr>
                                    </p:animEffect>
                                    <p:set>
                                      <p:cBhvr>
                                        <p:cTn id="23" dur="1" fill="hold">
                                          <p:stCondLst>
                                            <p:cond delay="999"/>
                                          </p:stCondLst>
                                        </p:cTn>
                                        <p:tgtEl>
                                          <p:spTgt spid="35"/>
                                        </p:tgtEl>
                                        <p:attrNameLst>
                                          <p:attrName>style.visibility</p:attrName>
                                        </p:attrNameLst>
                                      </p:cBhvr>
                                      <p:to>
                                        <p:strVal val="hidden"/>
                                      </p:to>
                                    </p:set>
                                  </p:childTnLst>
                                </p:cTn>
                              </p:par>
                            </p:childTnLst>
                          </p:cTn>
                        </p:par>
                        <p:par>
                          <p:cTn id="24" fill="hold">
                            <p:stCondLst>
                              <p:cond delay="6700"/>
                            </p:stCondLst>
                            <p:childTnLst>
                              <p:par>
                                <p:cTn id="25" presetID="1" presetClass="entr" presetSubtype="0" fill="hold" grpId="0" nodeType="afterEffect">
                                  <p:stCondLst>
                                    <p:cond delay="1000"/>
                                  </p:stCondLst>
                                  <p:childTnLst>
                                    <p:set>
                                      <p:cBhvr>
                                        <p:cTn id="26" dur="1" fill="hold">
                                          <p:stCondLst>
                                            <p:cond delay="0"/>
                                          </p:stCondLst>
                                        </p:cTn>
                                        <p:tgtEl>
                                          <p:spTgt spid="33"/>
                                        </p:tgtEl>
                                        <p:attrNameLst>
                                          <p:attrName>style.visibility</p:attrName>
                                        </p:attrNameLst>
                                      </p:cBhvr>
                                      <p:to>
                                        <p:strVal val="visible"/>
                                      </p:to>
                                    </p:set>
                                  </p:childTnLst>
                                </p:cTn>
                              </p:par>
                            </p:childTnLst>
                          </p:cTn>
                        </p:par>
                        <p:par>
                          <p:cTn id="27" fill="hold">
                            <p:stCondLst>
                              <p:cond delay="7700"/>
                            </p:stCondLst>
                            <p:childTnLst>
                              <p:par>
                                <p:cTn id="28" presetID="42" presetClass="path" presetSubtype="0" accel="50000" decel="50000" fill="hold" grpId="1" nodeType="afterEffect">
                                  <p:stCondLst>
                                    <p:cond delay="0"/>
                                  </p:stCondLst>
                                  <p:childTnLst>
                                    <p:animMotion origin="layout" path="M 3.05556E-6 3.7037E-6 L 3.05556E-6 0.30694 " pathEditMode="relative" rAng="0" ptsTypes="AA">
                                      <p:cBhvr>
                                        <p:cTn id="29" dur="2000" fill="hold"/>
                                        <p:tgtEl>
                                          <p:spTgt spid="33"/>
                                        </p:tgtEl>
                                        <p:attrNameLst>
                                          <p:attrName>ppt_x</p:attrName>
                                          <p:attrName>ppt_y</p:attrName>
                                        </p:attrNameLst>
                                      </p:cBhvr>
                                      <p:rCtr x="0" y="15347"/>
                                    </p:animMotion>
                                  </p:childTnLst>
                                  <p:subTnLst>
                                    <p:set>
                                      <p:cBhvr override="childStyle">
                                        <p:cTn dur="1" fill="hold" display="0" masterRel="sameClick" afterEffect="1">
                                          <p:stCondLst>
                                            <p:cond evt="end" delay="0">
                                              <p:tn val="28"/>
                                            </p:cond>
                                          </p:stCondLst>
                                        </p:cTn>
                                        <p:tgtEl>
                                          <p:spTgt spid="33"/>
                                        </p:tgtEl>
                                        <p:attrNameLst>
                                          <p:attrName>style.visibility</p:attrName>
                                        </p:attrNameLst>
                                      </p:cBhvr>
                                      <p:to>
                                        <p:strVal val="hidden"/>
                                      </p:to>
                                    </p:set>
                                  </p:subTnLst>
                                </p:cTn>
                              </p:par>
                            </p:childTnLst>
                          </p:cTn>
                        </p:par>
                        <p:par>
                          <p:cTn id="30" fill="hold">
                            <p:stCondLst>
                              <p:cond delay="9700"/>
                            </p:stCondLst>
                            <p:childTnLst>
                              <p:par>
                                <p:cTn id="31" presetID="1" presetClass="entr" presetSubtype="0" fill="hold" grpId="0" nodeType="after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par>
                          <p:cTn id="33" fill="hold">
                            <p:stCondLst>
                              <p:cond delay="9700"/>
                            </p:stCondLst>
                            <p:childTnLst>
                              <p:par>
                                <p:cTn id="34" presetID="42" presetClass="path" presetSubtype="0" accel="50000" decel="50000" fill="remove" grpId="1" nodeType="afterEffect">
                                  <p:stCondLst>
                                    <p:cond delay="0"/>
                                  </p:stCondLst>
                                  <p:childTnLst>
                                    <p:animMotion origin="layout" path="M -4.16667E-6 4.07407E-6 L 0.00591 0.29652 " pathEditMode="relative" rAng="0" ptsTypes="AA">
                                      <p:cBhvr>
                                        <p:cTn id="35" dur="2000" fill="hold"/>
                                        <p:tgtEl>
                                          <p:spTgt spid="38"/>
                                        </p:tgtEl>
                                        <p:attrNameLst>
                                          <p:attrName>ppt_x</p:attrName>
                                          <p:attrName>ppt_y</p:attrName>
                                        </p:attrNameLst>
                                      </p:cBhvr>
                                      <p:rCtr x="295" y="14815"/>
                                    </p:animMotion>
                                  </p:childTnLst>
                                  <p:subTnLst>
                                    <p:set>
                                      <p:cBhvr override="childStyle">
                                        <p:cTn dur="1" fill="hold" display="0" masterRel="sameClick" afterEffect="1">
                                          <p:stCondLst>
                                            <p:cond evt="end" delay="0">
                                              <p:tn val="34"/>
                                            </p:cond>
                                          </p:stCondLst>
                                        </p:cTn>
                                        <p:tgtEl>
                                          <p:spTgt spid="38"/>
                                        </p:tgtEl>
                                        <p:attrNameLst>
                                          <p:attrName>style.visibility</p:attrName>
                                        </p:attrNameLst>
                                      </p:cBhvr>
                                      <p:to>
                                        <p:strVal val="hidden"/>
                                      </p:to>
                                    </p:set>
                                  </p:subTnLst>
                                </p:cTn>
                              </p:par>
                            </p:childTnLst>
                          </p:cTn>
                        </p:par>
                        <p:par>
                          <p:cTn id="36" fill="hold">
                            <p:stCondLst>
                              <p:cond delay="11700"/>
                            </p:stCondLst>
                            <p:childTnLst>
                              <p:par>
                                <p:cTn id="37" presetID="1" presetClass="entr" presetSubtype="0" fill="hold" grpId="0" nodeType="afterEffect">
                                  <p:stCondLst>
                                    <p:cond delay="1000"/>
                                  </p:stCondLst>
                                  <p:childTnLst>
                                    <p:set>
                                      <p:cBhvr>
                                        <p:cTn id="38" dur="1" fill="hold">
                                          <p:stCondLst>
                                            <p:cond delay="0"/>
                                          </p:stCondLst>
                                        </p:cTn>
                                        <p:tgtEl>
                                          <p:spTgt spid="39"/>
                                        </p:tgtEl>
                                        <p:attrNameLst>
                                          <p:attrName>style.visibility</p:attrName>
                                        </p:attrNameLst>
                                      </p:cBhvr>
                                      <p:to>
                                        <p:strVal val="visible"/>
                                      </p:to>
                                    </p:set>
                                  </p:childTnLst>
                                </p:cTn>
                              </p:par>
                            </p:childTnLst>
                          </p:cTn>
                        </p:par>
                        <p:par>
                          <p:cTn id="39" fill="hold">
                            <p:stCondLst>
                              <p:cond delay="12700"/>
                            </p:stCondLst>
                            <p:childTnLst>
                              <p:par>
                                <p:cTn id="40" presetID="42" presetClass="path" presetSubtype="0" accel="50000" decel="50000" fill="remove" grpId="1" nodeType="afterEffect">
                                  <p:stCondLst>
                                    <p:cond delay="0"/>
                                  </p:stCondLst>
                                  <p:childTnLst>
                                    <p:animMotion origin="layout" path="M -4.16667E-6 4.07407E-6 L 0.00591 0.29652 " pathEditMode="relative" rAng="0" ptsTypes="AA">
                                      <p:cBhvr>
                                        <p:cTn id="41" dur="2000" fill="hold"/>
                                        <p:tgtEl>
                                          <p:spTgt spid="39"/>
                                        </p:tgtEl>
                                        <p:attrNameLst>
                                          <p:attrName>ppt_x</p:attrName>
                                          <p:attrName>ppt_y</p:attrName>
                                        </p:attrNameLst>
                                      </p:cBhvr>
                                      <p:rCtr x="295" y="14815"/>
                                    </p:animMotion>
                                  </p:childTnLst>
                                  <p:subTnLst>
                                    <p:set>
                                      <p:cBhvr override="childStyle">
                                        <p:cTn dur="1" fill="hold" display="0" masterRel="sameClick" afterEffect="1">
                                          <p:stCondLst>
                                            <p:cond evt="end" delay="0">
                                              <p:tn val="40"/>
                                            </p:cond>
                                          </p:stCondLst>
                                        </p:cTn>
                                        <p:tgtEl>
                                          <p:spTgt spid="39"/>
                                        </p:tgtEl>
                                        <p:attrNameLst>
                                          <p:attrName>style.visibility</p:attrName>
                                        </p:attrNameLst>
                                      </p:cBhvr>
                                      <p:to>
                                        <p:strVal val="hidden"/>
                                      </p:to>
                                    </p:set>
                                  </p:subTnLst>
                                </p:cTn>
                              </p:par>
                            </p:childTnLst>
                          </p:cTn>
                        </p:par>
                        <p:par>
                          <p:cTn id="42" fill="hold">
                            <p:stCondLst>
                              <p:cond delay="14700"/>
                            </p:stCondLst>
                            <p:childTnLst>
                              <p:par>
                                <p:cTn id="43" presetID="1" presetClass="entr" presetSubtype="0" fill="hold" grpId="0" nodeType="after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par>
                          <p:cTn id="45" fill="hold">
                            <p:stCondLst>
                              <p:cond delay="14700"/>
                            </p:stCondLst>
                            <p:childTnLst>
                              <p:par>
                                <p:cTn id="46" presetID="42" presetClass="path" presetSubtype="0" accel="50000" decel="50000" fill="remove" grpId="1" nodeType="afterEffect">
                                  <p:stCondLst>
                                    <p:cond delay="0"/>
                                  </p:stCondLst>
                                  <p:childTnLst>
                                    <p:animMotion origin="layout" path="M -4.16667E-6 4.07407E-6 L 0.00591 0.29652 " pathEditMode="relative" rAng="0" ptsTypes="AA">
                                      <p:cBhvr>
                                        <p:cTn id="47" dur="2000" fill="hold"/>
                                        <p:tgtEl>
                                          <p:spTgt spid="40"/>
                                        </p:tgtEl>
                                        <p:attrNameLst>
                                          <p:attrName>ppt_x</p:attrName>
                                          <p:attrName>ppt_y</p:attrName>
                                        </p:attrNameLst>
                                      </p:cBhvr>
                                      <p:rCtr x="295" y="14815"/>
                                    </p:animMotion>
                                  </p:childTnLst>
                                  <p:subTnLst>
                                    <p:set>
                                      <p:cBhvr override="childStyle">
                                        <p:cTn dur="1" fill="hold" display="0" masterRel="sameClick" afterEffect="1">
                                          <p:stCondLst>
                                            <p:cond evt="end" delay="0">
                                              <p:tn val="46"/>
                                            </p:cond>
                                          </p:stCondLst>
                                        </p:cTn>
                                        <p:tgtEl>
                                          <p:spTgt spid="40"/>
                                        </p:tgtEl>
                                        <p:attrNameLst>
                                          <p:attrName>style.visibility</p:attrName>
                                        </p:attrNameLst>
                                      </p:cBhvr>
                                      <p:to>
                                        <p:strVal val="hidden"/>
                                      </p:to>
                                    </p:set>
                                  </p:subTnLst>
                                </p:cTn>
                              </p:par>
                            </p:childTnLst>
                          </p:cTn>
                        </p:par>
                        <p:par>
                          <p:cTn id="48" fill="hold">
                            <p:stCondLst>
                              <p:cond delay="16700"/>
                            </p:stCondLst>
                            <p:childTnLst>
                              <p:par>
                                <p:cTn id="49" presetID="1" presetClass="entr" presetSubtype="0" fill="hold" grpId="0" nodeType="after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par>
                          <p:cTn id="51" fill="hold">
                            <p:stCondLst>
                              <p:cond delay="16700"/>
                            </p:stCondLst>
                            <p:childTnLst>
                              <p:par>
                                <p:cTn id="52" presetID="42" presetClass="path" presetSubtype="0" accel="50000" decel="50000" fill="remove" grpId="1" nodeType="afterEffect">
                                  <p:stCondLst>
                                    <p:cond delay="0"/>
                                  </p:stCondLst>
                                  <p:childTnLst>
                                    <p:animMotion origin="layout" path="M -4.16667E-6 4.07407E-6 L 0.00591 0.29652 " pathEditMode="relative" rAng="0" ptsTypes="AA">
                                      <p:cBhvr>
                                        <p:cTn id="53" dur="2000" fill="hold"/>
                                        <p:tgtEl>
                                          <p:spTgt spid="41"/>
                                        </p:tgtEl>
                                        <p:attrNameLst>
                                          <p:attrName>ppt_x</p:attrName>
                                          <p:attrName>ppt_y</p:attrName>
                                        </p:attrNameLst>
                                      </p:cBhvr>
                                      <p:rCtr x="295" y="14815"/>
                                    </p:animMotion>
                                  </p:childTnLst>
                                  <p:subTnLst>
                                    <p:set>
                                      <p:cBhvr override="childStyle">
                                        <p:cTn dur="1" fill="hold" display="0" masterRel="sameClick" afterEffect="1">
                                          <p:stCondLst>
                                            <p:cond evt="end" delay="0">
                                              <p:tn val="52"/>
                                            </p:cond>
                                          </p:stCondLst>
                                        </p:cTn>
                                        <p:tgtEl>
                                          <p:spTgt spid="41"/>
                                        </p:tgtEl>
                                        <p:attrNameLst>
                                          <p:attrName>style.visibility</p:attrName>
                                        </p:attrNameLst>
                                      </p:cBhvr>
                                      <p:to>
                                        <p:strVal val="hidden"/>
                                      </p:to>
                                    </p:set>
                                  </p:subTnLst>
                                </p:cTn>
                              </p:par>
                            </p:childTnLst>
                          </p:cTn>
                        </p:par>
                        <p:par>
                          <p:cTn id="54" fill="hold">
                            <p:stCondLst>
                              <p:cond delay="18700"/>
                            </p:stCondLst>
                            <p:childTnLst>
                              <p:par>
                                <p:cTn id="55" presetID="1" presetClass="entr" presetSubtype="0" fill="hold" grpId="0" nodeType="after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childTnLst>
                          </p:cTn>
                        </p:par>
                        <p:par>
                          <p:cTn id="57" fill="hold">
                            <p:stCondLst>
                              <p:cond delay="18700"/>
                            </p:stCondLst>
                            <p:childTnLst>
                              <p:par>
                                <p:cTn id="58" presetID="42" presetClass="path" presetSubtype="0" accel="50000" decel="50000" fill="remove" grpId="1" nodeType="afterEffect">
                                  <p:stCondLst>
                                    <p:cond delay="0"/>
                                  </p:stCondLst>
                                  <p:childTnLst>
                                    <p:animMotion origin="layout" path="M -4.16667E-6 4.07407E-6 L 0.00591 0.29652 " pathEditMode="relative" rAng="0" ptsTypes="AA">
                                      <p:cBhvr>
                                        <p:cTn id="59" dur="2000" fill="hold"/>
                                        <p:tgtEl>
                                          <p:spTgt spid="42"/>
                                        </p:tgtEl>
                                        <p:attrNameLst>
                                          <p:attrName>ppt_x</p:attrName>
                                          <p:attrName>ppt_y</p:attrName>
                                        </p:attrNameLst>
                                      </p:cBhvr>
                                      <p:rCtr x="295" y="14815"/>
                                    </p:animMotion>
                                  </p:childTnLst>
                                  <p:subTnLst>
                                    <p:set>
                                      <p:cBhvr override="childStyle">
                                        <p:cTn dur="1" fill="hold" display="0" masterRel="sameClick" afterEffect="1">
                                          <p:stCondLst>
                                            <p:cond evt="end" delay="0">
                                              <p:tn val="58"/>
                                            </p:cond>
                                          </p:stCondLst>
                                        </p:cTn>
                                        <p:tgtEl>
                                          <p:spTgt spid="42"/>
                                        </p:tgtEl>
                                        <p:attrNameLst>
                                          <p:attrName>style.visibility</p:attrName>
                                        </p:attrNameLst>
                                      </p:cBhvr>
                                      <p:to>
                                        <p:strVal val="hidden"/>
                                      </p:to>
                                    </p:set>
                                  </p:subTnLst>
                                </p:cTn>
                              </p:par>
                            </p:childTnLst>
                          </p:cTn>
                        </p:par>
                        <p:par>
                          <p:cTn id="60" fill="hold">
                            <p:stCondLst>
                              <p:cond delay="20700"/>
                            </p:stCondLst>
                            <p:childTnLst>
                              <p:par>
                                <p:cTn id="61" presetID="1" presetClass="entr" presetSubtype="0" fill="hold" grpId="0" nodeType="after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par>
                          <p:cTn id="63" fill="hold">
                            <p:stCondLst>
                              <p:cond delay="20700"/>
                            </p:stCondLst>
                            <p:childTnLst>
                              <p:par>
                                <p:cTn id="64" presetID="42" presetClass="path" presetSubtype="0" accel="50000" decel="50000" fill="remove" grpId="1" nodeType="afterEffect">
                                  <p:stCondLst>
                                    <p:cond delay="0"/>
                                  </p:stCondLst>
                                  <p:childTnLst>
                                    <p:animMotion origin="layout" path="M -4.16667E-6 4.07407E-6 L 0.00591 0.29652 " pathEditMode="relative" rAng="0" ptsTypes="AA">
                                      <p:cBhvr>
                                        <p:cTn id="65" dur="2000" fill="hold"/>
                                        <p:tgtEl>
                                          <p:spTgt spid="43"/>
                                        </p:tgtEl>
                                        <p:attrNameLst>
                                          <p:attrName>ppt_x</p:attrName>
                                          <p:attrName>ppt_y</p:attrName>
                                        </p:attrNameLst>
                                      </p:cBhvr>
                                      <p:rCtr x="295" y="14815"/>
                                    </p:animMotion>
                                  </p:childTnLst>
                                  <p:subTnLst>
                                    <p:set>
                                      <p:cBhvr override="childStyle">
                                        <p:cTn dur="1" fill="hold" display="0" masterRel="sameClick" afterEffect="1">
                                          <p:stCondLst>
                                            <p:cond evt="end" delay="0">
                                              <p:tn val="64"/>
                                            </p:cond>
                                          </p:stCondLst>
                                        </p:cTn>
                                        <p:tgtEl>
                                          <p:spTgt spid="43"/>
                                        </p:tgtEl>
                                        <p:attrNameLst>
                                          <p:attrName>style.visibility</p:attrName>
                                        </p:attrNameLst>
                                      </p:cBhvr>
                                      <p:to>
                                        <p:strVal val="hidden"/>
                                      </p:to>
                                    </p:set>
                                  </p:subTnLst>
                                </p:cTn>
                              </p:par>
                            </p:childTnLst>
                          </p:cTn>
                        </p:par>
                        <p:par>
                          <p:cTn id="66" fill="hold">
                            <p:stCondLst>
                              <p:cond delay="22700"/>
                            </p:stCondLst>
                            <p:childTnLst>
                              <p:par>
                                <p:cTn id="67" presetID="1" presetClass="entr" presetSubtype="0" fill="hold" grpId="0" nodeType="after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par>
                          <p:cTn id="69" fill="hold">
                            <p:stCondLst>
                              <p:cond delay="22700"/>
                            </p:stCondLst>
                            <p:childTnLst>
                              <p:par>
                                <p:cTn id="70" presetID="42" presetClass="path" presetSubtype="0" accel="50000" decel="50000" fill="remove" grpId="1" nodeType="afterEffect">
                                  <p:stCondLst>
                                    <p:cond delay="0"/>
                                  </p:stCondLst>
                                  <p:childTnLst>
                                    <p:animMotion origin="layout" path="M -4.16667E-6 4.07407E-6 L 0.00591 0.29652 " pathEditMode="relative" rAng="0" ptsTypes="AA">
                                      <p:cBhvr>
                                        <p:cTn id="71" dur="2000" fill="hold"/>
                                        <p:tgtEl>
                                          <p:spTgt spid="44"/>
                                        </p:tgtEl>
                                        <p:attrNameLst>
                                          <p:attrName>ppt_x</p:attrName>
                                          <p:attrName>ppt_y</p:attrName>
                                        </p:attrNameLst>
                                      </p:cBhvr>
                                      <p:rCtr x="295" y="14815"/>
                                    </p:animMotion>
                                  </p:childTnLst>
                                  <p:subTnLst>
                                    <p:set>
                                      <p:cBhvr override="childStyle">
                                        <p:cTn dur="1" fill="hold" display="0" masterRel="sameClick" afterEffect="1">
                                          <p:stCondLst>
                                            <p:cond evt="end" delay="0">
                                              <p:tn val="70"/>
                                            </p:cond>
                                          </p:stCondLst>
                                        </p:cTn>
                                        <p:tgtEl>
                                          <p:spTgt spid="44"/>
                                        </p:tgtEl>
                                        <p:attrNameLst>
                                          <p:attrName>style.visibility</p:attrName>
                                        </p:attrNameLst>
                                      </p:cBhvr>
                                      <p:to>
                                        <p:strVal val="hidden"/>
                                      </p:to>
                                    </p:set>
                                  </p:subTnLst>
                                </p:cTn>
                              </p:par>
                            </p:childTnLst>
                          </p:cTn>
                        </p:par>
                        <p:par>
                          <p:cTn id="72" fill="hold">
                            <p:stCondLst>
                              <p:cond delay="24700"/>
                            </p:stCondLst>
                            <p:childTnLst>
                              <p:par>
                                <p:cTn id="73" presetID="1" presetClass="entr" presetSubtype="0" fill="hold" grpId="0" nodeType="after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childTnLst>
                          </p:cTn>
                        </p:par>
                        <p:par>
                          <p:cTn id="75" fill="hold">
                            <p:stCondLst>
                              <p:cond delay="24700"/>
                            </p:stCondLst>
                            <p:childTnLst>
                              <p:par>
                                <p:cTn id="76" presetID="42" presetClass="path" presetSubtype="0" accel="50000" decel="50000" fill="remove" grpId="1" nodeType="afterEffect">
                                  <p:stCondLst>
                                    <p:cond delay="0"/>
                                  </p:stCondLst>
                                  <p:childTnLst>
                                    <p:animMotion origin="layout" path="M -4.16667E-6 4.07407E-6 L 0.00591 0.29652 " pathEditMode="relative" rAng="0" ptsTypes="AA">
                                      <p:cBhvr>
                                        <p:cTn id="77" dur="2000" fill="hold"/>
                                        <p:tgtEl>
                                          <p:spTgt spid="45"/>
                                        </p:tgtEl>
                                        <p:attrNameLst>
                                          <p:attrName>ppt_x</p:attrName>
                                          <p:attrName>ppt_y</p:attrName>
                                        </p:attrNameLst>
                                      </p:cBhvr>
                                      <p:rCtr x="295" y="14815"/>
                                    </p:animMotion>
                                  </p:childTnLst>
                                  <p:subTnLst>
                                    <p:set>
                                      <p:cBhvr override="childStyle">
                                        <p:cTn dur="1" fill="hold" display="0" masterRel="sameClick" afterEffect="1">
                                          <p:stCondLst>
                                            <p:cond evt="end" delay="0">
                                              <p:tn val="76"/>
                                            </p:cond>
                                          </p:stCondLst>
                                        </p:cTn>
                                        <p:tgtEl>
                                          <p:spTgt spid="45"/>
                                        </p:tgtEl>
                                        <p:attrNameLst>
                                          <p:attrName>style.visibility</p:attrName>
                                        </p:attrNameLst>
                                      </p:cBhvr>
                                      <p:to>
                                        <p:strVal val="hidden"/>
                                      </p:to>
                                    </p:set>
                                  </p:subTnLst>
                                </p:cTn>
                              </p:par>
                            </p:childTnLst>
                          </p:cTn>
                        </p:par>
                        <p:par>
                          <p:cTn id="78" fill="hold">
                            <p:stCondLst>
                              <p:cond delay="26700"/>
                            </p:stCondLst>
                            <p:childTnLst>
                              <p:par>
                                <p:cTn id="79" presetID="1" presetClass="entr" presetSubtype="0" fill="hold" grpId="0" nodeType="after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childTnLst>
                          </p:cTn>
                        </p:par>
                        <p:par>
                          <p:cTn id="81" fill="hold">
                            <p:stCondLst>
                              <p:cond delay="26700"/>
                            </p:stCondLst>
                            <p:childTnLst>
                              <p:par>
                                <p:cTn id="82" presetID="42" presetClass="path" presetSubtype="0" accel="50000" decel="50000" fill="remove" grpId="1" nodeType="afterEffect">
                                  <p:stCondLst>
                                    <p:cond delay="0"/>
                                  </p:stCondLst>
                                  <p:childTnLst>
                                    <p:animMotion origin="layout" path="M -4.16667E-6 4.07407E-6 L 0.00591 0.29652 " pathEditMode="relative" rAng="0" ptsTypes="AA">
                                      <p:cBhvr>
                                        <p:cTn id="83" dur="2000" fill="hold"/>
                                        <p:tgtEl>
                                          <p:spTgt spid="46"/>
                                        </p:tgtEl>
                                        <p:attrNameLst>
                                          <p:attrName>ppt_x</p:attrName>
                                          <p:attrName>ppt_y</p:attrName>
                                        </p:attrNameLst>
                                      </p:cBhvr>
                                      <p:rCtr x="295" y="14815"/>
                                    </p:animMotion>
                                  </p:childTnLst>
                                  <p:subTnLst>
                                    <p:set>
                                      <p:cBhvr override="childStyle">
                                        <p:cTn dur="1" fill="hold" display="0" masterRel="sameClick" afterEffect="1">
                                          <p:stCondLst>
                                            <p:cond evt="end" delay="0">
                                              <p:tn val="82"/>
                                            </p:cond>
                                          </p:stCondLst>
                                        </p:cTn>
                                        <p:tgtEl>
                                          <p:spTgt spid="46"/>
                                        </p:tgtEl>
                                        <p:attrNameLst>
                                          <p:attrName>style.visibility</p:attrName>
                                        </p:attrNameLst>
                                      </p:cBhvr>
                                      <p:to>
                                        <p:strVal val="hidden"/>
                                      </p:to>
                                    </p:set>
                                  </p:subTnLst>
                                </p:cTn>
                              </p:par>
                            </p:childTnLst>
                          </p:cTn>
                        </p:par>
                        <p:par>
                          <p:cTn id="84" fill="hold">
                            <p:stCondLst>
                              <p:cond delay="28700"/>
                            </p:stCondLst>
                            <p:childTnLst>
                              <p:par>
                                <p:cTn id="85" presetID="10" presetClass="entr" presetSubtype="0" fill="hold" nodeType="after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idx="1"/>
          </p:nvPr>
        </p:nvSpPr>
        <p:spPr>
          <a:xfrm>
            <a:off x="623392" y="379370"/>
            <a:ext cx="4578350" cy="576262"/>
          </a:xfrm>
          <a:solidFill>
            <a:srgbClr val="009999"/>
          </a:solidFill>
        </p:spPr>
        <p:txBody>
          <a:bodyPr>
            <a:normAutofit/>
          </a:bodyPr>
          <a:lstStyle/>
          <a:p>
            <a:pPr marL="1249680" indent="-1249680" algn="just">
              <a:buNone/>
            </a:pPr>
            <a:r>
              <a:rPr lang="en-US" altLang="zh-CN" b="1" dirty="0">
                <a:solidFill>
                  <a:schemeClr val="bg1"/>
                </a:solidFill>
                <a:latin typeface="Times New Roman" panose="02020603050405020304" pitchFamily="18" charset="0"/>
                <a:ea typeface="微软雅黑" panose="020B0503020204020204" pitchFamily="34" charset="-122"/>
              </a:rPr>
              <a:t>2.2   </a:t>
            </a:r>
            <a:r>
              <a:rPr lang="zh-CN" altLang="en-US" b="1" dirty="0">
                <a:solidFill>
                  <a:schemeClr val="bg1"/>
                </a:solidFill>
                <a:latin typeface="Times New Roman" panose="02020603050405020304" pitchFamily="18" charset="0"/>
                <a:ea typeface="微软雅黑" panose="020B0503020204020204" pitchFamily="34" charset="-122"/>
              </a:rPr>
              <a:t>滴定分析法的类型</a:t>
            </a:r>
          </a:p>
        </p:txBody>
      </p:sp>
      <p:sp>
        <p:nvSpPr>
          <p:cNvPr id="14340" name="文本框 1"/>
          <p:cNvSpPr txBox="1">
            <a:spLocks noChangeArrowheads="1"/>
          </p:cNvSpPr>
          <p:nvPr/>
        </p:nvSpPr>
        <p:spPr bwMode="auto">
          <a:xfrm>
            <a:off x="2433421" y="5874379"/>
            <a:ext cx="792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zh-CN" altLang="en-US" sz="2400" b="0" dirty="0">
                <a:latin typeface="微软雅黑" panose="020B0503020204020204" pitchFamily="34" charset="-122"/>
                <a:ea typeface="微软雅黑" panose="020B0503020204020204" pitchFamily="34" charset="-122"/>
              </a:rPr>
              <a:t>以</a:t>
            </a:r>
            <a:r>
              <a:rPr lang="zh-CN" altLang="en-US" sz="2400" dirty="0">
                <a:solidFill>
                  <a:srgbClr val="C00000"/>
                </a:solidFill>
                <a:latin typeface="微软雅黑" panose="020B0503020204020204" pitchFamily="34" charset="-122"/>
                <a:ea typeface="微软雅黑" panose="020B0503020204020204" pitchFamily="34" charset="-122"/>
              </a:rPr>
              <a:t>沉淀反应</a:t>
            </a:r>
            <a:r>
              <a:rPr lang="zh-CN" altLang="en-US" sz="2400" b="0" dirty="0">
                <a:latin typeface="微软雅黑" panose="020B0503020204020204" pitchFamily="34" charset="-122"/>
                <a:ea typeface="微软雅黑" panose="020B0503020204020204" pitchFamily="34" charset="-122"/>
              </a:rPr>
              <a:t>为基础，银量法</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用于测定卤素和银的含量</a:t>
            </a:r>
          </a:p>
        </p:txBody>
      </p:sp>
      <p:sp>
        <p:nvSpPr>
          <p:cNvPr id="14341" name="矩形 2"/>
          <p:cNvSpPr>
            <a:spLocks noChangeArrowheads="1"/>
          </p:cNvSpPr>
          <p:nvPr/>
        </p:nvSpPr>
        <p:spPr bwMode="auto">
          <a:xfrm>
            <a:off x="1900021" y="1203954"/>
            <a:ext cx="1731564" cy="461665"/>
          </a:xfrm>
          <a:prstGeom prst="rect">
            <a:avLst/>
          </a:prstGeom>
          <a:solidFill>
            <a:schemeClr val="bg1"/>
          </a:solidFill>
          <a:ln>
            <a:noFill/>
          </a:ln>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zh-CN" altLang="en-US" sz="2400" dirty="0">
                <a:solidFill>
                  <a:srgbClr val="C00000"/>
                </a:solidFill>
                <a:latin typeface="微软雅黑" panose="020B0503020204020204" pitchFamily="34" charset="-122"/>
                <a:ea typeface="微软雅黑" panose="020B0503020204020204" pitchFamily="34" charset="-122"/>
              </a:rPr>
              <a:t>酸碱滴定法</a:t>
            </a:r>
            <a:endParaRPr lang="en-US" altLang="zh-CN" sz="2400" dirty="0"/>
          </a:p>
        </p:txBody>
      </p:sp>
      <p:sp>
        <p:nvSpPr>
          <p:cNvPr id="14342" name="矩形 3"/>
          <p:cNvSpPr>
            <a:spLocks noChangeArrowheads="1"/>
          </p:cNvSpPr>
          <p:nvPr/>
        </p:nvSpPr>
        <p:spPr bwMode="auto">
          <a:xfrm>
            <a:off x="1895798" y="2614528"/>
            <a:ext cx="1731564" cy="461665"/>
          </a:xfrm>
          <a:prstGeom prst="rect">
            <a:avLst/>
          </a:prstGeom>
          <a:solidFill>
            <a:schemeClr val="bg1"/>
          </a:solidFill>
          <a:ln>
            <a:noFill/>
          </a:ln>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zh-CN" altLang="en-US" sz="2400" dirty="0">
                <a:solidFill>
                  <a:srgbClr val="C00000"/>
                </a:solidFill>
                <a:latin typeface="微软雅黑" panose="020B0503020204020204" pitchFamily="34" charset="-122"/>
                <a:ea typeface="微软雅黑" panose="020B0503020204020204" pitchFamily="34" charset="-122"/>
              </a:rPr>
              <a:t>配位滴定法</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
        <p:nvSpPr>
          <p:cNvPr id="14345" name="矩形 6"/>
          <p:cNvSpPr>
            <a:spLocks noChangeArrowheads="1"/>
          </p:cNvSpPr>
          <p:nvPr/>
        </p:nvSpPr>
        <p:spPr bwMode="auto">
          <a:xfrm>
            <a:off x="2433421" y="1813554"/>
            <a:ext cx="792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zh-CN" altLang="en-US" sz="2400" b="0" dirty="0">
                <a:latin typeface="微软雅黑" panose="020B0503020204020204" pitchFamily="34" charset="-122"/>
                <a:ea typeface="微软雅黑" panose="020B0503020204020204" pitchFamily="34" charset="-122"/>
              </a:rPr>
              <a:t>以</a:t>
            </a:r>
            <a:r>
              <a:rPr lang="zh-CN" altLang="en-US" sz="2400" dirty="0">
                <a:solidFill>
                  <a:srgbClr val="C00000"/>
                </a:solidFill>
                <a:latin typeface="微软雅黑" panose="020B0503020204020204" pitchFamily="34" charset="-122"/>
                <a:ea typeface="微软雅黑" panose="020B0503020204020204" pitchFamily="34" charset="-122"/>
              </a:rPr>
              <a:t>质子传递</a:t>
            </a:r>
            <a:r>
              <a:rPr lang="zh-CN" altLang="en-US" sz="2400" b="0" dirty="0">
                <a:latin typeface="微软雅黑" panose="020B0503020204020204" pitchFamily="34" charset="-122"/>
                <a:ea typeface="微软雅黑" panose="020B0503020204020204" pitchFamily="34" charset="-122"/>
              </a:rPr>
              <a:t>反应为基础，测定酸碱的酸碱度和酸碱的含量</a:t>
            </a:r>
          </a:p>
        </p:txBody>
      </p:sp>
      <p:sp>
        <p:nvSpPr>
          <p:cNvPr id="14346" name="矩形 7"/>
          <p:cNvSpPr>
            <a:spLocks noChangeArrowheads="1"/>
          </p:cNvSpPr>
          <p:nvPr/>
        </p:nvSpPr>
        <p:spPr bwMode="auto">
          <a:xfrm>
            <a:off x="2547721" y="3201946"/>
            <a:ext cx="7543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zh-CN" altLang="en-US" sz="2400" b="0" dirty="0">
                <a:latin typeface="微软雅黑" panose="020B0503020204020204" pitchFamily="34" charset="-122"/>
                <a:ea typeface="微软雅黑" panose="020B0503020204020204" pitchFamily="34" charset="-122"/>
              </a:rPr>
              <a:t>以</a:t>
            </a:r>
            <a:r>
              <a:rPr lang="zh-CN" altLang="en-US" sz="2400" dirty="0">
                <a:solidFill>
                  <a:srgbClr val="C00000"/>
                </a:solidFill>
                <a:latin typeface="微软雅黑" panose="020B0503020204020204" pitchFamily="34" charset="-122"/>
                <a:ea typeface="微软雅黑" panose="020B0503020204020204" pitchFamily="34" charset="-122"/>
              </a:rPr>
              <a:t>配位反应</a:t>
            </a:r>
            <a:r>
              <a:rPr lang="zh-CN" altLang="en-US" sz="2400" b="0" dirty="0">
                <a:latin typeface="微软雅黑" panose="020B0503020204020204" pitchFamily="34" charset="-122"/>
                <a:ea typeface="微软雅黑" panose="020B0503020204020204" pitchFamily="34" charset="-122"/>
              </a:rPr>
              <a:t>为基础，测定金属离子的含量</a:t>
            </a:r>
          </a:p>
        </p:txBody>
      </p:sp>
      <p:sp>
        <p:nvSpPr>
          <p:cNvPr id="14347" name="矩形 8"/>
          <p:cNvSpPr>
            <a:spLocks noChangeArrowheads="1"/>
          </p:cNvSpPr>
          <p:nvPr/>
        </p:nvSpPr>
        <p:spPr bwMode="auto">
          <a:xfrm>
            <a:off x="2433421" y="4488492"/>
            <a:ext cx="7772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zh-CN" altLang="en-US" sz="2400" b="0" dirty="0">
                <a:latin typeface="微软雅黑" panose="020B0503020204020204" pitchFamily="34" charset="-122"/>
                <a:ea typeface="微软雅黑" panose="020B0503020204020204" pitchFamily="34" charset="-122"/>
              </a:rPr>
              <a:t>以</a:t>
            </a:r>
            <a:r>
              <a:rPr lang="zh-CN" altLang="en-US" sz="2400" dirty="0">
                <a:solidFill>
                  <a:srgbClr val="C00000"/>
                </a:solidFill>
                <a:latin typeface="微软雅黑" panose="020B0503020204020204" pitchFamily="34" charset="-122"/>
                <a:ea typeface="微软雅黑" panose="020B0503020204020204" pitchFamily="34" charset="-122"/>
              </a:rPr>
              <a:t>氧化还原反应</a:t>
            </a:r>
            <a:r>
              <a:rPr lang="zh-CN" altLang="en-US" sz="2400" b="0" dirty="0">
                <a:latin typeface="微软雅黑" panose="020B0503020204020204" pitchFamily="34" charset="-122"/>
                <a:ea typeface="微软雅黑" panose="020B0503020204020204" pitchFamily="34" charset="-122"/>
              </a:rPr>
              <a:t>为基础，测定有氧化性或还原性的物质</a:t>
            </a:r>
          </a:p>
        </p:txBody>
      </p:sp>
      <p:sp>
        <p:nvSpPr>
          <p:cNvPr id="14" name="矩形 3"/>
          <p:cNvSpPr>
            <a:spLocks noChangeArrowheads="1"/>
          </p:cNvSpPr>
          <p:nvPr/>
        </p:nvSpPr>
        <p:spPr bwMode="auto">
          <a:xfrm>
            <a:off x="1895799" y="4026827"/>
            <a:ext cx="2350323" cy="461665"/>
          </a:xfrm>
          <a:prstGeom prst="rect">
            <a:avLst/>
          </a:prstGeom>
          <a:solidFill>
            <a:schemeClr val="bg1"/>
          </a:solidFill>
          <a:ln>
            <a:noFill/>
          </a:ln>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zh-CN" altLang="en-US" sz="2400" dirty="0">
                <a:solidFill>
                  <a:srgbClr val="C00000"/>
                </a:solidFill>
                <a:latin typeface="微软雅黑" panose="020B0503020204020204" pitchFamily="34" charset="-122"/>
                <a:ea typeface="微软雅黑" panose="020B0503020204020204" pitchFamily="34" charset="-122"/>
              </a:rPr>
              <a:t>氧化还原滴定法</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
        <p:nvSpPr>
          <p:cNvPr id="15" name="矩形 3"/>
          <p:cNvSpPr>
            <a:spLocks noChangeArrowheads="1"/>
          </p:cNvSpPr>
          <p:nvPr/>
        </p:nvSpPr>
        <p:spPr bwMode="auto">
          <a:xfrm>
            <a:off x="1900021" y="5169373"/>
            <a:ext cx="1731564" cy="461665"/>
          </a:xfrm>
          <a:prstGeom prst="rect">
            <a:avLst/>
          </a:prstGeom>
          <a:solidFill>
            <a:schemeClr val="bg1"/>
          </a:solidFill>
          <a:ln>
            <a:noFill/>
          </a:ln>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zh-CN" altLang="en-US" sz="2400" dirty="0">
                <a:solidFill>
                  <a:srgbClr val="C00000"/>
                </a:solidFill>
                <a:latin typeface="微软雅黑" panose="020B0503020204020204" pitchFamily="34" charset="-122"/>
                <a:ea typeface="微软雅黑" panose="020B0503020204020204" pitchFamily="34" charset="-122"/>
              </a:rPr>
              <a:t>沉淀滴定法</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5148"/>
    </mc:Choice>
    <mc:Fallback xmlns="">
      <p:transition spd="slow" advTm="551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Effect transition="in" filter="fade">
                                      <p:cBhvr>
                                        <p:cTn id="7" dur="1000"/>
                                        <p:tgtEl>
                                          <p:spTgt spid="14341"/>
                                        </p:tgtEl>
                                      </p:cBhvr>
                                    </p:animEffect>
                                    <p:anim calcmode="lin" valueType="num">
                                      <p:cBhvr>
                                        <p:cTn id="8" dur="1000" fill="hold"/>
                                        <p:tgtEl>
                                          <p:spTgt spid="14341"/>
                                        </p:tgtEl>
                                        <p:attrNameLst>
                                          <p:attrName>ppt_x</p:attrName>
                                        </p:attrNameLst>
                                      </p:cBhvr>
                                      <p:tavLst>
                                        <p:tav tm="0">
                                          <p:val>
                                            <p:strVal val="#ppt_x"/>
                                          </p:val>
                                        </p:tav>
                                        <p:tav tm="100000">
                                          <p:val>
                                            <p:strVal val="#ppt_x"/>
                                          </p:val>
                                        </p:tav>
                                      </p:tavLst>
                                    </p:anim>
                                    <p:anim calcmode="lin" valueType="num">
                                      <p:cBhvr>
                                        <p:cTn id="9" dur="1000" fill="hold"/>
                                        <p:tgtEl>
                                          <p:spTgt spid="1434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342"/>
                                        </p:tgtEl>
                                        <p:attrNameLst>
                                          <p:attrName>style.visibility</p:attrName>
                                        </p:attrNameLst>
                                      </p:cBhvr>
                                      <p:to>
                                        <p:strVal val="visible"/>
                                      </p:to>
                                    </p:set>
                                    <p:animEffect transition="in" filter="fade">
                                      <p:cBhvr>
                                        <p:cTn id="12" dur="1000"/>
                                        <p:tgtEl>
                                          <p:spTgt spid="14342"/>
                                        </p:tgtEl>
                                      </p:cBhvr>
                                    </p:animEffect>
                                    <p:anim calcmode="lin" valueType="num">
                                      <p:cBhvr>
                                        <p:cTn id="13" dur="1000" fill="hold"/>
                                        <p:tgtEl>
                                          <p:spTgt spid="14342"/>
                                        </p:tgtEl>
                                        <p:attrNameLst>
                                          <p:attrName>ppt_x</p:attrName>
                                        </p:attrNameLst>
                                      </p:cBhvr>
                                      <p:tavLst>
                                        <p:tav tm="0">
                                          <p:val>
                                            <p:strVal val="#ppt_x"/>
                                          </p:val>
                                        </p:tav>
                                        <p:tav tm="100000">
                                          <p:val>
                                            <p:strVal val="#ppt_x"/>
                                          </p:val>
                                        </p:tav>
                                      </p:tavLst>
                                    </p:anim>
                                    <p:anim calcmode="lin" valueType="num">
                                      <p:cBhvr>
                                        <p:cTn id="14" dur="1000" fill="hold"/>
                                        <p:tgtEl>
                                          <p:spTgt spid="1434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4345"/>
                                        </p:tgtEl>
                                        <p:attrNameLst>
                                          <p:attrName>style.visibility</p:attrName>
                                        </p:attrNameLst>
                                      </p:cBhvr>
                                      <p:to>
                                        <p:strVal val="visible"/>
                                      </p:to>
                                    </p:set>
                                    <p:animEffect transition="in" filter="fade">
                                      <p:cBhvr>
                                        <p:cTn id="29" dur="1000"/>
                                        <p:tgtEl>
                                          <p:spTgt spid="14345"/>
                                        </p:tgtEl>
                                      </p:cBhvr>
                                    </p:animEffect>
                                    <p:anim calcmode="lin" valueType="num">
                                      <p:cBhvr>
                                        <p:cTn id="30" dur="1000" fill="hold"/>
                                        <p:tgtEl>
                                          <p:spTgt spid="14345"/>
                                        </p:tgtEl>
                                        <p:attrNameLst>
                                          <p:attrName>ppt_x</p:attrName>
                                        </p:attrNameLst>
                                      </p:cBhvr>
                                      <p:tavLst>
                                        <p:tav tm="0">
                                          <p:val>
                                            <p:strVal val="#ppt_x"/>
                                          </p:val>
                                        </p:tav>
                                        <p:tav tm="100000">
                                          <p:val>
                                            <p:strVal val="#ppt_x"/>
                                          </p:val>
                                        </p:tav>
                                      </p:tavLst>
                                    </p:anim>
                                    <p:anim calcmode="lin" valueType="num">
                                      <p:cBhvr>
                                        <p:cTn id="31" dur="1000" fill="hold"/>
                                        <p:tgtEl>
                                          <p:spTgt spid="1434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4346"/>
                                        </p:tgtEl>
                                        <p:attrNameLst>
                                          <p:attrName>style.visibility</p:attrName>
                                        </p:attrNameLst>
                                      </p:cBhvr>
                                      <p:to>
                                        <p:strVal val="visible"/>
                                      </p:to>
                                    </p:set>
                                    <p:animEffect transition="in" filter="fade">
                                      <p:cBhvr>
                                        <p:cTn id="36" dur="1000"/>
                                        <p:tgtEl>
                                          <p:spTgt spid="14346"/>
                                        </p:tgtEl>
                                      </p:cBhvr>
                                    </p:animEffect>
                                    <p:anim calcmode="lin" valueType="num">
                                      <p:cBhvr>
                                        <p:cTn id="37" dur="1000" fill="hold"/>
                                        <p:tgtEl>
                                          <p:spTgt spid="14346"/>
                                        </p:tgtEl>
                                        <p:attrNameLst>
                                          <p:attrName>ppt_x</p:attrName>
                                        </p:attrNameLst>
                                      </p:cBhvr>
                                      <p:tavLst>
                                        <p:tav tm="0">
                                          <p:val>
                                            <p:strVal val="#ppt_x"/>
                                          </p:val>
                                        </p:tav>
                                        <p:tav tm="100000">
                                          <p:val>
                                            <p:strVal val="#ppt_x"/>
                                          </p:val>
                                        </p:tav>
                                      </p:tavLst>
                                    </p:anim>
                                    <p:anim calcmode="lin" valueType="num">
                                      <p:cBhvr>
                                        <p:cTn id="38" dur="1000" fill="hold"/>
                                        <p:tgtEl>
                                          <p:spTgt spid="1434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4347"/>
                                        </p:tgtEl>
                                        <p:attrNameLst>
                                          <p:attrName>style.visibility</p:attrName>
                                        </p:attrNameLst>
                                      </p:cBhvr>
                                      <p:to>
                                        <p:strVal val="visible"/>
                                      </p:to>
                                    </p:set>
                                    <p:animEffect transition="in" filter="fade">
                                      <p:cBhvr>
                                        <p:cTn id="43" dur="1000"/>
                                        <p:tgtEl>
                                          <p:spTgt spid="14347"/>
                                        </p:tgtEl>
                                      </p:cBhvr>
                                    </p:animEffect>
                                    <p:anim calcmode="lin" valueType="num">
                                      <p:cBhvr>
                                        <p:cTn id="44" dur="1000" fill="hold"/>
                                        <p:tgtEl>
                                          <p:spTgt spid="14347"/>
                                        </p:tgtEl>
                                        <p:attrNameLst>
                                          <p:attrName>ppt_x</p:attrName>
                                        </p:attrNameLst>
                                      </p:cBhvr>
                                      <p:tavLst>
                                        <p:tav tm="0">
                                          <p:val>
                                            <p:strVal val="#ppt_x"/>
                                          </p:val>
                                        </p:tav>
                                        <p:tav tm="100000">
                                          <p:val>
                                            <p:strVal val="#ppt_x"/>
                                          </p:val>
                                        </p:tav>
                                      </p:tavLst>
                                    </p:anim>
                                    <p:anim calcmode="lin" valueType="num">
                                      <p:cBhvr>
                                        <p:cTn id="45" dur="1000" fill="hold"/>
                                        <p:tgtEl>
                                          <p:spTgt spid="14347"/>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4340"/>
                                        </p:tgtEl>
                                        <p:attrNameLst>
                                          <p:attrName>style.visibility</p:attrName>
                                        </p:attrNameLst>
                                      </p:cBhvr>
                                      <p:to>
                                        <p:strVal val="visible"/>
                                      </p:to>
                                    </p:set>
                                    <p:animEffect transition="in" filter="fade">
                                      <p:cBhvr>
                                        <p:cTn id="50" dur="1000"/>
                                        <p:tgtEl>
                                          <p:spTgt spid="14340"/>
                                        </p:tgtEl>
                                      </p:cBhvr>
                                    </p:animEffect>
                                    <p:anim calcmode="lin" valueType="num">
                                      <p:cBhvr>
                                        <p:cTn id="51" dur="1000" fill="hold"/>
                                        <p:tgtEl>
                                          <p:spTgt spid="14340"/>
                                        </p:tgtEl>
                                        <p:attrNameLst>
                                          <p:attrName>ppt_x</p:attrName>
                                        </p:attrNameLst>
                                      </p:cBhvr>
                                      <p:tavLst>
                                        <p:tav tm="0">
                                          <p:val>
                                            <p:strVal val="#ppt_x"/>
                                          </p:val>
                                        </p:tav>
                                        <p:tav tm="100000">
                                          <p:val>
                                            <p:strVal val="#ppt_x"/>
                                          </p:val>
                                        </p:tav>
                                      </p:tavLst>
                                    </p:anim>
                                    <p:anim calcmode="lin" valueType="num">
                                      <p:cBhvr>
                                        <p:cTn id="52" dur="1000" fill="hold"/>
                                        <p:tgtEl>
                                          <p:spTgt spid="143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P spid="14341" grpId="0" animBg="1"/>
      <p:bldP spid="14342" grpId="0" animBg="1"/>
      <p:bldP spid="14345" grpId="0"/>
      <p:bldP spid="14346" grpId="0"/>
      <p:bldP spid="14347" grpId="0"/>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idx="1"/>
          </p:nvPr>
        </p:nvSpPr>
        <p:spPr>
          <a:xfrm>
            <a:off x="1055440" y="1406114"/>
            <a:ext cx="9865096" cy="1656185"/>
          </a:xfrm>
          <a:noFill/>
        </p:spPr>
        <p:txBody>
          <a:bodyPr>
            <a:noAutofit/>
          </a:bodyPr>
          <a:lstStyle/>
          <a:p>
            <a:pPr marL="92075" indent="0" algn="just">
              <a:lnSpc>
                <a:spcPct val="150000"/>
              </a:lnSpc>
              <a:spcBef>
                <a:spcPts val="2400"/>
              </a:spcBef>
              <a:buClr>
                <a:schemeClr val="tx1"/>
              </a:buClr>
              <a:buNone/>
            </a:pPr>
            <a:r>
              <a:rPr lang="en-US" altLang="zh-CN" sz="2800" b="1" dirty="0">
                <a:latin typeface="Times New Roman" panose="02020603050405020304" pitchFamily="18" charset="0"/>
                <a:ea typeface="微软雅黑" panose="020B0503020204020204" pitchFamily="34" charset="-122"/>
              </a:rPr>
              <a:t>1.   </a:t>
            </a:r>
            <a:r>
              <a:rPr lang="zh-CN" altLang="en-US" sz="2800" b="1" dirty="0">
                <a:latin typeface="Times New Roman" panose="02020603050405020304" pitchFamily="18" charset="0"/>
                <a:ea typeface="微软雅黑" panose="020B0503020204020204" pitchFamily="34" charset="-122"/>
              </a:rPr>
              <a:t>反应必须具有确定的化学计量关系，即反应按一定的化学反应方程式进行，无副反应，且反应进行完全 （</a:t>
            </a:r>
            <a:r>
              <a:rPr lang="en-US" altLang="zh-CN" sz="2800" b="1" dirty="0">
                <a:latin typeface="Times New Roman" panose="02020603050405020304" pitchFamily="18" charset="0"/>
                <a:ea typeface="微软雅黑" panose="020B0503020204020204" pitchFamily="34" charset="-122"/>
              </a:rPr>
              <a:t>&gt; 99.9%</a:t>
            </a:r>
            <a:r>
              <a:rPr lang="zh-CN" altLang="en-US" sz="2800" b="1" dirty="0">
                <a:latin typeface="Times New Roman" panose="02020603050405020304" pitchFamily="18" charset="0"/>
                <a:ea typeface="微软雅黑" panose="020B0503020204020204" pitchFamily="34" charset="-122"/>
              </a:rPr>
              <a:t>）。</a:t>
            </a:r>
          </a:p>
          <a:p>
            <a:pPr marL="92075" indent="0" algn="just">
              <a:lnSpc>
                <a:spcPct val="130000"/>
              </a:lnSpc>
              <a:spcBef>
                <a:spcPts val="2400"/>
              </a:spcBef>
              <a:buClr>
                <a:schemeClr val="tx1"/>
              </a:buClr>
              <a:buNone/>
            </a:pPr>
            <a:endParaRPr lang="en-US" altLang="zh-CN" sz="2800" b="1" dirty="0">
              <a:solidFill>
                <a:srgbClr val="C00000"/>
              </a:solidFill>
              <a:latin typeface="Times New Roman" panose="02020603050405020304" pitchFamily="18" charset="0"/>
              <a:ea typeface="微软雅黑" panose="020B0503020204020204" pitchFamily="34" charset="-122"/>
            </a:endParaRPr>
          </a:p>
          <a:p>
            <a:pPr marL="92075" indent="0" algn="just">
              <a:lnSpc>
                <a:spcPct val="130000"/>
              </a:lnSpc>
              <a:spcBef>
                <a:spcPts val="2400"/>
              </a:spcBef>
              <a:buClr>
                <a:schemeClr val="tx1"/>
              </a:buClr>
              <a:buNone/>
            </a:pPr>
            <a:r>
              <a:rPr lang="en-US" altLang="zh-CN" sz="2800" b="1" dirty="0">
                <a:solidFill>
                  <a:srgbClr val="C00000"/>
                </a:solidFill>
                <a:latin typeface="Times New Roman" panose="02020603050405020304" pitchFamily="18" charset="0"/>
                <a:ea typeface="微软雅黑" panose="020B0503020204020204" pitchFamily="34" charset="-122"/>
              </a:rPr>
              <a:t>       </a:t>
            </a:r>
            <a:endParaRPr lang="zh-CN" altLang="en-US" sz="2800" b="1" dirty="0">
              <a:solidFill>
                <a:srgbClr val="C00000"/>
              </a:solidFill>
              <a:latin typeface="Times New Roman" panose="02020603050405020304" pitchFamily="18" charset="0"/>
              <a:ea typeface="微软雅黑" panose="020B0503020204020204" pitchFamily="34" charset="-122"/>
            </a:endParaRPr>
          </a:p>
        </p:txBody>
      </p:sp>
      <p:sp>
        <p:nvSpPr>
          <p:cNvPr id="15364" name="Rectangle 3"/>
          <p:cNvSpPr>
            <a:spLocks noChangeArrowheads="1"/>
          </p:cNvSpPr>
          <p:nvPr/>
        </p:nvSpPr>
        <p:spPr bwMode="auto">
          <a:xfrm>
            <a:off x="536476" y="547287"/>
            <a:ext cx="5410200" cy="492125"/>
          </a:xfrm>
          <a:prstGeom prst="rect">
            <a:avLst/>
          </a:prstGeom>
          <a:solidFill>
            <a:srgbClr val="009999"/>
          </a:solidFill>
          <a:ln>
            <a:noFill/>
          </a:ln>
        </p:spPr>
        <p:txBody>
          <a:bodyPr tIns="0" bIns="0">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eaLnBrk="1" hangingPunct="1">
              <a:spcBef>
                <a:spcPct val="50000"/>
              </a:spcBef>
            </a:pPr>
            <a:r>
              <a:rPr lang="en-US" altLang="zh-CN" sz="3200" dirty="0">
                <a:solidFill>
                  <a:schemeClr val="bg1"/>
                </a:solidFill>
                <a:latin typeface="Times New Roman" panose="02020603050405020304" pitchFamily="18" charset="0"/>
                <a:ea typeface="微软雅黑" panose="020B0503020204020204" pitchFamily="34" charset="-122"/>
              </a:rPr>
              <a:t>2.3   </a:t>
            </a:r>
            <a:r>
              <a:rPr lang="zh-CN" altLang="en-US" sz="3200" dirty="0">
                <a:solidFill>
                  <a:schemeClr val="bg1"/>
                </a:solidFill>
                <a:latin typeface="Times New Roman" panose="02020603050405020304" pitchFamily="18" charset="0"/>
                <a:ea typeface="微软雅黑" panose="020B0503020204020204" pitchFamily="34" charset="-122"/>
              </a:rPr>
              <a:t>滴定分析对反应的要求</a:t>
            </a:r>
          </a:p>
        </p:txBody>
      </p:sp>
      <p:sp>
        <p:nvSpPr>
          <p:cNvPr id="2" name="矩形 1"/>
          <p:cNvSpPr/>
          <p:nvPr/>
        </p:nvSpPr>
        <p:spPr>
          <a:xfrm>
            <a:off x="1100287" y="3046349"/>
            <a:ext cx="4572000" cy="592213"/>
          </a:xfrm>
          <a:prstGeom prst="rect">
            <a:avLst/>
          </a:prstGeom>
        </p:spPr>
        <p:txBody>
          <a:bodyPr>
            <a:spAutoFit/>
          </a:bodyPr>
          <a:lstStyle/>
          <a:p>
            <a:pPr marL="92075" algn="just" fontAlgn="auto">
              <a:lnSpc>
                <a:spcPct val="130000"/>
              </a:lnSpc>
              <a:spcBef>
                <a:spcPts val="2400"/>
              </a:spcBef>
              <a:spcAft>
                <a:spcPts val="0"/>
              </a:spcAft>
              <a:buClr>
                <a:prstClr val="black"/>
              </a:buClr>
            </a:pPr>
            <a:r>
              <a:rPr lang="en-US" altLang="zh-CN" sz="2800" b="1" dirty="0">
                <a:latin typeface="Times New Roman" panose="02020603050405020304" pitchFamily="18" charset="0"/>
                <a:ea typeface="微软雅黑" panose="020B0503020204020204" pitchFamily="34" charset="-122"/>
              </a:rPr>
              <a:t>2. </a:t>
            </a:r>
            <a:r>
              <a:rPr lang="zh-CN" altLang="en-US" sz="2800" b="1" dirty="0">
                <a:latin typeface="Times New Roman" panose="02020603050405020304" pitchFamily="18" charset="0"/>
                <a:ea typeface="微软雅黑" panose="020B0503020204020204" pitchFamily="34" charset="-122"/>
              </a:rPr>
              <a:t>反应速率快</a:t>
            </a:r>
          </a:p>
        </p:txBody>
      </p:sp>
      <p:sp>
        <p:nvSpPr>
          <p:cNvPr id="3" name="矩形 2"/>
          <p:cNvSpPr/>
          <p:nvPr/>
        </p:nvSpPr>
        <p:spPr>
          <a:xfrm>
            <a:off x="1100287" y="4091849"/>
            <a:ext cx="7671330" cy="600229"/>
          </a:xfrm>
          <a:prstGeom prst="rect">
            <a:avLst/>
          </a:prstGeom>
        </p:spPr>
        <p:txBody>
          <a:bodyPr wrap="square">
            <a:spAutoFit/>
          </a:bodyPr>
          <a:lstStyle/>
          <a:p>
            <a:pPr marL="92075" algn="just" fontAlgn="auto">
              <a:lnSpc>
                <a:spcPct val="130000"/>
              </a:lnSpc>
              <a:spcBef>
                <a:spcPts val="2400"/>
              </a:spcBef>
              <a:spcAft>
                <a:spcPts val="0"/>
              </a:spcAft>
              <a:buClr>
                <a:prstClr val="black"/>
              </a:buClr>
            </a:pPr>
            <a:r>
              <a:rPr lang="en-US" altLang="zh-CN" sz="2800" b="1" dirty="0">
                <a:latin typeface="Times New Roman" panose="02020603050405020304" pitchFamily="18" charset="0"/>
                <a:ea typeface="微软雅黑" panose="020B0503020204020204" pitchFamily="34" charset="-122"/>
              </a:rPr>
              <a:t>3. </a:t>
            </a:r>
            <a:r>
              <a:rPr lang="zh-CN" altLang="en-US" sz="2800" b="1" dirty="0">
                <a:latin typeface="Times New Roman" panose="02020603050405020304" pitchFamily="18" charset="0"/>
                <a:ea typeface="微软雅黑" panose="020B0503020204020204" pitchFamily="34" charset="-122"/>
              </a:rPr>
              <a:t>适当、简便的方法确定滴定终点（指示剂）</a:t>
            </a:r>
            <a:endParaRPr lang="zh-CN" altLang="en-US" sz="2800" b="1" dirty="0">
              <a:latin typeface="Calibri" panose="020F0502020204030204"/>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9909"/>
    </mc:Choice>
    <mc:Fallback xmlns="">
      <p:transition spd="slow" advTm="1099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1000"/>
                                        <p:tgtEl>
                                          <p:spTgt spid="15363">
                                            <p:txEl>
                                              <p:pRg st="0" end="0"/>
                                            </p:txEl>
                                          </p:spTgt>
                                        </p:tgtEl>
                                      </p:cBhvr>
                                    </p:animEffect>
                                    <p:anim calcmode="lin" valueType="num">
                                      <p:cBhvr>
                                        <p:cTn id="8" dur="10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3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idx="1"/>
          </p:nvPr>
        </p:nvSpPr>
        <p:spPr>
          <a:xfrm>
            <a:off x="968425" y="330074"/>
            <a:ext cx="3054350" cy="576263"/>
          </a:xfrm>
          <a:solidFill>
            <a:srgbClr val="009999"/>
          </a:solidFill>
        </p:spPr>
        <p:txBody>
          <a:bodyPr>
            <a:normAutofit/>
          </a:bodyPr>
          <a:lstStyle/>
          <a:p>
            <a:pPr marL="1249680" indent="-1249680" algn="just">
              <a:buNone/>
            </a:pPr>
            <a:r>
              <a:rPr lang="en-US" altLang="zh-CN" b="1" dirty="0">
                <a:solidFill>
                  <a:schemeClr val="bg1"/>
                </a:solidFill>
                <a:latin typeface="Times New Roman" panose="02020603050405020304" pitchFamily="18" charset="0"/>
                <a:ea typeface="微软雅黑" panose="020B0503020204020204" pitchFamily="34" charset="-122"/>
              </a:rPr>
              <a:t>2.4   </a:t>
            </a:r>
            <a:r>
              <a:rPr lang="zh-CN" altLang="en-US" b="1" dirty="0">
                <a:solidFill>
                  <a:schemeClr val="bg1"/>
                </a:solidFill>
                <a:latin typeface="Times New Roman" panose="02020603050405020304" pitchFamily="18" charset="0"/>
                <a:ea typeface="微软雅黑" panose="020B0503020204020204" pitchFamily="34" charset="-122"/>
              </a:rPr>
              <a:t>滴定方式</a:t>
            </a:r>
          </a:p>
        </p:txBody>
      </p:sp>
      <p:sp>
        <p:nvSpPr>
          <p:cNvPr id="1029" name="矩形 5"/>
          <p:cNvSpPr>
            <a:spLocks noChangeArrowheads="1"/>
          </p:cNvSpPr>
          <p:nvPr/>
        </p:nvSpPr>
        <p:spPr bwMode="auto">
          <a:xfrm>
            <a:off x="1890810" y="977244"/>
            <a:ext cx="2436813" cy="523875"/>
          </a:xfrm>
          <a:prstGeom prst="rect">
            <a:avLst/>
          </a:prstGeom>
          <a:solidFill>
            <a:schemeClr val="bg1"/>
          </a:solidFill>
          <a:ln>
            <a:noFill/>
          </a:ln>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en-US" altLang="zh-CN" sz="2800" dirty="0">
                <a:solidFill>
                  <a:srgbClr val="C00000"/>
                </a:solidFill>
                <a:latin typeface="Times New Roman" panose="02020603050405020304" pitchFamily="18" charset="0"/>
                <a:ea typeface="微软雅黑" panose="020B0503020204020204" pitchFamily="34" charset="-122"/>
              </a:rPr>
              <a:t>1.  </a:t>
            </a:r>
            <a:r>
              <a:rPr lang="zh-CN" altLang="en-US" sz="2800" dirty="0">
                <a:solidFill>
                  <a:srgbClr val="C00000"/>
                </a:solidFill>
                <a:latin typeface="Times New Roman" panose="02020603050405020304" pitchFamily="18" charset="0"/>
                <a:ea typeface="微软雅黑" panose="020B0503020204020204" pitchFamily="34" charset="-122"/>
              </a:rPr>
              <a:t>直接滴定法</a:t>
            </a:r>
            <a:endParaRPr lang="zh-CN" altLang="en-US" sz="2800" dirty="0">
              <a:solidFill>
                <a:srgbClr val="C00000"/>
              </a:solidFill>
            </a:endParaRPr>
          </a:p>
        </p:txBody>
      </p:sp>
      <p:graphicFrame>
        <p:nvGraphicFramePr>
          <p:cNvPr id="1026" name="对象 9"/>
          <p:cNvGraphicFramePr>
            <a:graphicFrameLocks noChangeAspect="1"/>
          </p:cNvGraphicFramePr>
          <p:nvPr/>
        </p:nvGraphicFramePr>
        <p:xfrm>
          <a:off x="3647729" y="3356993"/>
          <a:ext cx="3783013" cy="550863"/>
        </p:xfrm>
        <a:graphic>
          <a:graphicData uri="http://schemas.openxmlformats.org/presentationml/2006/ole">
            <mc:AlternateContent xmlns:mc="http://schemas.openxmlformats.org/markup-compatibility/2006">
              <mc:Choice xmlns:v="urn:schemas-microsoft-com:vml" Requires="v">
                <p:oleObj spid="_x0000_s230979" r:id="rId5" imgW="1638300" imgH="241300" progId="Equation.DSMT4">
                  <p:embed/>
                </p:oleObj>
              </mc:Choice>
              <mc:Fallback>
                <p:oleObj r:id="rId5" imgW="1638300" imgH="241300" progId="Equation.DSMT4">
                  <p:embed/>
                  <p:pic>
                    <p:nvPicPr>
                      <p:cNvPr id="0" name="图片 2309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7729" y="3356993"/>
                        <a:ext cx="3783013"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文本框 10"/>
          <p:cNvSpPr txBox="1"/>
          <p:nvPr/>
        </p:nvSpPr>
        <p:spPr>
          <a:xfrm>
            <a:off x="2352391" y="2151868"/>
            <a:ext cx="7785100" cy="1000980"/>
          </a:xfrm>
          <a:prstGeom prst="rect">
            <a:avLst/>
          </a:prstGeom>
          <a:noFill/>
        </p:spPr>
        <p:txBody>
          <a:bodyPr>
            <a:spAutoFit/>
          </a:bodyPr>
          <a:lstStyle/>
          <a:p>
            <a:pPr algn="just">
              <a:lnSpc>
                <a:spcPct val="130000"/>
              </a:lnSpc>
              <a:defRPr/>
            </a:pP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用已知浓度的</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NaOH</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溶液滴定食醋样品中醋酸的含量，</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30000"/>
              </a:lnSpc>
              <a:defRP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以酚酞为指示剂，终点为粉红色，滴定反应为：</a:t>
            </a:r>
          </a:p>
        </p:txBody>
      </p:sp>
      <p:sp>
        <p:nvSpPr>
          <p:cNvPr id="1031" name="Text Box 2"/>
          <p:cNvSpPr txBox="1">
            <a:spLocks noChangeArrowheads="1"/>
          </p:cNvSpPr>
          <p:nvPr/>
        </p:nvSpPr>
        <p:spPr bwMode="auto">
          <a:xfrm>
            <a:off x="2855640" y="4573545"/>
            <a:ext cx="8490396" cy="195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spcBef>
                <a:spcPct val="50000"/>
              </a:spcBef>
            </a:pPr>
            <a:r>
              <a:rPr lang="en-GB" altLang="en-GB" sz="2200" dirty="0">
                <a:latin typeface="Times New Roman" panose="02020603050405020304" pitchFamily="18" charset="0"/>
                <a:cs typeface="Times New Roman" panose="02020603050405020304" pitchFamily="18" charset="0"/>
              </a:rPr>
              <a:t>Zn </a:t>
            </a:r>
            <a:r>
              <a:rPr lang="en-GB" altLang="en-GB" sz="2200" baseline="30000" dirty="0">
                <a:latin typeface="Times New Roman" panose="02020603050405020304" pitchFamily="18" charset="0"/>
                <a:cs typeface="Times New Roman" panose="02020603050405020304" pitchFamily="18" charset="0"/>
              </a:rPr>
              <a:t>2+</a:t>
            </a:r>
            <a:r>
              <a:rPr lang="en-GB" altLang="en-GB" sz="2200" dirty="0">
                <a:latin typeface="Times New Roman" panose="02020603050405020304" pitchFamily="18" charset="0"/>
                <a:cs typeface="Times New Roman" panose="02020603050405020304" pitchFamily="18" charset="0"/>
              </a:rPr>
              <a:t>+ </a:t>
            </a:r>
            <a:r>
              <a:rPr lang="en-GB" altLang="en-GB" sz="2200" dirty="0">
                <a:solidFill>
                  <a:srgbClr val="0070C0"/>
                </a:solidFill>
                <a:latin typeface="Times New Roman" panose="02020603050405020304" pitchFamily="18" charset="0"/>
                <a:cs typeface="Times New Roman" panose="02020603050405020304" pitchFamily="18" charset="0"/>
              </a:rPr>
              <a:t>H</a:t>
            </a:r>
            <a:r>
              <a:rPr lang="en-GB" altLang="en-GB" sz="2200" baseline="-25000" dirty="0">
                <a:solidFill>
                  <a:srgbClr val="0070C0"/>
                </a:solidFill>
                <a:latin typeface="Times New Roman" panose="02020603050405020304" pitchFamily="18" charset="0"/>
                <a:cs typeface="Times New Roman" panose="02020603050405020304" pitchFamily="18" charset="0"/>
              </a:rPr>
              <a:t>2</a:t>
            </a:r>
            <a:r>
              <a:rPr lang="en-GB" altLang="en-GB" sz="2200" dirty="0">
                <a:solidFill>
                  <a:srgbClr val="0070C0"/>
                </a:solidFill>
                <a:latin typeface="Times New Roman" panose="02020603050405020304" pitchFamily="18" charset="0"/>
                <a:cs typeface="Times New Roman" panose="02020603050405020304" pitchFamily="18" charset="0"/>
              </a:rPr>
              <a:t>Y</a:t>
            </a:r>
            <a:r>
              <a:rPr lang="en-GB" altLang="en-GB" sz="2200" baseline="30000" dirty="0">
                <a:solidFill>
                  <a:srgbClr val="0070C0"/>
                </a:solidFill>
                <a:latin typeface="Times New Roman" panose="02020603050405020304" pitchFamily="18" charset="0"/>
                <a:cs typeface="Times New Roman" panose="02020603050405020304" pitchFamily="18" charset="0"/>
              </a:rPr>
              <a:t>2-</a:t>
            </a:r>
            <a:r>
              <a:rPr lang="en-GB" altLang="en-GB" sz="2200" dirty="0">
                <a:latin typeface="Times New Roman" panose="02020603050405020304" pitchFamily="18" charset="0"/>
                <a:cs typeface="Times New Roman" panose="02020603050405020304" pitchFamily="18" charset="0"/>
              </a:rPr>
              <a:t> = </a:t>
            </a:r>
            <a:r>
              <a:rPr lang="en-GB" altLang="en-GB" sz="2200" dirty="0" err="1">
                <a:latin typeface="Times New Roman" panose="02020603050405020304" pitchFamily="18" charset="0"/>
                <a:cs typeface="Times New Roman" panose="02020603050405020304" pitchFamily="18" charset="0"/>
              </a:rPr>
              <a:t>ZnY</a:t>
            </a:r>
            <a:r>
              <a:rPr lang="en-GB" altLang="en-GB" sz="2200" dirty="0">
                <a:latin typeface="Times New Roman" panose="02020603050405020304" pitchFamily="18" charset="0"/>
                <a:cs typeface="Times New Roman" panose="02020603050405020304" pitchFamily="18" charset="0"/>
              </a:rPr>
              <a:t> +2H</a:t>
            </a:r>
            <a:r>
              <a:rPr lang="en-GB" altLang="en-GB" sz="2200" baseline="300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（二甲酚橙 红</a:t>
            </a:r>
            <a:r>
              <a:rPr lang="zh-CN" altLang="en-US" sz="2200" dirty="0">
                <a:latin typeface="Times New Roman" panose="02020603050405020304"/>
                <a:cs typeface="Times New Roman" panose="02020603050405020304"/>
              </a:rPr>
              <a:t>→黄）</a:t>
            </a:r>
            <a:endParaRPr lang="en-US" altLang="zh-CN" sz="2200" dirty="0">
              <a:latin typeface="Times New Roman" panose="02020603050405020304"/>
              <a:cs typeface="Times New Roman" panose="02020603050405020304"/>
            </a:endParaRPr>
          </a:p>
          <a:p>
            <a:pPr>
              <a:spcBef>
                <a:spcPct val="50000"/>
              </a:spcBef>
            </a:pPr>
            <a:r>
              <a:rPr lang="en-GB" altLang="en-GB" sz="2200" dirty="0">
                <a:solidFill>
                  <a:srgbClr val="0070C0"/>
                </a:solidFill>
                <a:latin typeface="Times New Roman" panose="02020603050405020304" pitchFamily="18" charset="0"/>
                <a:cs typeface="Times New Roman" panose="02020603050405020304" pitchFamily="18" charset="0"/>
              </a:rPr>
              <a:t>Cr</a:t>
            </a:r>
            <a:r>
              <a:rPr lang="en-GB" altLang="en-GB" sz="2200" baseline="-25000" dirty="0">
                <a:solidFill>
                  <a:srgbClr val="0070C0"/>
                </a:solidFill>
                <a:latin typeface="Times New Roman" panose="02020603050405020304" pitchFamily="18" charset="0"/>
                <a:cs typeface="Times New Roman" panose="02020603050405020304" pitchFamily="18" charset="0"/>
              </a:rPr>
              <a:t>2</a:t>
            </a:r>
            <a:r>
              <a:rPr lang="en-GB" altLang="en-GB" sz="2200" dirty="0">
                <a:solidFill>
                  <a:srgbClr val="0070C0"/>
                </a:solidFill>
                <a:latin typeface="Times New Roman" panose="02020603050405020304" pitchFamily="18" charset="0"/>
                <a:cs typeface="Times New Roman" panose="02020603050405020304" pitchFamily="18" charset="0"/>
              </a:rPr>
              <a:t>O</a:t>
            </a:r>
            <a:r>
              <a:rPr lang="en-GB" altLang="en-GB" sz="2200" baseline="-25000" dirty="0">
                <a:solidFill>
                  <a:srgbClr val="0070C0"/>
                </a:solidFill>
                <a:latin typeface="Times New Roman" panose="02020603050405020304" pitchFamily="18" charset="0"/>
                <a:cs typeface="Times New Roman" panose="02020603050405020304" pitchFamily="18" charset="0"/>
              </a:rPr>
              <a:t>7</a:t>
            </a:r>
            <a:r>
              <a:rPr lang="en-GB" altLang="en-GB" sz="2200" dirty="0">
                <a:solidFill>
                  <a:srgbClr val="0070C0"/>
                </a:solidFill>
                <a:latin typeface="Times New Roman" panose="02020603050405020304" pitchFamily="18" charset="0"/>
                <a:cs typeface="Times New Roman" panose="02020603050405020304" pitchFamily="18" charset="0"/>
              </a:rPr>
              <a:t> </a:t>
            </a:r>
            <a:r>
              <a:rPr lang="en-GB" altLang="en-GB" sz="2200" baseline="30000" dirty="0">
                <a:solidFill>
                  <a:srgbClr val="0070C0"/>
                </a:solidFill>
                <a:latin typeface="Times New Roman" panose="02020603050405020304" pitchFamily="18" charset="0"/>
                <a:cs typeface="Times New Roman" panose="02020603050405020304" pitchFamily="18" charset="0"/>
              </a:rPr>
              <a:t>2-</a:t>
            </a:r>
            <a:r>
              <a:rPr lang="en-GB" altLang="en-GB" sz="2200" dirty="0">
                <a:solidFill>
                  <a:srgbClr val="0070C0"/>
                </a:solidFill>
                <a:latin typeface="Times New Roman" panose="02020603050405020304" pitchFamily="18" charset="0"/>
                <a:cs typeface="Times New Roman" panose="02020603050405020304" pitchFamily="18" charset="0"/>
              </a:rPr>
              <a:t> </a:t>
            </a:r>
            <a:r>
              <a:rPr lang="en-GB" altLang="en-GB" sz="2200" dirty="0">
                <a:latin typeface="Times New Roman" panose="02020603050405020304" pitchFamily="18" charset="0"/>
                <a:cs typeface="Times New Roman" panose="02020603050405020304" pitchFamily="18" charset="0"/>
              </a:rPr>
              <a:t>+6Fe</a:t>
            </a:r>
            <a:r>
              <a:rPr lang="en-GB" altLang="en-GB" sz="2200" baseline="30000" dirty="0">
                <a:latin typeface="Times New Roman" panose="02020603050405020304" pitchFamily="18" charset="0"/>
                <a:cs typeface="Times New Roman" panose="02020603050405020304" pitchFamily="18" charset="0"/>
              </a:rPr>
              <a:t>2+</a:t>
            </a:r>
            <a:r>
              <a:rPr lang="en-GB" altLang="en-GB" sz="2200" dirty="0">
                <a:latin typeface="Times New Roman" panose="02020603050405020304" pitchFamily="18" charset="0"/>
                <a:cs typeface="Times New Roman" panose="02020603050405020304" pitchFamily="18" charset="0"/>
              </a:rPr>
              <a:t> + 14 H</a:t>
            </a:r>
            <a:r>
              <a:rPr lang="en-GB" altLang="en-GB" sz="2200" baseline="30000" dirty="0">
                <a:latin typeface="Times New Roman" panose="02020603050405020304" pitchFamily="18" charset="0"/>
                <a:cs typeface="Times New Roman" panose="02020603050405020304" pitchFamily="18" charset="0"/>
              </a:rPr>
              <a:t>+</a:t>
            </a:r>
            <a:r>
              <a:rPr lang="en-GB" altLang="en-GB" sz="2200" dirty="0">
                <a:latin typeface="Times New Roman" panose="02020603050405020304" pitchFamily="18" charset="0"/>
                <a:cs typeface="Times New Roman" panose="02020603050405020304" pitchFamily="18" charset="0"/>
              </a:rPr>
              <a:t> =  2Cr </a:t>
            </a:r>
            <a:r>
              <a:rPr lang="en-GB" altLang="en-GB" sz="2200" baseline="30000" dirty="0">
                <a:latin typeface="Times New Roman" panose="02020603050405020304" pitchFamily="18" charset="0"/>
                <a:cs typeface="Times New Roman" panose="02020603050405020304" pitchFamily="18" charset="0"/>
              </a:rPr>
              <a:t>3+</a:t>
            </a:r>
            <a:r>
              <a:rPr lang="en-GB" altLang="en-GB" sz="2200" dirty="0">
                <a:latin typeface="Times New Roman" panose="02020603050405020304" pitchFamily="18" charset="0"/>
                <a:cs typeface="Times New Roman" panose="02020603050405020304" pitchFamily="18" charset="0"/>
              </a:rPr>
              <a:t> + 6Fe</a:t>
            </a:r>
            <a:r>
              <a:rPr lang="en-GB" altLang="en-GB" sz="2200" baseline="30000" dirty="0">
                <a:latin typeface="Times New Roman" panose="02020603050405020304" pitchFamily="18" charset="0"/>
                <a:cs typeface="Times New Roman" panose="02020603050405020304" pitchFamily="18" charset="0"/>
              </a:rPr>
              <a:t>3+</a:t>
            </a:r>
            <a:r>
              <a:rPr lang="en-GB" altLang="en-GB" sz="2200" dirty="0">
                <a:latin typeface="Times New Roman" panose="02020603050405020304" pitchFamily="18" charset="0"/>
                <a:cs typeface="Times New Roman" panose="02020603050405020304" pitchFamily="18" charset="0"/>
              </a:rPr>
              <a:t> + 7 H</a:t>
            </a:r>
            <a:r>
              <a:rPr lang="en-GB" altLang="en-GB" sz="2200" baseline="-25000" dirty="0">
                <a:latin typeface="Times New Roman" panose="02020603050405020304" pitchFamily="18" charset="0"/>
                <a:cs typeface="Times New Roman" panose="02020603050405020304" pitchFamily="18" charset="0"/>
              </a:rPr>
              <a:t>2</a:t>
            </a:r>
            <a:r>
              <a:rPr lang="en-GB" altLang="en-GB" sz="2200" dirty="0">
                <a:latin typeface="Times New Roman" panose="02020603050405020304" pitchFamily="18" charset="0"/>
                <a:cs typeface="Times New Roman" panose="02020603050405020304" pitchFamily="18" charset="0"/>
              </a:rPr>
              <a:t>O </a:t>
            </a:r>
          </a:p>
          <a:p>
            <a:pPr>
              <a:spcBef>
                <a:spcPct val="50000"/>
              </a:spcBef>
            </a:pPr>
            <a:r>
              <a:rPr lang="zh-CN" altLang="en-US" sz="2200" dirty="0">
                <a:latin typeface="Times New Roman" panose="02020603050405020304" pitchFamily="18" charset="0"/>
                <a:cs typeface="Times New Roman" panose="02020603050405020304" pitchFamily="18" charset="0"/>
              </a:rPr>
              <a:t>（二苯胺磺酸钠 紫红）</a:t>
            </a:r>
            <a:endParaRPr lang="en-GB" altLang="en-GB" sz="2200" dirty="0">
              <a:latin typeface="Times New Roman" panose="02020603050405020304" pitchFamily="18" charset="0"/>
              <a:cs typeface="Times New Roman" panose="02020603050405020304" pitchFamily="18" charset="0"/>
            </a:endParaRPr>
          </a:p>
          <a:p>
            <a:pPr>
              <a:spcBef>
                <a:spcPct val="50000"/>
              </a:spcBef>
            </a:pPr>
            <a:r>
              <a:rPr lang="en-GB" altLang="en-GB" sz="2200" dirty="0">
                <a:solidFill>
                  <a:srgbClr val="0070C0"/>
                </a:solidFill>
                <a:latin typeface="Times New Roman" panose="02020603050405020304" pitchFamily="18" charset="0"/>
                <a:cs typeface="Times New Roman" panose="02020603050405020304" pitchFamily="18" charset="0"/>
              </a:rPr>
              <a:t>Ag</a:t>
            </a:r>
            <a:r>
              <a:rPr lang="en-GB" altLang="en-GB" sz="2200" baseline="30000" dirty="0">
                <a:solidFill>
                  <a:srgbClr val="0070C0"/>
                </a:solidFill>
                <a:latin typeface="Times New Roman" panose="02020603050405020304" pitchFamily="18" charset="0"/>
                <a:cs typeface="Times New Roman" panose="02020603050405020304" pitchFamily="18" charset="0"/>
              </a:rPr>
              <a:t>+</a:t>
            </a:r>
            <a:r>
              <a:rPr lang="en-GB" altLang="en-GB" sz="2200" dirty="0">
                <a:solidFill>
                  <a:srgbClr val="0070C0"/>
                </a:solidFill>
                <a:latin typeface="Times New Roman" panose="02020603050405020304" pitchFamily="18" charset="0"/>
                <a:cs typeface="Times New Roman" panose="02020603050405020304" pitchFamily="18" charset="0"/>
              </a:rPr>
              <a:t> </a:t>
            </a:r>
            <a:r>
              <a:rPr lang="en-GB" altLang="en-GB" sz="2200" dirty="0">
                <a:latin typeface="Times New Roman" panose="02020603050405020304" pitchFamily="18" charset="0"/>
                <a:cs typeface="Times New Roman" panose="02020603050405020304" pitchFamily="18" charset="0"/>
              </a:rPr>
              <a:t>+ Cl </a:t>
            </a:r>
            <a:r>
              <a:rPr lang="en-GB" altLang="en-GB" sz="2200" baseline="30000" dirty="0">
                <a:latin typeface="Times New Roman" panose="02020603050405020304" pitchFamily="18" charset="0"/>
                <a:cs typeface="Times New Roman" panose="02020603050405020304" pitchFamily="18" charset="0"/>
              </a:rPr>
              <a:t>-</a:t>
            </a:r>
            <a:r>
              <a:rPr lang="en-GB" altLang="en-GB" sz="2200" dirty="0">
                <a:latin typeface="Times New Roman" panose="02020603050405020304" pitchFamily="18" charset="0"/>
                <a:cs typeface="Times New Roman" panose="02020603050405020304" pitchFamily="18" charset="0"/>
              </a:rPr>
              <a:t> = </a:t>
            </a:r>
            <a:r>
              <a:rPr lang="en-GB" altLang="en-GB" sz="2200" dirty="0" err="1">
                <a:latin typeface="Times New Roman" panose="02020603050405020304" pitchFamily="18" charset="0"/>
                <a:cs typeface="Times New Roman" panose="02020603050405020304" pitchFamily="18" charset="0"/>
              </a:rPr>
              <a:t>AgCl</a:t>
            </a:r>
            <a:r>
              <a:rPr lang="en-GB" altLang="en-GB" sz="2200" dirty="0">
                <a:latin typeface="Times New Roman" panose="02020603050405020304"/>
                <a:cs typeface="Times New Roman" panose="02020603050405020304"/>
              </a:rPr>
              <a:t>↓       ( </a:t>
            </a:r>
            <a:r>
              <a:rPr lang="en-US" altLang="zh-CN" sz="2200" dirty="0">
                <a:latin typeface="Times New Roman" panose="02020603050405020304"/>
                <a:cs typeface="Times New Roman" panose="02020603050405020304"/>
              </a:rPr>
              <a:t>K</a:t>
            </a:r>
            <a:r>
              <a:rPr lang="en-US" altLang="zh-CN" sz="2200" baseline="-25000" dirty="0">
                <a:latin typeface="Times New Roman" panose="02020603050405020304"/>
                <a:cs typeface="Times New Roman" panose="02020603050405020304"/>
              </a:rPr>
              <a:t>2</a:t>
            </a:r>
            <a:r>
              <a:rPr lang="en-US" altLang="zh-CN" sz="2200" dirty="0">
                <a:latin typeface="Times New Roman" panose="02020603050405020304"/>
                <a:cs typeface="Times New Roman" panose="02020603050405020304"/>
              </a:rPr>
              <a:t>CrO</a:t>
            </a:r>
            <a:r>
              <a:rPr lang="en-US" altLang="zh-CN" sz="2200" baseline="-25000" dirty="0">
                <a:latin typeface="Times New Roman" panose="02020603050405020304"/>
                <a:cs typeface="Times New Roman" panose="02020603050405020304"/>
              </a:rPr>
              <a:t>4  </a:t>
            </a:r>
            <a:r>
              <a:rPr lang="zh-CN" altLang="en-US" sz="2200" dirty="0">
                <a:latin typeface="Times New Roman" panose="02020603050405020304"/>
                <a:cs typeface="Times New Roman" panose="02020603050405020304"/>
              </a:rPr>
              <a:t>砖红色沉淀</a:t>
            </a:r>
            <a:r>
              <a:rPr lang="en-US" altLang="zh-CN" sz="2200" dirty="0">
                <a:latin typeface="Times New Roman" panose="02020603050405020304"/>
                <a:cs typeface="Times New Roman" panose="02020603050405020304"/>
              </a:rPr>
              <a:t>)</a:t>
            </a:r>
            <a:endParaRPr lang="en-US" altLang="zh-CN" sz="2200" baseline="-25000" dirty="0">
              <a:latin typeface="Times New Roman" panose="02020603050405020304" pitchFamily="18" charset="0"/>
              <a:cs typeface="Times New Roman" panose="02020603050405020304" pitchFamily="18" charset="0"/>
            </a:endParaRPr>
          </a:p>
        </p:txBody>
      </p:sp>
      <p:sp>
        <p:nvSpPr>
          <p:cNvPr id="1032" name="矩形 1"/>
          <p:cNvSpPr>
            <a:spLocks noChangeArrowheads="1"/>
          </p:cNvSpPr>
          <p:nvPr/>
        </p:nvSpPr>
        <p:spPr bwMode="auto">
          <a:xfrm>
            <a:off x="2281798" y="4005064"/>
            <a:ext cx="2031325" cy="52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lgn="just">
              <a:lnSpc>
                <a:spcPct val="130000"/>
              </a:lnSpc>
            </a:pPr>
            <a:r>
              <a:rPr lang="zh-CN" altLang="en-US" sz="2400" dirty="0">
                <a:cs typeface="Times New Roman" panose="02020603050405020304" pitchFamily="18" charset="0"/>
              </a:rPr>
              <a:t>其他反应如：</a:t>
            </a:r>
          </a:p>
        </p:txBody>
      </p:sp>
      <p:sp>
        <p:nvSpPr>
          <p:cNvPr id="2" name="矩形 1"/>
          <p:cNvSpPr/>
          <p:nvPr/>
        </p:nvSpPr>
        <p:spPr>
          <a:xfrm>
            <a:off x="2495600" y="1556793"/>
            <a:ext cx="5724644" cy="461665"/>
          </a:xfrm>
          <a:prstGeom prst="rect">
            <a:avLst/>
          </a:prstGeom>
        </p:spPr>
        <p:txBody>
          <a:bodyPr wrap="none">
            <a:spAutoFit/>
          </a:bodyPr>
          <a:lstStyle/>
          <a:p>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适用条件：同时满足滴定反应三点要求</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76241"/>
    </mc:Choice>
    <mc:Fallback xmlns="">
      <p:transition spd="slow" advTm="762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9"/>
                                        </p:tgtEl>
                                        <p:attrNameLst>
                                          <p:attrName>style.visibility</p:attrName>
                                        </p:attrNameLst>
                                      </p:cBhvr>
                                      <p:to>
                                        <p:strVal val="visible"/>
                                      </p:to>
                                    </p:set>
                                    <p:animEffect transition="in" filter="fade">
                                      <p:cBhvr>
                                        <p:cTn id="7" dur="1000"/>
                                        <p:tgtEl>
                                          <p:spTgt spid="1029"/>
                                        </p:tgtEl>
                                      </p:cBhvr>
                                    </p:animEffect>
                                    <p:anim calcmode="lin" valueType="num">
                                      <p:cBhvr>
                                        <p:cTn id="8" dur="1000" fill="hold"/>
                                        <p:tgtEl>
                                          <p:spTgt spid="1029"/>
                                        </p:tgtEl>
                                        <p:attrNameLst>
                                          <p:attrName>ppt_x</p:attrName>
                                        </p:attrNameLst>
                                      </p:cBhvr>
                                      <p:tavLst>
                                        <p:tav tm="0">
                                          <p:val>
                                            <p:strVal val="#ppt_x"/>
                                          </p:val>
                                        </p:tav>
                                        <p:tav tm="100000">
                                          <p:val>
                                            <p:strVal val="#ppt_x"/>
                                          </p:val>
                                        </p:tav>
                                      </p:tavLst>
                                    </p:anim>
                                    <p:anim calcmode="lin" valueType="num">
                                      <p:cBhvr>
                                        <p:cTn id="9" dur="1000" fill="hold"/>
                                        <p:tgtEl>
                                          <p:spTgt spid="10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26"/>
                                        </p:tgtEl>
                                        <p:attrNameLst>
                                          <p:attrName>style.visibility</p:attrName>
                                        </p:attrNameLst>
                                      </p:cBhvr>
                                      <p:to>
                                        <p:strVal val="visible"/>
                                      </p:to>
                                    </p:set>
                                    <p:animEffect transition="in" filter="fade">
                                      <p:cBhvr>
                                        <p:cTn id="28" dur="1000"/>
                                        <p:tgtEl>
                                          <p:spTgt spid="1026"/>
                                        </p:tgtEl>
                                      </p:cBhvr>
                                    </p:animEffect>
                                    <p:anim calcmode="lin" valueType="num">
                                      <p:cBhvr>
                                        <p:cTn id="29" dur="1000" fill="hold"/>
                                        <p:tgtEl>
                                          <p:spTgt spid="1026"/>
                                        </p:tgtEl>
                                        <p:attrNameLst>
                                          <p:attrName>ppt_x</p:attrName>
                                        </p:attrNameLst>
                                      </p:cBhvr>
                                      <p:tavLst>
                                        <p:tav tm="0">
                                          <p:val>
                                            <p:strVal val="#ppt_x"/>
                                          </p:val>
                                        </p:tav>
                                        <p:tav tm="100000">
                                          <p:val>
                                            <p:strVal val="#ppt_x"/>
                                          </p:val>
                                        </p:tav>
                                      </p:tavLst>
                                    </p:anim>
                                    <p:anim calcmode="lin" valueType="num">
                                      <p:cBhvr>
                                        <p:cTn id="30"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32"/>
                                        </p:tgtEl>
                                        <p:attrNameLst>
                                          <p:attrName>style.visibility</p:attrName>
                                        </p:attrNameLst>
                                      </p:cBhvr>
                                      <p:to>
                                        <p:strVal val="visible"/>
                                      </p:to>
                                    </p:set>
                                    <p:animEffect transition="in" filter="fade">
                                      <p:cBhvr>
                                        <p:cTn id="35" dur="1000"/>
                                        <p:tgtEl>
                                          <p:spTgt spid="1032"/>
                                        </p:tgtEl>
                                      </p:cBhvr>
                                    </p:animEffect>
                                    <p:anim calcmode="lin" valueType="num">
                                      <p:cBhvr>
                                        <p:cTn id="36" dur="1000" fill="hold"/>
                                        <p:tgtEl>
                                          <p:spTgt spid="1032"/>
                                        </p:tgtEl>
                                        <p:attrNameLst>
                                          <p:attrName>ppt_x</p:attrName>
                                        </p:attrNameLst>
                                      </p:cBhvr>
                                      <p:tavLst>
                                        <p:tav tm="0">
                                          <p:val>
                                            <p:strVal val="#ppt_x"/>
                                          </p:val>
                                        </p:tav>
                                        <p:tav tm="100000">
                                          <p:val>
                                            <p:strVal val="#ppt_x"/>
                                          </p:val>
                                        </p:tav>
                                      </p:tavLst>
                                    </p:anim>
                                    <p:anim calcmode="lin" valueType="num">
                                      <p:cBhvr>
                                        <p:cTn id="37" dur="1000" fill="hold"/>
                                        <p:tgtEl>
                                          <p:spTgt spid="103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31"/>
                                        </p:tgtEl>
                                        <p:attrNameLst>
                                          <p:attrName>style.visibility</p:attrName>
                                        </p:attrNameLst>
                                      </p:cBhvr>
                                      <p:to>
                                        <p:strVal val="visible"/>
                                      </p:to>
                                    </p:set>
                                    <p:animEffect transition="in" filter="fade">
                                      <p:cBhvr>
                                        <p:cTn id="42" dur="1000"/>
                                        <p:tgtEl>
                                          <p:spTgt spid="1031"/>
                                        </p:tgtEl>
                                      </p:cBhvr>
                                    </p:animEffect>
                                    <p:anim calcmode="lin" valueType="num">
                                      <p:cBhvr>
                                        <p:cTn id="43" dur="1000" fill="hold"/>
                                        <p:tgtEl>
                                          <p:spTgt spid="1031"/>
                                        </p:tgtEl>
                                        <p:attrNameLst>
                                          <p:attrName>ppt_x</p:attrName>
                                        </p:attrNameLst>
                                      </p:cBhvr>
                                      <p:tavLst>
                                        <p:tav tm="0">
                                          <p:val>
                                            <p:strVal val="#ppt_x"/>
                                          </p:val>
                                        </p:tav>
                                        <p:tav tm="100000">
                                          <p:val>
                                            <p:strVal val="#ppt_x"/>
                                          </p:val>
                                        </p:tav>
                                      </p:tavLst>
                                    </p:anim>
                                    <p:anim calcmode="lin" valueType="num">
                                      <p:cBhvr>
                                        <p:cTn id="44" dur="1000" fill="hold"/>
                                        <p:tgtEl>
                                          <p:spTgt spid="10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 grpId="0" animBg="1"/>
      <p:bldP spid="11" grpId="0"/>
      <p:bldP spid="1031" grpId="0"/>
      <p:bldP spid="1032"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2" name="矩形 1"/>
          <p:cNvSpPr>
            <a:spLocks noChangeArrowheads="1"/>
          </p:cNvSpPr>
          <p:nvPr/>
        </p:nvSpPr>
        <p:spPr bwMode="auto">
          <a:xfrm>
            <a:off x="1676400" y="133350"/>
            <a:ext cx="2076450" cy="522288"/>
          </a:xfrm>
          <a:prstGeom prst="rect">
            <a:avLst/>
          </a:prstGeom>
          <a:noFill/>
          <a:ln>
            <a:noFill/>
          </a:ln>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eaLnBrk="1" hangingPunct="1"/>
            <a:r>
              <a:rPr lang="en-US" altLang="zh-CN" sz="2800" dirty="0">
                <a:solidFill>
                  <a:srgbClr val="C00000"/>
                </a:solidFill>
                <a:latin typeface="Times New Roman" panose="02020603050405020304" pitchFamily="18" charset="0"/>
                <a:ea typeface="微软雅黑" panose="020B0503020204020204" pitchFamily="34" charset="-122"/>
              </a:rPr>
              <a:t>2.  </a:t>
            </a:r>
            <a:r>
              <a:rPr lang="zh-CN" altLang="en-US" sz="2800" dirty="0">
                <a:solidFill>
                  <a:srgbClr val="C00000"/>
                </a:solidFill>
                <a:latin typeface="Times New Roman" panose="02020603050405020304" pitchFamily="18" charset="0"/>
                <a:ea typeface="微软雅黑" panose="020B0503020204020204" pitchFamily="34" charset="-122"/>
              </a:rPr>
              <a:t>返滴定法</a:t>
            </a:r>
          </a:p>
        </p:txBody>
      </p:sp>
      <p:sp>
        <p:nvSpPr>
          <p:cNvPr id="12" name="矩形 11"/>
          <p:cNvSpPr/>
          <p:nvPr/>
        </p:nvSpPr>
        <p:spPr>
          <a:xfrm>
            <a:off x="2363788" y="920751"/>
            <a:ext cx="7999412" cy="461963"/>
          </a:xfrm>
          <a:prstGeom prst="rect">
            <a:avLst/>
          </a:prstGeom>
        </p:spPr>
        <p:txBody>
          <a:bodyPr>
            <a:spAutoFit/>
          </a:bodyPr>
          <a:lstStyle/>
          <a:p>
            <a:pPr>
              <a:defRPr/>
            </a:pPr>
            <a:r>
              <a:rPr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适用条件：</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反应速度慢或者样品为固体、气体时</a:t>
            </a:r>
            <a:endParaRPr lang="zh-CN" altLang="en-US" sz="2400" b="1" dirty="0">
              <a:latin typeface="微软雅黑" panose="020B0503020204020204" pitchFamily="34" charset="-122"/>
              <a:ea typeface="微软雅黑" panose="020B0503020204020204" pitchFamily="34" charset="-122"/>
            </a:endParaRPr>
          </a:p>
        </p:txBody>
      </p:sp>
      <p:sp>
        <p:nvSpPr>
          <p:cNvPr id="14" name="矩形 13"/>
          <p:cNvSpPr/>
          <p:nvPr/>
        </p:nvSpPr>
        <p:spPr>
          <a:xfrm>
            <a:off x="1072793" y="1984583"/>
            <a:ext cx="10727033" cy="1128579"/>
          </a:xfrm>
          <a:prstGeom prst="rect">
            <a:avLst/>
          </a:prstGeom>
        </p:spPr>
        <p:txBody>
          <a:bodyPr wrap="square">
            <a:spAutoFit/>
          </a:bodyPr>
          <a:lstStyle/>
          <a:p>
            <a:pPr>
              <a:lnSpc>
                <a:spcPct val="150000"/>
              </a:lnSpc>
            </a:pPr>
            <a:r>
              <a:rPr kumimoji="1" lang="zh-CN" altLang="zh-CN" sz="2400" b="1" dirty="0">
                <a:ea typeface="微软雅黑" panose="020B0503020204020204" pitchFamily="34" charset="-122"/>
              </a:rPr>
              <a:t>先准确加入</a:t>
            </a:r>
            <a:r>
              <a:rPr kumimoji="1" lang="zh-CN" altLang="zh-CN" sz="2400" b="1" dirty="0">
                <a:solidFill>
                  <a:srgbClr val="C00000"/>
                </a:solidFill>
                <a:ea typeface="微软雅黑" panose="020B0503020204020204" pitchFamily="34" charset="-122"/>
              </a:rPr>
              <a:t>过量</a:t>
            </a:r>
            <a:r>
              <a:rPr kumimoji="1" lang="zh-CN" altLang="zh-CN" sz="2400" b="1" dirty="0">
                <a:ea typeface="微软雅黑" panose="020B0503020204020204" pitchFamily="34" charset="-122"/>
              </a:rPr>
              <a:t>标准溶液，使</a:t>
            </a:r>
            <a:r>
              <a:rPr kumimoji="1" lang="zh-CN" altLang="en-US" sz="2400" b="1" dirty="0">
                <a:ea typeface="微软雅黑" panose="020B0503020204020204" pitchFamily="34" charset="-122"/>
              </a:rPr>
              <a:t>之</a:t>
            </a:r>
            <a:r>
              <a:rPr kumimoji="1" lang="zh-CN" altLang="zh-CN" sz="2400" b="1" dirty="0">
                <a:ea typeface="微软雅黑" panose="020B0503020204020204" pitchFamily="34" charset="-122"/>
              </a:rPr>
              <a:t>与</a:t>
            </a:r>
            <a:r>
              <a:rPr kumimoji="1" lang="zh-CN" altLang="en-US" sz="2400" b="1" dirty="0">
                <a:ea typeface="微软雅黑" panose="020B0503020204020204" pitchFamily="34" charset="-122"/>
              </a:rPr>
              <a:t>溶液</a:t>
            </a:r>
            <a:r>
              <a:rPr kumimoji="1" lang="zh-CN" altLang="zh-CN" sz="2400" b="1" dirty="0">
                <a:ea typeface="微软雅黑" panose="020B0503020204020204" pitchFamily="34" charset="-122"/>
              </a:rPr>
              <a:t>中的待测物质或固体</a:t>
            </a:r>
            <a:r>
              <a:rPr kumimoji="1" lang="zh-CN" altLang="en-US" sz="2400" b="1" dirty="0">
                <a:ea typeface="微软雅黑" panose="020B0503020204020204" pitchFamily="34" charset="-122"/>
              </a:rPr>
              <a:t>、气体</a:t>
            </a:r>
            <a:r>
              <a:rPr kumimoji="1" lang="zh-CN" altLang="zh-CN" sz="2400" b="1" dirty="0">
                <a:ea typeface="微软雅黑" panose="020B0503020204020204" pitchFamily="34" charset="-122"/>
              </a:rPr>
              <a:t>试样进行反应，待反应完成以后，再用另一种标准溶液滴定剩余的标准溶液的方法</a:t>
            </a:r>
          </a:p>
        </p:txBody>
      </p:sp>
      <p:grpSp>
        <p:nvGrpSpPr>
          <p:cNvPr id="6" name="组合 5">
            <a:extLst>
              <a:ext uri="{FF2B5EF4-FFF2-40B4-BE49-F238E27FC236}">
                <a16:creationId xmlns:a16="http://schemas.microsoft.com/office/drawing/2014/main" id="{B537338F-3D4A-47B3-A7D1-DE9585EFE59A}"/>
              </a:ext>
            </a:extLst>
          </p:cNvPr>
          <p:cNvGrpSpPr/>
          <p:nvPr/>
        </p:nvGrpSpPr>
        <p:grpSpPr>
          <a:xfrm>
            <a:off x="2423592" y="3428999"/>
            <a:ext cx="8282951" cy="2137579"/>
            <a:chOff x="2423592" y="3428999"/>
            <a:chExt cx="8282951" cy="2137579"/>
          </a:xfrm>
        </p:grpSpPr>
        <p:grpSp>
          <p:nvGrpSpPr>
            <p:cNvPr id="16" name="Group 7"/>
            <p:cNvGrpSpPr/>
            <p:nvPr/>
          </p:nvGrpSpPr>
          <p:grpSpPr bwMode="auto">
            <a:xfrm>
              <a:off x="8798665" y="4608054"/>
              <a:ext cx="1062038" cy="533400"/>
              <a:chOff x="3742" y="2568"/>
              <a:chExt cx="669" cy="336"/>
            </a:xfrm>
          </p:grpSpPr>
          <p:grpSp>
            <p:nvGrpSpPr>
              <p:cNvPr id="17" name="Group 8"/>
              <p:cNvGrpSpPr/>
              <p:nvPr/>
            </p:nvGrpSpPr>
            <p:grpSpPr bwMode="auto">
              <a:xfrm>
                <a:off x="3742" y="2568"/>
                <a:ext cx="576" cy="336"/>
                <a:chOff x="3515" y="2659"/>
                <a:chExt cx="576" cy="336"/>
              </a:xfrm>
            </p:grpSpPr>
            <p:sp>
              <p:nvSpPr>
                <p:cNvPr id="19" name="Line 9"/>
                <p:cNvSpPr>
                  <a:spLocks noChangeShapeType="1"/>
                </p:cNvSpPr>
                <p:nvPr/>
              </p:nvSpPr>
              <p:spPr bwMode="auto">
                <a:xfrm>
                  <a:off x="3515" y="2659"/>
                  <a:ext cx="0" cy="3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00"/>
                    </a:solidFill>
                  </a:endParaRPr>
                </a:p>
              </p:txBody>
            </p:sp>
            <p:sp>
              <p:nvSpPr>
                <p:cNvPr id="20" name="Line 10"/>
                <p:cNvSpPr>
                  <a:spLocks noChangeShapeType="1"/>
                </p:cNvSpPr>
                <p:nvPr/>
              </p:nvSpPr>
              <p:spPr bwMode="auto">
                <a:xfrm>
                  <a:off x="3515" y="2976"/>
                  <a:ext cx="576"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00"/>
                    </a:solidFill>
                  </a:endParaRPr>
                </a:p>
              </p:txBody>
            </p:sp>
          </p:grpSp>
          <p:sp>
            <p:nvSpPr>
              <p:cNvPr id="18" name="Text Box 11"/>
              <p:cNvSpPr txBox="1">
                <a:spLocks noChangeArrowheads="1"/>
              </p:cNvSpPr>
              <p:nvPr/>
            </p:nvSpPr>
            <p:spPr bwMode="auto">
              <a:xfrm>
                <a:off x="3787" y="261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solidFill>
                      <a:srgbClr val="000000"/>
                    </a:solidFill>
                    <a:ea typeface="微软雅黑" panose="020B0503020204020204" pitchFamily="34" charset="-122"/>
                  </a:rPr>
                  <a:t>Zn</a:t>
                </a:r>
                <a:r>
                  <a:rPr kumimoji="1" lang="en-US" altLang="zh-CN" sz="2400" baseline="30000" dirty="0">
                    <a:solidFill>
                      <a:srgbClr val="000000"/>
                    </a:solidFill>
                    <a:ea typeface="微软雅黑" panose="020B0503020204020204" pitchFamily="34" charset="-122"/>
                  </a:rPr>
                  <a:t>2+</a:t>
                </a:r>
              </a:p>
            </p:txBody>
          </p:sp>
        </p:grpSp>
        <p:sp>
          <p:nvSpPr>
            <p:cNvPr id="21" name="Text Box 12"/>
            <p:cNvSpPr txBox="1">
              <a:spLocks noChangeArrowheads="1"/>
            </p:cNvSpPr>
            <p:nvPr/>
          </p:nvSpPr>
          <p:spPr bwMode="auto">
            <a:xfrm>
              <a:off x="9014863" y="5141723"/>
              <a:ext cx="16916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000" dirty="0">
                  <a:solidFill>
                    <a:srgbClr val="000000"/>
                  </a:solidFill>
                  <a:ea typeface="微软雅黑" panose="020B0503020204020204" pitchFamily="34" charset="-122"/>
                </a:rPr>
                <a:t>Zn—EDTA</a:t>
              </a:r>
            </a:p>
          </p:txBody>
        </p:sp>
        <p:graphicFrame>
          <p:nvGraphicFramePr>
            <p:cNvPr id="22" name="Object 13"/>
            <p:cNvGraphicFramePr>
              <a:graphicFrameLocks noChangeAspect="1"/>
            </p:cNvGraphicFramePr>
            <p:nvPr>
              <p:extLst>
                <p:ext uri="{D42A27DB-BD31-4B8C-83A1-F6EECF244321}">
                  <p14:modId xmlns:p14="http://schemas.microsoft.com/office/powerpoint/2010/main" val="1255084113"/>
                </p:ext>
              </p:extLst>
            </p:nvPr>
          </p:nvGraphicFramePr>
          <p:xfrm>
            <a:off x="2892869" y="5055403"/>
            <a:ext cx="2314575" cy="511175"/>
          </p:xfrm>
          <a:graphic>
            <a:graphicData uri="http://schemas.openxmlformats.org/presentationml/2006/ole">
              <mc:AlternateContent xmlns:mc="http://schemas.openxmlformats.org/markup-compatibility/2006">
                <mc:Choice xmlns:v="urn:schemas-microsoft-com:vml" Requires="v">
                  <p:oleObj spid="_x0000_s257152" name="公式" r:id="rId5" imgW="24993600" imgH="5486400" progId="Equation.3">
                    <p:embed/>
                  </p:oleObj>
                </mc:Choice>
                <mc:Fallback>
                  <p:oleObj name="公式" r:id="rId5" imgW="24993600" imgH="5486400" progId="Equation.3">
                    <p:embed/>
                    <p:pic>
                      <p:nvPicPr>
                        <p:cNvPr id="0" name="图片 257094"/>
                        <p:cNvPicPr>
                          <a:picLocks noChangeAspect="1" noChangeArrowheads="1"/>
                        </p:cNvPicPr>
                        <p:nvPr/>
                      </p:nvPicPr>
                      <p:blipFill>
                        <a:blip r:embed="rId6"/>
                        <a:srcRect/>
                        <a:stretch>
                          <a:fillRect/>
                        </a:stretch>
                      </p:blipFill>
                      <p:spPr bwMode="auto">
                        <a:xfrm>
                          <a:off x="2892869" y="5055403"/>
                          <a:ext cx="2314575" cy="51117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组合 2"/>
            <p:cNvGrpSpPr/>
            <p:nvPr/>
          </p:nvGrpSpPr>
          <p:grpSpPr>
            <a:xfrm>
              <a:off x="2423592" y="3861048"/>
              <a:ext cx="6897688" cy="687521"/>
              <a:chOff x="861049" y="1605995"/>
              <a:chExt cx="6897688" cy="687521"/>
            </a:xfrm>
          </p:grpSpPr>
          <p:graphicFrame>
            <p:nvGraphicFramePr>
              <p:cNvPr id="15" name="Object 6"/>
              <p:cNvGraphicFramePr>
                <a:graphicFrameLocks noChangeAspect="1"/>
              </p:cNvGraphicFramePr>
              <p:nvPr/>
            </p:nvGraphicFramePr>
            <p:xfrm>
              <a:off x="861049" y="1772816"/>
              <a:ext cx="6897688" cy="520700"/>
            </p:xfrm>
            <a:graphic>
              <a:graphicData uri="http://schemas.openxmlformats.org/presentationml/2006/ole">
                <mc:AlternateContent xmlns:mc="http://schemas.openxmlformats.org/markup-compatibility/2006">
                  <mc:Choice xmlns:v="urn:schemas-microsoft-com:vml" Requires="v">
                    <p:oleObj spid="_x0000_s257153" name="公式" r:id="rId7" imgW="80772000" imgH="6096000" progId="Equation.3">
                      <p:embed/>
                    </p:oleObj>
                  </mc:Choice>
                  <mc:Fallback>
                    <p:oleObj name="公式" r:id="rId7" imgW="80772000" imgH="6096000" progId="Equation.3">
                      <p:embed/>
                      <p:pic>
                        <p:nvPicPr>
                          <p:cNvPr id="0" name="图片 257093"/>
                          <p:cNvPicPr>
                            <a:picLocks noChangeAspect="1" noChangeArrowheads="1"/>
                          </p:cNvPicPr>
                          <p:nvPr/>
                        </p:nvPicPr>
                        <p:blipFill>
                          <a:blip r:embed="rId8"/>
                          <a:srcRect/>
                          <a:stretch>
                            <a:fillRect/>
                          </a:stretch>
                        </p:blipFill>
                        <p:spPr bwMode="auto">
                          <a:xfrm>
                            <a:off x="861049" y="1772816"/>
                            <a:ext cx="6897688" cy="5207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p:cNvSpPr txBox="1"/>
              <p:nvPr/>
            </p:nvSpPr>
            <p:spPr>
              <a:xfrm>
                <a:off x="4009428" y="1605995"/>
                <a:ext cx="864339" cy="369332"/>
              </a:xfrm>
              <a:prstGeom prst="rect">
                <a:avLst/>
              </a:prstGeom>
              <a:noFill/>
            </p:spPr>
            <p:txBody>
              <a:bodyPr wrap="none" rtlCol="0">
                <a:spAutoFit/>
              </a:bodyPr>
              <a:lstStyle/>
              <a:p>
                <a:r>
                  <a:rPr lang="en-US" altLang="zh-CN" dirty="0"/>
                  <a:t>pH 3.5</a:t>
                </a:r>
                <a:endParaRPr lang="zh-CN" altLang="en-US" dirty="0"/>
              </a:p>
            </p:txBody>
          </p:sp>
        </p:grpSp>
        <p:sp>
          <p:nvSpPr>
            <p:cNvPr id="4" name="对话气泡: 圆角矩形 3">
              <a:extLst>
                <a:ext uri="{FF2B5EF4-FFF2-40B4-BE49-F238E27FC236}">
                  <a16:creationId xmlns:a16="http://schemas.microsoft.com/office/drawing/2014/main" id="{04F1CD5C-C691-49A9-A400-2EFC7E6D6F26}"/>
                </a:ext>
              </a:extLst>
            </p:cNvPr>
            <p:cNvSpPr/>
            <p:nvPr/>
          </p:nvSpPr>
          <p:spPr>
            <a:xfrm>
              <a:off x="2892868" y="3428999"/>
              <a:ext cx="1445616" cy="447839"/>
            </a:xfrm>
            <a:prstGeom prst="wedgeRoundRectCallout">
              <a:avLst>
                <a:gd name="adj1" fmla="val -20126"/>
                <a:gd name="adj2" fmla="val 92472"/>
                <a:gd name="adj3" fmla="val 16667"/>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9999"/>
                  </a:solidFill>
                </a:ln>
                <a:noFill/>
              </a:endParaRPr>
            </a:p>
          </p:txBody>
        </p:sp>
        <p:sp>
          <p:nvSpPr>
            <p:cNvPr id="5" name="文本框 4">
              <a:extLst>
                <a:ext uri="{FF2B5EF4-FFF2-40B4-BE49-F238E27FC236}">
                  <a16:creationId xmlns:a16="http://schemas.microsoft.com/office/drawing/2014/main" id="{8C18DAA6-45BD-4709-B8C4-899332F50DF7}"/>
                </a:ext>
              </a:extLst>
            </p:cNvPr>
            <p:cNvSpPr txBox="1"/>
            <p:nvPr/>
          </p:nvSpPr>
          <p:spPr>
            <a:xfrm>
              <a:off x="2999656" y="3469348"/>
              <a:ext cx="1338828" cy="369332"/>
            </a:xfrm>
            <a:prstGeom prst="rect">
              <a:avLst/>
            </a:prstGeom>
            <a:noFill/>
          </p:spPr>
          <p:txBody>
            <a:bodyPr wrap="none" rtlCol="0">
              <a:spAutoFit/>
            </a:bodyPr>
            <a:lstStyle/>
            <a:p>
              <a:r>
                <a:rPr lang="zh-CN" altLang="en-US" dirty="0"/>
                <a:t>反应速度慢</a:t>
              </a:r>
            </a:p>
          </p:txBody>
        </p:sp>
      </p:gr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103687"/>
    </mc:Choice>
    <mc:Fallback xmlns="">
      <p:transition spd="slow" advTm="10368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3"/>
          <p:cNvSpPr>
            <a:spLocks noGrp="1" noChangeArrowheads="1"/>
          </p:cNvSpPr>
          <p:nvPr>
            <p:ph sz="half" idx="1"/>
          </p:nvPr>
        </p:nvSpPr>
        <p:spPr>
          <a:xfrm>
            <a:off x="396752" y="1227550"/>
            <a:ext cx="12097344" cy="1225550"/>
          </a:xfrm>
        </p:spPr>
        <p:txBody>
          <a:bodyPr>
            <a:normAutofit/>
          </a:bodyPr>
          <a:lstStyle/>
          <a:p>
            <a:pPr>
              <a:lnSpc>
                <a:spcPct val="150000"/>
              </a:lnSpc>
              <a:buFontTx/>
              <a:buNone/>
            </a:pPr>
            <a:r>
              <a:rPr lang="zh-CN" altLang="zh-CN" sz="2400" b="1" dirty="0">
                <a:latin typeface="微软雅黑" panose="020B0503020204020204" pitchFamily="34" charset="-122"/>
                <a:ea typeface="微软雅黑" panose="020B0503020204020204" pitchFamily="34" charset="-122"/>
              </a:rPr>
              <a:t>先用适当试剂定量置换出</a:t>
            </a:r>
            <a:r>
              <a:rPr lang="zh-CN" altLang="en-US" sz="2400" b="1" dirty="0">
                <a:latin typeface="微软雅黑" panose="020B0503020204020204" pitchFamily="34" charset="-122"/>
                <a:ea typeface="微软雅黑" panose="020B0503020204020204" pitchFamily="34" charset="-122"/>
              </a:rPr>
              <a:t>一定量能被滴定的物质，然后再用适当的滴定剂进行滴定。</a:t>
            </a:r>
            <a:endParaRPr lang="zh-CN" altLang="zh-CN" sz="2400" b="1" dirty="0">
              <a:latin typeface="微软雅黑" panose="020B0503020204020204" pitchFamily="34" charset="-122"/>
              <a:ea typeface="微软雅黑" panose="020B0503020204020204" pitchFamily="34" charset="-122"/>
            </a:endParaRPr>
          </a:p>
        </p:txBody>
      </p:sp>
      <p:sp>
        <p:nvSpPr>
          <p:cNvPr id="11" name="矩形 6"/>
          <p:cNvSpPr>
            <a:spLocks noChangeArrowheads="1"/>
          </p:cNvSpPr>
          <p:nvPr/>
        </p:nvSpPr>
        <p:spPr bwMode="auto">
          <a:xfrm>
            <a:off x="551384" y="345953"/>
            <a:ext cx="2436813" cy="523875"/>
          </a:xfrm>
          <a:prstGeom prst="rect">
            <a:avLst/>
          </a:prstGeom>
          <a:noFill/>
          <a:ln>
            <a:noFill/>
          </a:ln>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en-US" altLang="zh-CN" sz="2800" dirty="0">
                <a:solidFill>
                  <a:srgbClr val="C00000"/>
                </a:solidFill>
                <a:latin typeface="Times New Roman" panose="02020603050405020304" pitchFamily="18" charset="0"/>
                <a:ea typeface="微软雅黑" panose="020B0503020204020204" pitchFamily="34" charset="-122"/>
              </a:rPr>
              <a:t>3.  </a:t>
            </a:r>
            <a:r>
              <a:rPr lang="zh-CN" altLang="en-US" sz="2800" dirty="0">
                <a:solidFill>
                  <a:srgbClr val="C00000"/>
                </a:solidFill>
                <a:latin typeface="Times New Roman" panose="02020603050405020304" pitchFamily="18" charset="0"/>
                <a:ea typeface="微软雅黑" panose="020B0503020204020204" pitchFamily="34" charset="-122"/>
              </a:rPr>
              <a:t>置换滴定法</a:t>
            </a:r>
            <a:endParaRPr lang="zh-CN" altLang="en-US" sz="2800" dirty="0">
              <a:solidFill>
                <a:srgbClr val="C00000"/>
              </a:solidFill>
            </a:endParaRPr>
          </a:p>
        </p:txBody>
      </p:sp>
      <p:pic>
        <p:nvPicPr>
          <p:cNvPr id="18"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57023"/>
          <a:stretch>
            <a:fillRect/>
          </a:stretch>
        </p:blipFill>
        <p:spPr bwMode="auto">
          <a:xfrm>
            <a:off x="2711624" y="2291197"/>
            <a:ext cx="7467600" cy="1750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21"/>
          <p:cNvSpPr txBox="1">
            <a:spLocks noChangeArrowheads="1"/>
          </p:cNvSpPr>
          <p:nvPr/>
        </p:nvSpPr>
        <p:spPr bwMode="auto">
          <a:xfrm>
            <a:off x="4113213" y="5502176"/>
            <a:ext cx="5256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Times New Roman" panose="02020603050405020304" pitchFamily="18" charset="0"/>
                <a:ea typeface="微软雅黑" panose="020B0503020204020204" pitchFamily="34" charset="-122"/>
              </a:rPr>
              <a:t>I</a:t>
            </a:r>
            <a:r>
              <a:rPr lang="en-US" altLang="zh-CN" sz="2800" b="1" baseline="-25000" dirty="0">
                <a:latin typeface="Times New Roman" panose="02020603050405020304" pitchFamily="18" charset="0"/>
                <a:ea typeface="微软雅黑" panose="020B0503020204020204" pitchFamily="34" charset="-122"/>
              </a:rPr>
              <a:t>2</a:t>
            </a:r>
            <a:r>
              <a:rPr lang="zh-CN" altLang="en-US" sz="2800" b="1" dirty="0">
                <a:latin typeface="Times New Roman" panose="02020603050405020304" pitchFamily="18" charset="0"/>
                <a:ea typeface="微软雅黑" panose="020B0503020204020204" pitchFamily="34" charset="-122"/>
              </a:rPr>
              <a:t>＋</a:t>
            </a:r>
            <a:r>
              <a:rPr lang="en-US" altLang="zh-CN" sz="2800" b="1" dirty="0">
                <a:latin typeface="Times New Roman" panose="02020603050405020304" pitchFamily="18" charset="0"/>
                <a:ea typeface="微软雅黑" panose="020B0503020204020204" pitchFamily="34" charset="-122"/>
              </a:rPr>
              <a:t>2S</a:t>
            </a:r>
            <a:r>
              <a:rPr lang="en-US" altLang="zh-CN" sz="2800" b="1" baseline="-25000" dirty="0">
                <a:latin typeface="Times New Roman" panose="02020603050405020304" pitchFamily="18" charset="0"/>
                <a:ea typeface="微软雅黑" panose="020B0503020204020204" pitchFamily="34" charset="-122"/>
              </a:rPr>
              <a:t>2</a:t>
            </a:r>
            <a:r>
              <a:rPr lang="en-US" altLang="zh-CN" sz="2800" b="1" dirty="0">
                <a:latin typeface="Times New Roman" panose="02020603050405020304" pitchFamily="18" charset="0"/>
                <a:ea typeface="微软雅黑" panose="020B0503020204020204" pitchFamily="34" charset="-122"/>
              </a:rPr>
              <a:t>O</a:t>
            </a:r>
            <a:r>
              <a:rPr lang="en-US" altLang="zh-CN" sz="2800" b="1" baseline="-25000" dirty="0">
                <a:latin typeface="Times New Roman" panose="02020603050405020304" pitchFamily="18" charset="0"/>
                <a:ea typeface="微软雅黑" panose="020B0503020204020204" pitchFamily="34" charset="-122"/>
              </a:rPr>
              <a:t>3</a:t>
            </a:r>
            <a:r>
              <a:rPr lang="en-US" altLang="zh-CN" sz="2800" b="1" baseline="30000" dirty="0">
                <a:latin typeface="Times New Roman" panose="02020603050405020304" pitchFamily="18" charset="0"/>
                <a:ea typeface="微软雅黑" panose="020B0503020204020204" pitchFamily="34" charset="-122"/>
              </a:rPr>
              <a:t>2-</a:t>
            </a:r>
            <a:r>
              <a:rPr lang="en-US" altLang="zh-CN" sz="2800" b="1" dirty="0">
                <a:latin typeface="Times New Roman" panose="02020603050405020304" pitchFamily="18" charset="0"/>
                <a:ea typeface="微软雅黑" panose="020B0503020204020204" pitchFamily="34" charset="-122"/>
              </a:rPr>
              <a:t>=2I</a:t>
            </a:r>
            <a:r>
              <a:rPr lang="en-US" altLang="zh-CN" sz="2800" b="1" baseline="30000" dirty="0">
                <a:latin typeface="Times New Roman" panose="02020603050405020304" pitchFamily="18" charset="0"/>
                <a:ea typeface="微软雅黑" panose="020B0503020204020204" pitchFamily="34" charset="-122"/>
              </a:rPr>
              <a:t>-</a:t>
            </a:r>
            <a:r>
              <a:rPr lang="en-US" altLang="zh-CN" sz="2800" b="1" dirty="0">
                <a:latin typeface="Times New Roman" panose="02020603050405020304" pitchFamily="18" charset="0"/>
                <a:ea typeface="微软雅黑" panose="020B0503020204020204" pitchFamily="34" charset="-122"/>
              </a:rPr>
              <a:t>+S</a:t>
            </a:r>
            <a:r>
              <a:rPr lang="en-US" altLang="zh-CN" sz="2800" b="1" baseline="-25000" dirty="0">
                <a:latin typeface="Times New Roman" panose="02020603050405020304" pitchFamily="18" charset="0"/>
                <a:ea typeface="微软雅黑" panose="020B0503020204020204" pitchFamily="34" charset="-122"/>
              </a:rPr>
              <a:t>4</a:t>
            </a:r>
            <a:r>
              <a:rPr lang="en-US" altLang="zh-CN" sz="2800" b="1" dirty="0">
                <a:latin typeface="Times New Roman" panose="02020603050405020304" pitchFamily="18" charset="0"/>
                <a:ea typeface="微软雅黑" panose="020B0503020204020204" pitchFamily="34" charset="-122"/>
              </a:rPr>
              <a:t>O</a:t>
            </a:r>
            <a:r>
              <a:rPr lang="en-US" altLang="zh-CN" sz="2800" b="1" baseline="-25000" dirty="0">
                <a:latin typeface="Times New Roman" panose="02020603050405020304" pitchFamily="18" charset="0"/>
                <a:ea typeface="微软雅黑" panose="020B0503020204020204" pitchFamily="34" charset="-122"/>
              </a:rPr>
              <a:t>6</a:t>
            </a:r>
            <a:r>
              <a:rPr lang="en-US" altLang="zh-CN" sz="2800" b="1" baseline="30000" dirty="0">
                <a:latin typeface="Times New Roman" panose="02020603050405020304" pitchFamily="18" charset="0"/>
                <a:ea typeface="微软雅黑" panose="020B0503020204020204" pitchFamily="34" charset="-122"/>
              </a:rPr>
              <a:t>2-</a:t>
            </a:r>
          </a:p>
        </p:txBody>
      </p:sp>
      <p:grpSp>
        <p:nvGrpSpPr>
          <p:cNvPr id="9" name="组合 8"/>
          <p:cNvGrpSpPr/>
          <p:nvPr/>
        </p:nvGrpSpPr>
        <p:grpSpPr>
          <a:xfrm>
            <a:off x="2207568" y="3956799"/>
            <a:ext cx="8153400" cy="1318519"/>
            <a:chOff x="237235" y="3717032"/>
            <a:chExt cx="8153400" cy="1318519"/>
          </a:xfrm>
        </p:grpSpPr>
        <p:sp>
          <p:nvSpPr>
            <p:cNvPr id="13" name="Text Box 9"/>
            <p:cNvSpPr txBox="1">
              <a:spLocks noChangeArrowheads="1"/>
            </p:cNvSpPr>
            <p:nvPr/>
          </p:nvSpPr>
          <p:spPr bwMode="auto">
            <a:xfrm>
              <a:off x="3225307" y="4578351"/>
              <a:ext cx="3168650" cy="4572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dirty="0">
                  <a:solidFill>
                    <a:srgbClr val="0000FF"/>
                  </a:solidFill>
                </a:rPr>
                <a:t>0.2~0.4 mol·L</a:t>
              </a:r>
              <a:r>
                <a:rPr kumimoji="1" lang="en-US" altLang="zh-CN" sz="2400" b="1" baseline="30000" dirty="0">
                  <a:solidFill>
                    <a:srgbClr val="0000FF"/>
                  </a:solidFill>
                </a:rPr>
                <a:t>-1</a:t>
              </a:r>
              <a:endParaRPr kumimoji="1" lang="en-US" altLang="zh-CN" sz="2400" b="1" dirty="0">
                <a:solidFill>
                  <a:srgbClr val="0000FF"/>
                </a:solidFill>
              </a:endParaRPr>
            </a:p>
          </p:txBody>
        </p:sp>
        <p:sp>
          <p:nvSpPr>
            <p:cNvPr id="15" name="Line 14"/>
            <p:cNvSpPr>
              <a:spLocks noChangeShapeType="1"/>
            </p:cNvSpPr>
            <p:nvPr/>
          </p:nvSpPr>
          <p:spPr bwMode="auto">
            <a:xfrm>
              <a:off x="4225432" y="4121151"/>
              <a:ext cx="838200" cy="0"/>
            </a:xfrm>
            <a:prstGeom prst="line">
              <a:avLst/>
            </a:prstGeom>
            <a:noFill/>
            <a:ln w="349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dirty="0">
                <a:solidFill>
                  <a:prstClr val="black"/>
                </a:solidFill>
              </a:endParaRPr>
            </a:p>
          </p:txBody>
        </p:sp>
        <p:sp>
          <p:nvSpPr>
            <p:cNvPr id="16" name="Text Box 15"/>
            <p:cNvSpPr txBox="1">
              <a:spLocks noChangeArrowheads="1"/>
            </p:cNvSpPr>
            <p:nvPr/>
          </p:nvSpPr>
          <p:spPr bwMode="auto">
            <a:xfrm>
              <a:off x="4225432" y="3717032"/>
              <a:ext cx="8034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70C0"/>
                  </a:solidFill>
                  <a:latin typeface="Times New Roman" panose="02020603050405020304" pitchFamily="18" charset="0"/>
                </a:rPr>
                <a:t>避光</a:t>
              </a:r>
            </a:p>
            <a:p>
              <a:r>
                <a:rPr kumimoji="1" lang="zh-CN" altLang="en-US" sz="2400" b="1" dirty="0">
                  <a:solidFill>
                    <a:srgbClr val="0070C0"/>
                  </a:solidFill>
                  <a:latin typeface="Times New Roman" panose="02020603050405020304" pitchFamily="18" charset="0"/>
                </a:rPr>
                <a:t>放置</a:t>
              </a:r>
            </a:p>
          </p:txBody>
        </p:sp>
        <p:sp>
          <p:nvSpPr>
            <p:cNvPr id="17" name="Text Box 16"/>
            <p:cNvSpPr txBox="1">
              <a:spLocks noChangeArrowheads="1"/>
            </p:cNvSpPr>
            <p:nvPr/>
          </p:nvSpPr>
          <p:spPr bwMode="auto">
            <a:xfrm>
              <a:off x="237235" y="3816351"/>
              <a:ext cx="8153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3200" b="1" dirty="0">
                  <a:latin typeface="Times New Roman" panose="02020603050405020304" pitchFamily="18" charset="0"/>
                </a:rPr>
                <a:t>Cr</a:t>
              </a:r>
              <a:r>
                <a:rPr kumimoji="1" lang="en-US" altLang="zh-CN" sz="3200" b="1" baseline="-25000" dirty="0">
                  <a:latin typeface="Times New Roman" panose="02020603050405020304" pitchFamily="18" charset="0"/>
                </a:rPr>
                <a:t>2</a:t>
              </a:r>
              <a:r>
                <a:rPr kumimoji="1" lang="en-US" altLang="zh-CN" sz="3200" b="1" dirty="0">
                  <a:latin typeface="Times New Roman" panose="02020603050405020304" pitchFamily="18" charset="0"/>
                </a:rPr>
                <a:t>O</a:t>
              </a:r>
              <a:r>
                <a:rPr kumimoji="1" lang="en-US" altLang="zh-CN" sz="3200" b="1" baseline="-25000" dirty="0">
                  <a:latin typeface="Times New Roman" panose="02020603050405020304" pitchFamily="18" charset="0"/>
                </a:rPr>
                <a:t>7</a:t>
              </a:r>
              <a:r>
                <a:rPr kumimoji="1" lang="en-US" altLang="zh-CN" sz="3200" b="1" baseline="30000" dirty="0">
                  <a:latin typeface="Times New Roman" panose="02020603050405020304" pitchFamily="18" charset="0"/>
                </a:rPr>
                <a:t>2</a:t>
              </a:r>
              <a:r>
                <a:rPr kumimoji="1" lang="en-US" altLang="zh-CN" sz="3200" b="1" baseline="30000" dirty="0">
                  <a:latin typeface="Arial Black" panose="020B0A04020102020204" pitchFamily="34" charset="0"/>
                </a:rPr>
                <a:t>-</a:t>
              </a:r>
              <a:r>
                <a:rPr kumimoji="1" lang="en-US" altLang="zh-CN" sz="3200" b="1" dirty="0">
                  <a:latin typeface="Times New Roman" panose="02020603050405020304" pitchFamily="18" charset="0"/>
                </a:rPr>
                <a:t>+6I</a:t>
              </a:r>
              <a:r>
                <a:rPr kumimoji="1" lang="en-US" altLang="zh-CN" sz="3200" b="1" baseline="30000" dirty="0">
                  <a:latin typeface="Arial Black" panose="020B0A04020102020204" pitchFamily="34" charset="0"/>
                </a:rPr>
                <a:t>-</a:t>
              </a:r>
              <a:r>
                <a:rPr kumimoji="1" lang="en-US" altLang="zh-CN" sz="3200" b="1" dirty="0">
                  <a:latin typeface="Times New Roman" panose="02020603050405020304" pitchFamily="18" charset="0"/>
                </a:rPr>
                <a:t>(</a:t>
              </a:r>
              <a:r>
                <a:rPr kumimoji="1" lang="zh-CN" altLang="en-US" sz="3200" b="1" dirty="0">
                  <a:latin typeface="Times New Roman" panose="02020603050405020304" pitchFamily="18" charset="0"/>
                </a:rPr>
                <a:t>过</a:t>
              </a:r>
              <a:r>
                <a:rPr kumimoji="1" lang="en-US" altLang="zh-CN" sz="3200" b="1" dirty="0">
                  <a:latin typeface="Times New Roman" panose="02020603050405020304" pitchFamily="18" charset="0"/>
                </a:rPr>
                <a:t>)+14H</a:t>
              </a:r>
              <a:r>
                <a:rPr kumimoji="1" lang="en-US" altLang="zh-CN" sz="3200" b="1" baseline="30000" dirty="0"/>
                <a:t>+</a:t>
              </a:r>
              <a:r>
                <a:rPr kumimoji="1" lang="en-US" altLang="zh-CN" sz="3200" b="1" baseline="30000" dirty="0">
                  <a:latin typeface="Times New Roman" panose="02020603050405020304" pitchFamily="18" charset="0"/>
                </a:rPr>
                <a:t>                </a:t>
              </a:r>
              <a:r>
                <a:rPr kumimoji="1" lang="en-US" altLang="zh-CN" sz="3200" b="1" dirty="0">
                  <a:latin typeface="Times New Roman" panose="02020603050405020304" pitchFamily="18" charset="0"/>
                </a:rPr>
                <a:t>2Cr</a:t>
              </a:r>
              <a:r>
                <a:rPr kumimoji="1" lang="en-US" altLang="zh-CN" sz="3200" b="1" baseline="30000" dirty="0">
                  <a:latin typeface="Times New Roman" panose="02020603050405020304" pitchFamily="18" charset="0"/>
                </a:rPr>
                <a:t>3</a:t>
              </a:r>
              <a:r>
                <a:rPr kumimoji="1" lang="en-US" altLang="zh-CN" sz="3200" b="1" baseline="30000" dirty="0"/>
                <a:t>+</a:t>
              </a:r>
              <a:r>
                <a:rPr kumimoji="1" lang="en-US" altLang="zh-CN" sz="3200" b="1" dirty="0">
                  <a:latin typeface="Times New Roman" panose="02020603050405020304" pitchFamily="18" charset="0"/>
                </a:rPr>
                <a:t>+3I</a:t>
              </a:r>
              <a:r>
                <a:rPr kumimoji="1" lang="en-US" altLang="zh-CN" sz="3200" b="1" baseline="-25000" dirty="0">
                  <a:latin typeface="Times New Roman" panose="02020603050405020304" pitchFamily="18" charset="0"/>
                </a:rPr>
                <a:t>2</a:t>
              </a:r>
              <a:r>
                <a:rPr kumimoji="1" lang="en-US" altLang="zh-CN" sz="3200" b="1" dirty="0">
                  <a:latin typeface="Times New Roman" panose="02020603050405020304" pitchFamily="18" charset="0"/>
                </a:rPr>
                <a:t>+7H</a:t>
              </a:r>
              <a:r>
                <a:rPr kumimoji="1" lang="en-US" altLang="zh-CN" sz="3200" b="1" baseline="-25000" dirty="0">
                  <a:latin typeface="Times New Roman" panose="02020603050405020304" pitchFamily="18" charset="0"/>
                </a:rPr>
                <a:t>2</a:t>
              </a:r>
              <a:r>
                <a:rPr kumimoji="1" lang="en-US" altLang="zh-CN" sz="3200" b="1" dirty="0">
                  <a:latin typeface="Times New Roman" panose="02020603050405020304" pitchFamily="18" charset="0"/>
                </a:rPr>
                <a:t>O</a:t>
              </a:r>
            </a:p>
          </p:txBody>
        </p:sp>
      </p:grpSp>
      <p:sp>
        <p:nvSpPr>
          <p:cNvPr id="12" name="对话气泡: 圆角矩形 11">
            <a:extLst>
              <a:ext uri="{FF2B5EF4-FFF2-40B4-BE49-F238E27FC236}">
                <a16:creationId xmlns:a16="http://schemas.microsoft.com/office/drawing/2014/main" id="{35A44793-5DCD-4FA5-A130-EB4D426E92E5}"/>
              </a:ext>
            </a:extLst>
          </p:cNvPr>
          <p:cNvSpPr/>
          <p:nvPr/>
        </p:nvSpPr>
        <p:spPr>
          <a:xfrm>
            <a:off x="2952471" y="2138957"/>
            <a:ext cx="1445616" cy="447839"/>
          </a:xfrm>
          <a:prstGeom prst="wedgeRoundRectCallout">
            <a:avLst>
              <a:gd name="adj1" fmla="val -20126"/>
              <a:gd name="adj2" fmla="val 92472"/>
              <a:gd name="adj3" fmla="val 16667"/>
            </a:avLst>
          </a:prstGeom>
          <a:no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9999"/>
                </a:solidFill>
              </a:ln>
              <a:noFill/>
            </a:endParaRPr>
          </a:p>
        </p:txBody>
      </p:sp>
      <p:sp>
        <p:nvSpPr>
          <p:cNvPr id="3" name="文本框 2">
            <a:extLst>
              <a:ext uri="{FF2B5EF4-FFF2-40B4-BE49-F238E27FC236}">
                <a16:creationId xmlns:a16="http://schemas.microsoft.com/office/drawing/2014/main" id="{CEA941F2-F9A3-4769-9EA7-541DF5DE6C07}"/>
              </a:ext>
            </a:extLst>
          </p:cNvPr>
          <p:cNvSpPr txBox="1"/>
          <p:nvPr/>
        </p:nvSpPr>
        <p:spPr>
          <a:xfrm>
            <a:off x="3236050" y="2175049"/>
            <a:ext cx="877163" cy="369332"/>
          </a:xfrm>
          <a:prstGeom prst="rect">
            <a:avLst/>
          </a:prstGeom>
          <a:noFill/>
        </p:spPr>
        <p:txBody>
          <a:bodyPr wrap="none" rtlCol="0">
            <a:spAutoFit/>
          </a:bodyPr>
          <a:lstStyle/>
          <a:p>
            <a:r>
              <a:rPr lang="zh-CN" altLang="en-US" dirty="0"/>
              <a:t>副反应</a:t>
            </a:r>
          </a:p>
        </p:txBody>
      </p:sp>
    </p:spTree>
  </p:cSld>
  <p:clrMapOvr>
    <a:masterClrMapping/>
  </p:clrMapOvr>
  <mc:AlternateContent xmlns:mc="http://schemas.openxmlformats.org/markup-compatibility/2006" xmlns:p14="http://schemas.microsoft.com/office/powerpoint/2010/main">
    <mc:Choice Requires="p14">
      <p:transition spd="slow" p14:dur="2000" advTm="65699"/>
    </mc:Choice>
    <mc:Fallback xmlns="">
      <p:transition spd="slow" advTm="6569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4" name="Text Box 4"/>
          <p:cNvSpPr txBox="1">
            <a:spLocks noChangeArrowheads="1"/>
          </p:cNvSpPr>
          <p:nvPr/>
        </p:nvSpPr>
        <p:spPr bwMode="auto">
          <a:xfrm>
            <a:off x="1711842" y="2809703"/>
            <a:ext cx="4604965" cy="511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spcBef>
                <a:spcPct val="50000"/>
              </a:spcBef>
            </a:pPr>
            <a:r>
              <a:rPr kumimoji="1" lang="zh-CN" altLang="en-US" sz="2400" dirty="0">
                <a:solidFill>
                  <a:srgbClr val="000000"/>
                </a:solidFill>
                <a:ea typeface="微软雅黑" panose="020B0503020204020204" pitchFamily="34" charset="-122"/>
              </a:rPr>
              <a:t>例： </a:t>
            </a:r>
            <a:r>
              <a:rPr kumimoji="1" lang="en-US" altLang="zh-CN" sz="2400" dirty="0">
                <a:solidFill>
                  <a:srgbClr val="000000"/>
                </a:solidFill>
                <a:ea typeface="微软雅黑" panose="020B0503020204020204" pitchFamily="34" charset="-122"/>
              </a:rPr>
              <a:t>KMnO</a:t>
            </a:r>
            <a:r>
              <a:rPr kumimoji="1" lang="en-US" altLang="zh-CN" sz="2400" baseline="-25000" dirty="0">
                <a:solidFill>
                  <a:srgbClr val="000000"/>
                </a:solidFill>
                <a:ea typeface="微软雅黑" panose="020B0503020204020204" pitchFamily="34" charset="-122"/>
              </a:rPr>
              <a:t>4 </a:t>
            </a:r>
            <a:r>
              <a:rPr kumimoji="1" lang="zh-CN" altLang="en-US" sz="2400" dirty="0">
                <a:solidFill>
                  <a:srgbClr val="000000"/>
                </a:solidFill>
                <a:ea typeface="微软雅黑" panose="020B0503020204020204" pitchFamily="34" charset="-122"/>
              </a:rPr>
              <a:t>法测定 </a:t>
            </a:r>
            <a:r>
              <a:rPr kumimoji="1" lang="en-US" altLang="zh-CN" sz="2400" dirty="0">
                <a:solidFill>
                  <a:srgbClr val="000000"/>
                </a:solidFill>
                <a:ea typeface="微软雅黑" panose="020B0503020204020204" pitchFamily="34" charset="-122"/>
              </a:rPr>
              <a:t>Ca </a:t>
            </a:r>
            <a:r>
              <a:rPr kumimoji="1" lang="en-US" altLang="zh-CN" sz="2400" baseline="30000" dirty="0">
                <a:solidFill>
                  <a:srgbClr val="000000"/>
                </a:solidFill>
                <a:ea typeface="微软雅黑" panose="020B0503020204020204" pitchFamily="34" charset="-122"/>
              </a:rPr>
              <a:t>2+</a:t>
            </a:r>
          </a:p>
        </p:txBody>
      </p:sp>
      <p:sp>
        <p:nvSpPr>
          <p:cNvPr id="399366" name="Rectangle 6"/>
          <p:cNvSpPr>
            <a:spLocks noChangeArrowheads="1"/>
          </p:cNvSpPr>
          <p:nvPr/>
        </p:nvSpPr>
        <p:spPr bwMode="auto">
          <a:xfrm>
            <a:off x="1559496" y="1288609"/>
            <a:ext cx="9249231" cy="1152431"/>
          </a:xfrm>
          <a:prstGeom prst="rect">
            <a:avLst/>
          </a:prstGeom>
          <a:noFill/>
          <a:ln w="9525">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spcBef>
                <a:spcPct val="20000"/>
              </a:spcBef>
            </a:pPr>
            <a:r>
              <a:rPr kumimoji="1" lang="zh-CN" altLang="en-US" sz="2400" b="1" dirty="0">
                <a:solidFill>
                  <a:srgbClr val="000000"/>
                </a:solidFill>
                <a:latin typeface="Times New Roman" panose="02020603050405020304" pitchFamily="18" charset="0"/>
                <a:ea typeface="微软雅黑" panose="020B0503020204020204" pitchFamily="34" charset="-122"/>
              </a:rPr>
              <a:t>不能与滴定剂发生反应的物质可以通过其他反应而进行间接滴定。</a:t>
            </a:r>
          </a:p>
          <a:p>
            <a:pPr algn="just">
              <a:lnSpc>
                <a:spcPct val="130000"/>
              </a:lnSpc>
              <a:spcBef>
                <a:spcPct val="20000"/>
              </a:spcBef>
            </a:pPr>
            <a:endParaRPr kumimoji="1" lang="zh-CN" altLang="en-US" sz="2400" dirty="0">
              <a:solidFill>
                <a:srgbClr val="000000"/>
              </a:solidFill>
              <a:latin typeface="Times New Roman" panose="02020603050405020304" pitchFamily="18" charset="0"/>
              <a:ea typeface="微软雅黑" panose="020B0503020204020204" pitchFamily="34" charset="-122"/>
            </a:endParaRPr>
          </a:p>
        </p:txBody>
      </p:sp>
      <p:sp>
        <p:nvSpPr>
          <p:cNvPr id="8" name="矩形 4"/>
          <p:cNvSpPr>
            <a:spLocks noChangeArrowheads="1"/>
          </p:cNvSpPr>
          <p:nvPr/>
        </p:nvSpPr>
        <p:spPr bwMode="auto">
          <a:xfrm>
            <a:off x="1692276" y="396071"/>
            <a:ext cx="2436813" cy="523875"/>
          </a:xfrm>
          <a:prstGeom prst="rect">
            <a:avLst/>
          </a:prstGeom>
          <a:noFill/>
          <a:ln>
            <a:noFill/>
          </a:ln>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eaLnBrk="1" hangingPunct="1"/>
            <a:r>
              <a:rPr lang="en-US" altLang="zh-CN" sz="2800" dirty="0">
                <a:solidFill>
                  <a:srgbClr val="C00000"/>
                </a:solidFill>
                <a:latin typeface="Times New Roman" panose="02020603050405020304" pitchFamily="18" charset="0"/>
                <a:ea typeface="微软雅黑" panose="020B0503020204020204" pitchFamily="34" charset="-122"/>
              </a:rPr>
              <a:t>4.  </a:t>
            </a:r>
            <a:r>
              <a:rPr lang="zh-CN" altLang="en-US" sz="2800" dirty="0">
                <a:solidFill>
                  <a:srgbClr val="C00000"/>
                </a:solidFill>
                <a:latin typeface="Times New Roman" panose="02020603050405020304" pitchFamily="18" charset="0"/>
                <a:ea typeface="微软雅黑" panose="020B0503020204020204" pitchFamily="34" charset="-122"/>
              </a:rPr>
              <a:t>间接滴定法</a:t>
            </a:r>
          </a:p>
        </p:txBody>
      </p:sp>
      <p:pic>
        <p:nvPicPr>
          <p:cNvPr id="232961" name="Picture 513"/>
          <p:cNvPicPr>
            <a:picLocks noChangeAspect="1" noChangeArrowheads="1"/>
          </p:cNvPicPr>
          <p:nvPr/>
        </p:nvPicPr>
        <p:blipFill rotWithShape="1">
          <a:blip r:embed="rId3">
            <a:extLst>
              <a:ext uri="{28A0092B-C50C-407E-A947-70E740481C1C}">
                <a14:useLocalDpi xmlns:a14="http://schemas.microsoft.com/office/drawing/2010/main" val="0"/>
              </a:ext>
            </a:extLst>
          </a:blip>
          <a:srcRect b="45285"/>
          <a:stretch>
            <a:fillRect/>
          </a:stretch>
        </p:blipFill>
        <p:spPr bwMode="auto">
          <a:xfrm>
            <a:off x="3330719" y="3505113"/>
            <a:ext cx="597217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2962" name="Picture 514"/>
          <p:cNvPicPr>
            <a:picLocks noChangeAspect="1" noChangeArrowheads="1"/>
          </p:cNvPicPr>
          <p:nvPr/>
        </p:nvPicPr>
        <p:blipFill rotWithShape="1">
          <a:blip r:embed="rId4">
            <a:extLst>
              <a:ext uri="{28A0092B-C50C-407E-A947-70E740481C1C}">
                <a14:useLocalDpi xmlns:a14="http://schemas.microsoft.com/office/drawing/2010/main" val="0"/>
              </a:ext>
            </a:extLst>
          </a:blip>
          <a:srcRect t="50000"/>
          <a:stretch>
            <a:fillRect/>
          </a:stretch>
        </p:blipFill>
        <p:spPr bwMode="auto">
          <a:xfrm>
            <a:off x="4019663" y="4453211"/>
            <a:ext cx="597535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transition advTm="5049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364"/>
                                        </p:tgtEl>
                                        <p:attrNameLst>
                                          <p:attrName>style.visibility</p:attrName>
                                        </p:attrNameLst>
                                      </p:cBhvr>
                                      <p:to>
                                        <p:strVal val="visible"/>
                                      </p:to>
                                    </p:set>
                                    <p:animEffect transition="in" filter="wipe(left)">
                                      <p:cBhvr>
                                        <p:cTn id="7" dur="500"/>
                                        <p:tgtEl>
                                          <p:spTgt spid="39936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32961"/>
                                        </p:tgtEl>
                                        <p:attrNameLst>
                                          <p:attrName>style.visibility</p:attrName>
                                        </p:attrNameLst>
                                      </p:cBhvr>
                                      <p:to>
                                        <p:strVal val="visible"/>
                                      </p:to>
                                    </p:set>
                                    <p:animEffect transition="in" filter="fade">
                                      <p:cBhvr>
                                        <p:cTn id="12" dur="1000"/>
                                        <p:tgtEl>
                                          <p:spTgt spid="232961"/>
                                        </p:tgtEl>
                                      </p:cBhvr>
                                    </p:animEffect>
                                    <p:anim calcmode="lin" valueType="num">
                                      <p:cBhvr>
                                        <p:cTn id="13" dur="1000" fill="hold"/>
                                        <p:tgtEl>
                                          <p:spTgt spid="232961"/>
                                        </p:tgtEl>
                                        <p:attrNameLst>
                                          <p:attrName>ppt_x</p:attrName>
                                        </p:attrNameLst>
                                      </p:cBhvr>
                                      <p:tavLst>
                                        <p:tav tm="0">
                                          <p:val>
                                            <p:strVal val="#ppt_x"/>
                                          </p:val>
                                        </p:tav>
                                        <p:tav tm="100000">
                                          <p:val>
                                            <p:strVal val="#ppt_x"/>
                                          </p:val>
                                        </p:tav>
                                      </p:tavLst>
                                    </p:anim>
                                    <p:anim calcmode="lin" valueType="num">
                                      <p:cBhvr>
                                        <p:cTn id="14" dur="1000" fill="hold"/>
                                        <p:tgtEl>
                                          <p:spTgt spid="23296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32962"/>
                                        </p:tgtEl>
                                        <p:attrNameLst>
                                          <p:attrName>style.visibility</p:attrName>
                                        </p:attrNameLst>
                                      </p:cBhvr>
                                      <p:to>
                                        <p:strVal val="visible"/>
                                      </p:to>
                                    </p:set>
                                    <p:animEffect transition="in" filter="barn(inVertical)">
                                      <p:cBhvr>
                                        <p:cTn id="19" dur="500"/>
                                        <p:tgtEl>
                                          <p:spTgt spid="232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407368" y="173216"/>
            <a:ext cx="3048000" cy="576263"/>
          </a:xfrm>
          <a:solidFill>
            <a:srgbClr val="009999"/>
          </a:solidFill>
        </p:spPr>
        <p:txBody>
          <a:bodyPr>
            <a:normAutofit/>
          </a:bodyPr>
          <a:lstStyle/>
          <a:p>
            <a:pPr algn="l" eaLnBrk="1" hangingPunct="1"/>
            <a:r>
              <a:rPr lang="en-US" altLang="zh-CN" sz="3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3.5   </a:t>
            </a:r>
            <a:r>
              <a:rPr lang="zh-CN" altLang="en-US" sz="3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标准溶液</a:t>
            </a:r>
          </a:p>
        </p:txBody>
      </p:sp>
      <p:sp>
        <p:nvSpPr>
          <p:cNvPr id="17412" name="Rectangle 3"/>
          <p:cNvSpPr>
            <a:spLocks noGrp="1" noChangeArrowheads="1"/>
          </p:cNvSpPr>
          <p:nvPr>
            <p:ph idx="1"/>
          </p:nvPr>
        </p:nvSpPr>
        <p:spPr>
          <a:xfrm>
            <a:off x="2457450" y="3500438"/>
            <a:ext cx="7277100" cy="666750"/>
          </a:xfrm>
          <a:noFill/>
        </p:spPr>
        <p:txBody>
          <a:bodyPr/>
          <a:lstStyle/>
          <a:p>
            <a:pPr marL="1798955" indent="-1798955" algn="just">
              <a:buNone/>
            </a:pPr>
            <a:r>
              <a:rPr lang="zh-CN" altLang="en-US" sz="2400" b="1" dirty="0">
                <a:solidFill>
                  <a:srgbClr val="C00000"/>
                </a:solidFill>
                <a:latin typeface="Times New Roman" panose="02020603050405020304" pitchFamily="18" charset="0"/>
                <a:ea typeface="微软雅黑" panose="020B0503020204020204" pitchFamily="34" charset="-122"/>
              </a:rPr>
              <a:t>基准物质</a:t>
            </a:r>
            <a:r>
              <a:rPr lang="zh-CN" altLang="en-US" sz="2400" b="1" dirty="0">
                <a:solidFill>
                  <a:srgbClr val="FF0000"/>
                </a:solidFill>
                <a:latin typeface="Times New Roman" panose="02020603050405020304" pitchFamily="18" charset="0"/>
                <a:ea typeface="微软雅黑" panose="020B0503020204020204" pitchFamily="34" charset="-122"/>
              </a:rPr>
              <a:t>：</a:t>
            </a:r>
            <a:r>
              <a:rPr lang="zh-CN" altLang="en-US" sz="2400" b="1" dirty="0">
                <a:latin typeface="Times New Roman" panose="02020603050405020304" pitchFamily="18" charset="0"/>
                <a:ea typeface="微软雅黑" panose="020B0503020204020204" pitchFamily="34" charset="-122"/>
              </a:rPr>
              <a:t>能用于直接配制和标定标准溶液的物质。    </a:t>
            </a:r>
          </a:p>
          <a:p>
            <a:pPr marL="1798955" indent="-1798955" algn="just">
              <a:buNone/>
            </a:pPr>
            <a:endParaRPr lang="zh-CN" altLang="en-US" sz="2400" b="1" dirty="0">
              <a:latin typeface="Times New Roman" panose="02020603050405020304" pitchFamily="18" charset="0"/>
              <a:ea typeface="微软雅黑" panose="020B0503020204020204" pitchFamily="34" charset="-122"/>
            </a:endParaRPr>
          </a:p>
        </p:txBody>
      </p:sp>
      <p:sp>
        <p:nvSpPr>
          <p:cNvPr id="17413" name="矩形 1"/>
          <p:cNvSpPr>
            <a:spLocks noChangeArrowheads="1"/>
          </p:cNvSpPr>
          <p:nvPr/>
        </p:nvSpPr>
        <p:spPr bwMode="auto">
          <a:xfrm>
            <a:off x="2247900" y="909638"/>
            <a:ext cx="5524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98955" indent="-1798955">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lgn="just" eaLnBrk="1" hangingPunct="1"/>
            <a:r>
              <a:rPr lang="zh-CN" altLang="en-US" sz="2400" dirty="0">
                <a:latin typeface="Times New Roman" panose="02020603050405020304" pitchFamily="18" charset="0"/>
                <a:ea typeface="微软雅黑" panose="020B0503020204020204" pitchFamily="34" charset="-122"/>
              </a:rPr>
              <a:t>标准溶液</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已知准确浓度的试剂溶液。</a:t>
            </a:r>
          </a:p>
        </p:txBody>
      </p:sp>
      <p:sp>
        <p:nvSpPr>
          <p:cNvPr id="8" name="Rectangle 3"/>
          <p:cNvSpPr txBox="1">
            <a:spLocks noChangeArrowheads="1"/>
          </p:cNvSpPr>
          <p:nvPr/>
        </p:nvSpPr>
        <p:spPr bwMode="auto">
          <a:xfrm>
            <a:off x="2073874" y="2014306"/>
            <a:ext cx="7543800" cy="1342686"/>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gn="just" eaLnBrk="1" hangingPunct="1">
              <a:buFontTx/>
              <a:buNone/>
              <a:defRPr/>
            </a:pPr>
            <a:r>
              <a:rPr lang="en-US" altLang="zh-CN" sz="2400" kern="0" dirty="0">
                <a:latin typeface="Times New Roman" panose="02020603050405020304" pitchFamily="18" charset="0"/>
                <a:ea typeface="微软雅黑" panose="020B0503020204020204" pitchFamily="34" charset="-122"/>
              </a:rPr>
              <a:t>1.  </a:t>
            </a:r>
            <a:r>
              <a:rPr lang="zh-CN" altLang="en-US" sz="2400" kern="0" dirty="0">
                <a:latin typeface="Times New Roman" panose="02020603050405020304" pitchFamily="18" charset="0"/>
                <a:ea typeface="微软雅黑" panose="020B0503020204020204" pitchFamily="34" charset="-122"/>
              </a:rPr>
              <a:t>直接法</a:t>
            </a:r>
          </a:p>
          <a:p>
            <a:pPr algn="just" eaLnBrk="1" hangingPunct="1">
              <a:spcBef>
                <a:spcPts val="1800"/>
              </a:spcBef>
              <a:buNone/>
              <a:defRPr/>
            </a:pPr>
            <a:r>
              <a:rPr lang="zh-CN" altLang="en-US" sz="2400" kern="0" dirty="0">
                <a:latin typeface="Times New Roman" panose="02020603050405020304" pitchFamily="18" charset="0"/>
                <a:ea typeface="微软雅黑" panose="020B0503020204020204" pitchFamily="34" charset="-122"/>
              </a:rPr>
              <a:t>     准确称量一定质量的试剂溶解并稀释至一定体积的容量瓶中，其浓度可以直接计算出来</a:t>
            </a:r>
            <a:r>
              <a:rPr lang="zh-CN" altLang="en-US" sz="2400" kern="0" dirty="0">
                <a:solidFill>
                  <a:srgbClr val="7030A0"/>
                </a:solidFill>
                <a:latin typeface="Times New Roman" panose="02020603050405020304" pitchFamily="18" charset="0"/>
                <a:ea typeface="微软雅黑" panose="020B0503020204020204" pitchFamily="34" charset="-122"/>
              </a:rPr>
              <a:t>。            </a:t>
            </a:r>
            <a:endParaRPr lang="en-US" altLang="zh-CN" sz="2400" kern="0" dirty="0">
              <a:solidFill>
                <a:srgbClr val="7030A0"/>
              </a:solidFill>
              <a:latin typeface="Times New Roman" panose="02020603050405020304" pitchFamily="18" charset="0"/>
              <a:ea typeface="微软雅黑" panose="020B0503020204020204" pitchFamily="34" charset="-122"/>
            </a:endParaRPr>
          </a:p>
        </p:txBody>
      </p:sp>
      <p:sp>
        <p:nvSpPr>
          <p:cNvPr id="9" name="Rectangle 3075"/>
          <p:cNvSpPr txBox="1">
            <a:spLocks noChangeArrowheads="1"/>
          </p:cNvSpPr>
          <p:nvPr/>
        </p:nvSpPr>
        <p:spPr bwMode="auto">
          <a:xfrm>
            <a:off x="2404730" y="4142119"/>
            <a:ext cx="7429500" cy="108012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609600" indent="-609600">
              <a:buClr>
                <a:schemeClr val="folHlink"/>
              </a:buClr>
              <a:buSzPct val="60000"/>
              <a:buNone/>
              <a:defRPr/>
            </a:pPr>
            <a:r>
              <a:rPr lang="zh-CN" altLang="en-US" sz="2400" b="1" kern="0" dirty="0">
                <a:latin typeface="Times New Roman" panose="02020603050405020304" pitchFamily="18" charset="0"/>
                <a:ea typeface="微软雅黑" panose="020B0503020204020204" pitchFamily="34" charset="-122"/>
                <a:cs typeface="Times New Roman" panose="02020603050405020304" pitchFamily="18" charset="0"/>
              </a:rPr>
              <a:t>基准物质需具备的条件</a:t>
            </a:r>
            <a:r>
              <a:rPr lang="en-US" altLang="zh-CN" sz="2400" b="1" kern="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kern="0" dirty="0">
                <a:latin typeface="Times New Roman" panose="02020603050405020304" pitchFamily="18" charset="0"/>
                <a:ea typeface="微软雅黑" panose="020B0503020204020204" pitchFamily="34" charset="-122"/>
                <a:cs typeface="Times New Roman" panose="02020603050405020304" pitchFamily="18" charset="0"/>
              </a:rPr>
              <a:t>表</a:t>
            </a:r>
            <a:r>
              <a:rPr lang="en-US" altLang="zh-CN" sz="2400" b="1" kern="0" dirty="0">
                <a:latin typeface="Times New Roman" panose="02020603050405020304" pitchFamily="18" charset="0"/>
                <a:ea typeface="微软雅黑" panose="020B0503020204020204" pitchFamily="34" charset="-122"/>
                <a:cs typeface="Times New Roman" panose="02020603050405020304" pitchFamily="18" charset="0"/>
              </a:rPr>
              <a:t>2.1, P11/12)</a:t>
            </a:r>
          </a:p>
        </p:txBody>
      </p:sp>
      <p:sp>
        <p:nvSpPr>
          <p:cNvPr id="17416" name="Rectangle 12"/>
          <p:cNvSpPr>
            <a:spLocks noChangeArrowheads="1"/>
          </p:cNvSpPr>
          <p:nvPr/>
        </p:nvSpPr>
        <p:spPr bwMode="auto">
          <a:xfrm>
            <a:off x="1793294" y="1564061"/>
            <a:ext cx="3196709" cy="461665"/>
          </a:xfrm>
          <a:prstGeom prst="rect">
            <a:avLst/>
          </a:prstGeom>
          <a:solidFill>
            <a:schemeClr val="bg1">
              <a:lumMod val="95000"/>
            </a:schemeClr>
          </a:solidFill>
          <a:ln>
            <a:noFill/>
          </a:ln>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r>
              <a:rPr lang="en-US" altLang="zh-CN"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3.5.1  </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标准溶液的配制 </a:t>
            </a:r>
          </a:p>
        </p:txBody>
      </p:sp>
      <p:sp>
        <p:nvSpPr>
          <p:cNvPr id="2" name="矩形 1"/>
          <p:cNvSpPr/>
          <p:nvPr/>
        </p:nvSpPr>
        <p:spPr>
          <a:xfrm>
            <a:off x="2385036" y="5055568"/>
            <a:ext cx="3734445" cy="461665"/>
          </a:xfrm>
          <a:prstGeom prst="rect">
            <a:avLst/>
          </a:prstGeom>
        </p:spPr>
        <p:txBody>
          <a:bodyPr wrap="square">
            <a:spAutoFit/>
          </a:bodyPr>
          <a:lstStyle/>
          <a:p>
            <a:pPr marL="609600" indent="-609600">
              <a:spcBef>
                <a:spcPts val="1800"/>
              </a:spcBef>
              <a:buClr>
                <a:srgbClr val="800080"/>
              </a:buClr>
              <a:buSzPct val="60000"/>
              <a:defRPr/>
            </a:pPr>
            <a:r>
              <a:rPr lang="en-US" altLang="zh-CN" sz="2400" kern="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kern="0" dirty="0">
                <a:latin typeface="Times New Roman" panose="02020603050405020304" pitchFamily="18" charset="0"/>
                <a:ea typeface="微软雅黑" panose="020B0503020204020204" pitchFamily="34" charset="-122"/>
                <a:cs typeface="Times New Roman" panose="02020603050405020304" pitchFamily="18" charset="0"/>
              </a:rPr>
              <a:t>试剂纯度高，</a:t>
            </a:r>
            <a:r>
              <a:rPr lang="en-US" altLang="zh-CN" sz="2400" kern="0" dirty="0">
                <a:latin typeface="Times New Roman" panose="02020603050405020304" pitchFamily="18" charset="0"/>
                <a:ea typeface="微软雅黑" panose="020B0503020204020204" pitchFamily="34" charset="-122"/>
                <a:cs typeface="Times New Roman" panose="02020603050405020304" pitchFamily="18" charset="0"/>
              </a:rPr>
              <a:t>&gt; 99.9%</a:t>
            </a:r>
          </a:p>
        </p:txBody>
      </p:sp>
      <p:sp>
        <p:nvSpPr>
          <p:cNvPr id="3" name="矩形 2"/>
          <p:cNvSpPr/>
          <p:nvPr/>
        </p:nvSpPr>
        <p:spPr>
          <a:xfrm>
            <a:off x="2396500" y="5496996"/>
            <a:ext cx="4347572" cy="461665"/>
          </a:xfrm>
          <a:prstGeom prst="rect">
            <a:avLst/>
          </a:prstGeom>
        </p:spPr>
        <p:txBody>
          <a:bodyPr wrap="square">
            <a:spAutoFit/>
          </a:bodyPr>
          <a:lstStyle/>
          <a:p>
            <a:pPr marL="609600" indent="-609600">
              <a:buClr>
                <a:srgbClr val="800080"/>
              </a:buClr>
              <a:buSzPct val="60000"/>
              <a:defRPr/>
            </a:pPr>
            <a:r>
              <a:rPr lang="en-US" altLang="zh-CN" sz="2400" kern="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kern="0" dirty="0">
                <a:latin typeface="Times New Roman" panose="02020603050405020304" pitchFamily="18" charset="0"/>
                <a:ea typeface="微软雅黑" panose="020B0503020204020204" pitchFamily="34" charset="-122"/>
                <a:cs typeface="Times New Roman" panose="02020603050405020304" pitchFamily="18" charset="0"/>
              </a:rPr>
              <a:t>性质稳定</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不分解，</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O</a:t>
            </a:r>
            <a:r>
              <a:rPr kumimoji="1"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CO</a:t>
            </a:r>
            <a:r>
              <a:rPr kumimoji="1"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H</a:t>
            </a:r>
            <a:r>
              <a:rPr kumimoji="1"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zh-CN" sz="2000" dirty="0">
                <a:latin typeface="Times New Roman" panose="02020603050405020304" pitchFamily="18" charset="0"/>
                <a:ea typeface="微软雅黑" panose="020B0503020204020204" pitchFamily="34" charset="-122"/>
                <a:cs typeface="Times New Roman" panose="02020603050405020304" pitchFamily="18" charset="0"/>
              </a:rPr>
              <a:t>O)</a:t>
            </a:r>
            <a:endParaRPr lang="en-US" altLang="zh-CN" sz="2400" kern="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a:xfrm>
            <a:off x="2396500" y="5958661"/>
            <a:ext cx="9546203" cy="461665"/>
          </a:xfrm>
          <a:prstGeom prst="rect">
            <a:avLst/>
          </a:prstGeom>
        </p:spPr>
        <p:txBody>
          <a:bodyPr wrap="none">
            <a:spAutoFit/>
          </a:bodyPr>
          <a:lstStyle/>
          <a:p>
            <a:pPr marL="609600" indent="-609600">
              <a:buClr>
                <a:srgbClr val="800080"/>
              </a:buClr>
              <a:buSzPct val="60000"/>
              <a:defRPr/>
            </a:pPr>
            <a:r>
              <a:rPr kumimoji="1" lang="en-US" altLang="zh-CN" sz="2400" dirty="0">
                <a:latin typeface="Times New Roman" panose="02020603050405020304" pitchFamily="18" charset="0"/>
                <a:ea typeface="微软雅黑" panose="020B0503020204020204" pitchFamily="34" charset="-122"/>
                <a:cs typeface="Times New Roman" panose="02020603050405020304" pitchFamily="18" charset="0"/>
              </a:rPr>
              <a:t>(4)</a:t>
            </a:r>
            <a:r>
              <a:rPr kumimoji="1"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最好具有比较大的</a:t>
            </a:r>
            <a:r>
              <a:rPr lang="zh-CN" altLang="en-US" sz="2400" kern="0" dirty="0">
                <a:latin typeface="Times New Roman" panose="02020603050405020304" pitchFamily="18" charset="0"/>
                <a:ea typeface="微软雅黑" panose="020B0503020204020204" pitchFamily="34" charset="-122"/>
                <a:cs typeface="Times New Roman" panose="02020603050405020304" pitchFamily="18" charset="0"/>
              </a:rPr>
              <a:t>摩尔质量大 （称样量相对较大、减少测量误差）</a:t>
            </a:r>
            <a:endParaRPr lang="en-US" altLang="zh-CN" sz="2400" kern="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2396500" y="4581129"/>
            <a:ext cx="4826962" cy="461665"/>
          </a:xfrm>
          <a:prstGeom prst="rect">
            <a:avLst/>
          </a:prstGeom>
        </p:spPr>
        <p:txBody>
          <a:bodyPr wrap="none">
            <a:spAutoFit/>
          </a:bodyPr>
          <a:lstStyle/>
          <a:p>
            <a:pPr marL="609600" indent="-609600">
              <a:spcBef>
                <a:spcPts val="1800"/>
              </a:spcBef>
              <a:buClr>
                <a:srgbClr val="800080"/>
              </a:buClr>
              <a:buSzPct val="60000"/>
              <a:defRPr/>
            </a:pPr>
            <a:r>
              <a:rPr lang="en-US" altLang="zh-CN" sz="2400" kern="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400" kern="0" dirty="0">
                <a:latin typeface="Times New Roman" panose="02020603050405020304" pitchFamily="18" charset="0"/>
                <a:ea typeface="微软雅黑" panose="020B0503020204020204" pitchFamily="34" charset="-122"/>
                <a:cs typeface="Times New Roman" panose="02020603050405020304" pitchFamily="18" charset="0"/>
              </a:rPr>
              <a:t>组成与化学式相符</a:t>
            </a:r>
            <a:r>
              <a:rPr lang="en-US" altLang="zh-CN" sz="2400" kern="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kern="0" dirty="0">
                <a:latin typeface="Times New Roman" panose="02020603050405020304" pitchFamily="18" charset="0"/>
                <a:ea typeface="微软雅黑" panose="020B0503020204020204" pitchFamily="34" charset="-122"/>
                <a:cs typeface="Times New Roman" panose="02020603050405020304" pitchFamily="18" charset="0"/>
              </a:rPr>
              <a:t>包括结晶水</a:t>
            </a:r>
            <a:r>
              <a:rPr lang="en-US" altLang="zh-CN" sz="2400" kern="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 name="矩形 12">
            <a:extLst>
              <a:ext uri="{FF2B5EF4-FFF2-40B4-BE49-F238E27FC236}">
                <a16:creationId xmlns:a16="http://schemas.microsoft.com/office/drawing/2014/main" id="{8D4F07B7-4C18-470E-B378-C9E3D7134A8E}"/>
              </a:ext>
            </a:extLst>
          </p:cNvPr>
          <p:cNvSpPr/>
          <p:nvPr/>
        </p:nvSpPr>
        <p:spPr>
          <a:xfrm>
            <a:off x="9048328" y="4395778"/>
            <a:ext cx="1980029" cy="1015663"/>
          </a:xfrm>
          <a:prstGeom prst="rect">
            <a:avLst/>
          </a:prstGeom>
        </p:spPr>
        <p:txBody>
          <a:bodyPr wrap="none">
            <a:spAutoFit/>
          </a:bodyPr>
          <a:lstStyle/>
          <a:p>
            <a:pPr marL="609600" indent="-609600">
              <a:buClr>
                <a:srgbClr val="800080"/>
              </a:buClr>
              <a:buSzPct val="60000"/>
              <a:defRPr/>
            </a:pPr>
            <a:r>
              <a:rPr kumimoji="1" lang="zh-CN" altLang="en-US" sz="20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无水碳酸钠</a:t>
            </a:r>
            <a:endParaRPr kumimoji="1" lang="en-US" altLang="zh-CN" sz="20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marL="609600" indent="-609600">
              <a:buClr>
                <a:srgbClr val="800080"/>
              </a:buClr>
              <a:buSzPct val="60000"/>
              <a:defRPr/>
            </a:pPr>
            <a:r>
              <a:rPr kumimoji="1" lang="zh-CN" altLang="en-US" sz="2000" kern="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硼砂</a:t>
            </a:r>
            <a:endParaRPr kumimoji="1" lang="en-US" altLang="zh-CN" sz="2000" kern="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marL="609600" indent="-609600">
              <a:buClr>
                <a:srgbClr val="800080"/>
              </a:buClr>
              <a:buSzPct val="60000"/>
              <a:defRPr/>
            </a:pPr>
            <a:r>
              <a:rPr kumimoji="1" lang="zh-CN" altLang="en-US" sz="2000" kern="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邻苯二甲酸氢钾</a:t>
            </a:r>
            <a:endParaRPr lang="en-US" altLang="zh-CN" sz="2000" kern="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7426"/>
    </mc:Choice>
    <mc:Fallback xmlns="">
      <p:transition spd="slow" advTm="15742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fade">
                                      <p:cBhvr>
                                        <p:cTn id="7" dur="1000"/>
                                        <p:tgtEl>
                                          <p:spTgt spid="17416"/>
                                        </p:tgtEl>
                                      </p:cBhvr>
                                    </p:animEffect>
                                    <p:anim calcmode="lin" valueType="num">
                                      <p:cBhvr>
                                        <p:cTn id="8" dur="1000" fill="hold"/>
                                        <p:tgtEl>
                                          <p:spTgt spid="17416"/>
                                        </p:tgtEl>
                                        <p:attrNameLst>
                                          <p:attrName>ppt_x</p:attrName>
                                        </p:attrNameLst>
                                      </p:cBhvr>
                                      <p:tavLst>
                                        <p:tav tm="0">
                                          <p:val>
                                            <p:strVal val="#ppt_x"/>
                                          </p:val>
                                        </p:tav>
                                        <p:tav tm="100000">
                                          <p:val>
                                            <p:strVal val="#ppt_x"/>
                                          </p:val>
                                        </p:tav>
                                      </p:tavLst>
                                    </p:anim>
                                    <p:anim calcmode="lin" valueType="num">
                                      <p:cBhvr>
                                        <p:cTn id="9" dur="1000" fill="hold"/>
                                        <p:tgtEl>
                                          <p:spTgt spid="174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7412">
                                            <p:txEl>
                                              <p:pRg st="0" end="0"/>
                                            </p:txEl>
                                          </p:spTgt>
                                        </p:tgtEl>
                                        <p:attrNameLst>
                                          <p:attrName>style.visibility</p:attrName>
                                        </p:attrNameLst>
                                      </p:cBhvr>
                                      <p:to>
                                        <p:strVal val="visible"/>
                                      </p:to>
                                    </p:set>
                                    <p:animEffect transition="in" filter="fade">
                                      <p:cBhvr>
                                        <p:cTn id="21" dur="1000"/>
                                        <p:tgtEl>
                                          <p:spTgt spid="17412">
                                            <p:txEl>
                                              <p:pRg st="0" end="0"/>
                                            </p:txEl>
                                          </p:spTgt>
                                        </p:tgtEl>
                                      </p:cBhvr>
                                    </p:animEffect>
                                    <p:anim calcmode="lin" valueType="num">
                                      <p:cBhvr>
                                        <p:cTn id="22" dur="1000" fill="hold"/>
                                        <p:tgtEl>
                                          <p:spTgt spid="1741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74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1000"/>
                                        <p:tgtEl>
                                          <p:spTgt spid="2"/>
                                        </p:tgtEl>
                                      </p:cBhvr>
                                    </p:animEffect>
                                    <p:anim calcmode="lin" valueType="num">
                                      <p:cBhvr>
                                        <p:cTn id="43" dur="1000" fill="hold"/>
                                        <p:tgtEl>
                                          <p:spTgt spid="2"/>
                                        </p:tgtEl>
                                        <p:attrNameLst>
                                          <p:attrName>ppt_x</p:attrName>
                                        </p:attrNameLst>
                                      </p:cBhvr>
                                      <p:tavLst>
                                        <p:tav tm="0">
                                          <p:val>
                                            <p:strVal val="#ppt_x"/>
                                          </p:val>
                                        </p:tav>
                                        <p:tav tm="100000">
                                          <p:val>
                                            <p:strVal val="#ppt_x"/>
                                          </p:val>
                                        </p:tav>
                                      </p:tavLst>
                                    </p:anim>
                                    <p:anim calcmode="lin" valueType="num">
                                      <p:cBhvr>
                                        <p:cTn id="4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1000"/>
                                        <p:tgtEl>
                                          <p:spTgt spid="3"/>
                                        </p:tgtEl>
                                      </p:cBhvr>
                                    </p:animEffect>
                                    <p:anim calcmode="lin" valueType="num">
                                      <p:cBhvr>
                                        <p:cTn id="50" dur="1000" fill="hold"/>
                                        <p:tgtEl>
                                          <p:spTgt spid="3"/>
                                        </p:tgtEl>
                                        <p:attrNameLst>
                                          <p:attrName>ppt_x</p:attrName>
                                        </p:attrNameLst>
                                      </p:cBhvr>
                                      <p:tavLst>
                                        <p:tav tm="0">
                                          <p:val>
                                            <p:strVal val="#ppt_x"/>
                                          </p:val>
                                        </p:tav>
                                        <p:tav tm="100000">
                                          <p:val>
                                            <p:strVal val="#ppt_x"/>
                                          </p:val>
                                        </p:tav>
                                      </p:tavLst>
                                    </p:anim>
                                    <p:anim calcmode="lin" valueType="num">
                                      <p:cBhvr>
                                        <p:cTn id="5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fade">
                                      <p:cBhvr>
                                        <p:cTn id="56" dur="1000"/>
                                        <p:tgtEl>
                                          <p:spTgt spid="4"/>
                                        </p:tgtEl>
                                      </p:cBhvr>
                                    </p:animEffect>
                                    <p:anim calcmode="lin" valueType="num">
                                      <p:cBhvr>
                                        <p:cTn id="57" dur="1000" fill="hold"/>
                                        <p:tgtEl>
                                          <p:spTgt spid="4"/>
                                        </p:tgtEl>
                                        <p:attrNameLst>
                                          <p:attrName>ppt_x</p:attrName>
                                        </p:attrNameLst>
                                      </p:cBhvr>
                                      <p:tavLst>
                                        <p:tav tm="0">
                                          <p:val>
                                            <p:strVal val="#ppt_x"/>
                                          </p:val>
                                        </p:tav>
                                        <p:tav tm="100000">
                                          <p:val>
                                            <p:strVal val="#ppt_x"/>
                                          </p:val>
                                        </p:tav>
                                      </p:tavLst>
                                    </p:anim>
                                    <p:anim calcmode="lin" valueType="num">
                                      <p:cBhvr>
                                        <p:cTn id="5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1000"/>
                                        <p:tgtEl>
                                          <p:spTgt spid="13"/>
                                        </p:tgtEl>
                                      </p:cBhvr>
                                    </p:animEffect>
                                    <p:anim calcmode="lin" valueType="num">
                                      <p:cBhvr>
                                        <p:cTn id="64" dur="1000" fill="hold"/>
                                        <p:tgtEl>
                                          <p:spTgt spid="13"/>
                                        </p:tgtEl>
                                        <p:attrNameLst>
                                          <p:attrName>ppt_x</p:attrName>
                                        </p:attrNameLst>
                                      </p:cBhvr>
                                      <p:tavLst>
                                        <p:tav tm="0">
                                          <p:val>
                                            <p:strVal val="#ppt_x"/>
                                          </p:val>
                                        </p:tav>
                                        <p:tav tm="100000">
                                          <p:val>
                                            <p:strVal val="#ppt_x"/>
                                          </p:val>
                                        </p:tav>
                                      </p:tavLst>
                                    </p:anim>
                                    <p:anim calcmode="lin" valueType="num">
                                      <p:cBhvr>
                                        <p:cTn id="6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build="p"/>
      <p:bldP spid="8" grpId="0"/>
      <p:bldP spid="9" grpId="0"/>
      <p:bldP spid="17416" grpId="0" animBg="1"/>
      <p:bldP spid="2" grpId="0"/>
      <p:bldP spid="3" grpId="0"/>
      <p:bldP spid="4" grpId="0"/>
      <p:bldP spid="5"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4"/>
          <p:cNvSpPr>
            <a:spLocks noChangeArrowheads="1"/>
          </p:cNvSpPr>
          <p:nvPr/>
        </p:nvSpPr>
        <p:spPr bwMode="auto">
          <a:xfrm>
            <a:off x="2278064" y="1600201"/>
            <a:ext cx="7704137"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lgn="just">
              <a:lnSpc>
                <a:spcPct val="150000"/>
              </a:lnSpc>
              <a:spcBef>
                <a:spcPts val="600"/>
              </a:spcBef>
            </a:pPr>
            <a:endParaRPr lang="zh-CN" altLang="en-US" sz="2400" dirty="0">
              <a:latin typeface="Times New Roman" panose="02020603050405020304" pitchFamily="18" charset="0"/>
              <a:ea typeface="微软雅黑" panose="020B0503020204020204" pitchFamily="34" charset="-122"/>
            </a:endParaRPr>
          </a:p>
        </p:txBody>
      </p:sp>
      <p:sp>
        <p:nvSpPr>
          <p:cNvPr id="6" name="Rectangle 3"/>
          <p:cNvSpPr txBox="1">
            <a:spLocks noChangeArrowheads="1"/>
          </p:cNvSpPr>
          <p:nvPr/>
        </p:nvSpPr>
        <p:spPr bwMode="auto">
          <a:xfrm>
            <a:off x="2019300" y="685800"/>
            <a:ext cx="3314700" cy="649288"/>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gn="just" eaLnBrk="1" hangingPunct="1">
              <a:buFontTx/>
              <a:buNone/>
              <a:defRPr/>
            </a:pPr>
            <a:r>
              <a:rPr lang="en-US" altLang="zh-CN" sz="2800" b="1" kern="0" dirty="0">
                <a:latin typeface="Times New Roman" panose="02020603050405020304" pitchFamily="18" charset="0"/>
                <a:ea typeface="微软雅黑" panose="020B0503020204020204" pitchFamily="34" charset="-122"/>
              </a:rPr>
              <a:t>2.  </a:t>
            </a:r>
            <a:r>
              <a:rPr lang="zh-CN" altLang="en-US" sz="2800" b="1" kern="0" dirty="0">
                <a:latin typeface="Times New Roman" panose="02020603050405020304" pitchFamily="18" charset="0"/>
                <a:ea typeface="微软雅黑" panose="020B0503020204020204" pitchFamily="34" charset="-122"/>
              </a:rPr>
              <a:t>间接法</a:t>
            </a:r>
          </a:p>
        </p:txBody>
      </p:sp>
      <p:sp>
        <p:nvSpPr>
          <p:cNvPr id="19461" name="文本框 1"/>
          <p:cNvSpPr txBox="1">
            <a:spLocks noChangeArrowheads="1"/>
          </p:cNvSpPr>
          <p:nvPr/>
        </p:nvSpPr>
        <p:spPr bwMode="auto">
          <a:xfrm>
            <a:off x="1559496" y="2556164"/>
            <a:ext cx="9422371" cy="1770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lnSpc>
                <a:spcPct val="150000"/>
              </a:lnSpc>
            </a:pPr>
            <a:r>
              <a:rPr lang="zh-CN" altLang="zh-CN" sz="2400" dirty="0">
                <a:latin typeface="微软雅黑" panose="020B0503020204020204" pitchFamily="34" charset="-122"/>
                <a:ea typeface="微软雅黑" panose="020B0503020204020204" pitchFamily="34" charset="-122"/>
              </a:rPr>
              <a:t>先粗略地称取一定量物质或量取一定量体积溶液，大致配成所需浓度，再用合适的基准物质或标准溶液确定其准确浓度，即通过滴定的数据计算出来。这种确定浓度的过程称为</a:t>
            </a:r>
            <a:r>
              <a:rPr lang="en-US" altLang="zh-CN" sz="2400" dirty="0">
                <a:latin typeface="微软雅黑" panose="020B0503020204020204" pitchFamily="34" charset="-122"/>
                <a:ea typeface="微软雅黑" panose="020B0503020204020204" pitchFamily="34" charset="-122"/>
              </a:rPr>
              <a:t> </a:t>
            </a:r>
            <a:r>
              <a:rPr lang="zh-CN" altLang="zh-CN" sz="2800" dirty="0">
                <a:solidFill>
                  <a:srgbClr val="C00000"/>
                </a:solidFill>
                <a:latin typeface="微软雅黑" panose="020B0503020204020204" pitchFamily="34" charset="-122"/>
                <a:ea typeface="微软雅黑" panose="020B0503020204020204" pitchFamily="34" charset="-122"/>
              </a:rPr>
              <a:t>标定</a:t>
            </a:r>
            <a:r>
              <a:rPr lang="zh-CN"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3" name="矩形 2"/>
          <p:cNvSpPr/>
          <p:nvPr/>
        </p:nvSpPr>
        <p:spPr>
          <a:xfrm>
            <a:off x="2495600" y="1579945"/>
            <a:ext cx="6120680" cy="461665"/>
          </a:xfrm>
          <a:prstGeom prst="rect">
            <a:avLst/>
          </a:prstGeom>
        </p:spPr>
        <p:txBody>
          <a:bodyPr wrap="square">
            <a:spAutoFit/>
          </a:bodyPr>
          <a:lstStyle/>
          <a:p>
            <a:r>
              <a:rPr lang="zh-CN" altLang="zh-CN" sz="2400" b="1" dirty="0">
                <a:latin typeface="微软雅黑" panose="020B0503020204020204" pitchFamily="34" charset="-122"/>
                <a:ea typeface="微软雅黑" panose="020B0503020204020204" pitchFamily="34" charset="-122"/>
              </a:rPr>
              <a:t>盐酸、氢氧化钠、高锰酸钾、硫代硫酸钠</a:t>
            </a:r>
            <a:endParaRPr lang="zh-CN" altLang="en-US" b="1" dirty="0"/>
          </a:p>
        </p:txBody>
      </p:sp>
      <p:sp>
        <p:nvSpPr>
          <p:cNvPr id="2" name="TextBox 1"/>
          <p:cNvSpPr txBox="1"/>
          <p:nvPr/>
        </p:nvSpPr>
        <p:spPr>
          <a:xfrm>
            <a:off x="2477875" y="5116542"/>
            <a:ext cx="1909497" cy="400110"/>
          </a:xfrm>
          <a:prstGeom prst="rect">
            <a:avLst/>
          </a:prstGeom>
          <a:noFill/>
        </p:spPr>
        <p:txBody>
          <a:bodyPr wrap="none" rtlCol="0">
            <a:spAutoFit/>
          </a:bodyPr>
          <a:lstStyle/>
          <a:p>
            <a:r>
              <a:rPr lang="en-US" altLang="zh-CN" sz="2000" b="1" dirty="0"/>
              <a:t>3~4</a:t>
            </a:r>
            <a:r>
              <a:rPr lang="zh-CN" altLang="en-US" sz="2000" b="1" dirty="0"/>
              <a:t>次平行测量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3702"/>
    </mc:Choice>
    <mc:Fallback xmlns="">
      <p:transition spd="slow" advTm="6370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1" name="矩形 3"/>
          <p:cNvSpPr>
            <a:spLocks noChangeArrowheads="1"/>
          </p:cNvSpPr>
          <p:nvPr/>
        </p:nvSpPr>
        <p:spPr bwMode="auto">
          <a:xfrm>
            <a:off x="1979614" y="1169988"/>
            <a:ext cx="4687502"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marL="457200" indent="-457200">
              <a:lnSpc>
                <a:spcPct val="90000"/>
              </a:lnSpc>
              <a:buAutoNum type="arabicPeriod"/>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物质的量</a:t>
            </a:r>
            <a:r>
              <a:rPr lang="en-US" altLang="zh-CN" sz="2400" dirty="0">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rPr>
              <a:t>n</a:t>
            </a:r>
            <a:r>
              <a:rPr lang="en-US" altLang="zh-CN" sz="2400" i="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mol</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mmol)</a:t>
            </a:r>
            <a:r>
              <a:rPr lang="zh-CN" altLang="en-US"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p:txBody>
      </p:sp>
      <p:sp>
        <p:nvSpPr>
          <p:cNvPr id="3082" name="Rectangle 3"/>
          <p:cNvSpPr>
            <a:spLocks noChangeArrowheads="1"/>
          </p:cNvSpPr>
          <p:nvPr/>
        </p:nvSpPr>
        <p:spPr bwMode="auto">
          <a:xfrm>
            <a:off x="7629525" y="6059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sp>
        <p:nvSpPr>
          <p:cNvPr id="3084" name="Rectangle 5"/>
          <p:cNvSpPr>
            <a:spLocks noChangeArrowheads="1"/>
          </p:cNvSpPr>
          <p:nvPr/>
        </p:nvSpPr>
        <p:spPr bwMode="auto">
          <a:xfrm>
            <a:off x="5041900" y="1229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sp>
        <p:nvSpPr>
          <p:cNvPr id="3085" name="矩形 9"/>
          <p:cNvSpPr>
            <a:spLocks noChangeArrowheads="1"/>
          </p:cNvSpPr>
          <p:nvPr/>
        </p:nvSpPr>
        <p:spPr bwMode="auto">
          <a:xfrm>
            <a:off x="1979613" y="2348880"/>
            <a:ext cx="3623108"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lnSpc>
                <a:spcPct val="90000"/>
              </a:lnSpc>
            </a:pPr>
            <a:r>
              <a:rPr lang="en-US" altLang="zh-CN" sz="2400" dirty="0">
                <a:latin typeface="Times New Roman" panose="02020603050405020304" pitchFamily="18" charset="0"/>
                <a:cs typeface="Times New Roman" panose="02020603050405020304" pitchFamily="18" charset="0"/>
              </a:rPr>
              <a:t>2</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摩尔质量</a:t>
            </a:r>
            <a:r>
              <a:rPr lang="en-US" altLang="zh-CN" sz="2400" dirty="0">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rPr>
              <a:t>M</a:t>
            </a:r>
            <a:r>
              <a:rPr lang="en-US" altLang="zh-CN" sz="2400" i="1" dirty="0">
                <a:solidFill>
                  <a:schemeClr val="hlink"/>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(g·mol</a:t>
            </a:r>
            <a:r>
              <a:rPr lang="en-US" altLang="zh-CN" sz="2400" baseline="30000" dirty="0">
                <a:latin typeface="Times New Roman" panose="02020603050405020304" pitchFamily="18" charset="0"/>
                <a:cs typeface="Times New Roman" panose="02020603050405020304" pitchFamily="18" charset="0"/>
              </a:rPr>
              <a:t>-1</a:t>
            </a:r>
            <a:r>
              <a:rPr lang="en-US" altLang="zh-CN" sz="2400" dirty="0">
                <a:latin typeface="Times New Roman" panose="02020603050405020304" pitchFamily="18" charset="0"/>
                <a:cs typeface="Times New Roman" panose="02020603050405020304" pitchFamily="18" charset="0"/>
              </a:rPr>
              <a:t>)</a:t>
            </a:r>
          </a:p>
        </p:txBody>
      </p:sp>
      <p:sp>
        <p:nvSpPr>
          <p:cNvPr id="3086" name="Rectangle 7"/>
          <p:cNvSpPr>
            <a:spLocks noChangeArrowheads="1"/>
          </p:cNvSpPr>
          <p:nvPr/>
        </p:nvSpPr>
        <p:spPr bwMode="auto">
          <a:xfrm>
            <a:off x="5148263" y="18457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graphicFrame>
        <p:nvGraphicFramePr>
          <p:cNvPr id="3076" name="对象 11"/>
          <p:cNvGraphicFramePr>
            <a:graphicFrameLocks noChangeAspect="1"/>
          </p:cNvGraphicFramePr>
          <p:nvPr/>
        </p:nvGraphicFramePr>
        <p:xfrm>
          <a:off x="7215188" y="2822278"/>
          <a:ext cx="876300" cy="690563"/>
        </p:xfrm>
        <a:graphic>
          <a:graphicData uri="http://schemas.openxmlformats.org/presentationml/2006/ole">
            <mc:AlternateContent xmlns:mc="http://schemas.openxmlformats.org/markup-compatibility/2006">
              <mc:Choice xmlns:v="urn:schemas-microsoft-com:vml" Requires="v">
                <p:oleObj spid="_x0000_s253844" name="公式" r:id="rId4" imgW="495300" imgH="393700" progId="Equation.3">
                  <p:embed/>
                </p:oleObj>
              </mc:Choice>
              <mc:Fallback>
                <p:oleObj name="公式" r:id="rId4" imgW="495300" imgH="393700" progId="Equation.3">
                  <p:embed/>
                  <p:pic>
                    <p:nvPicPr>
                      <p:cNvPr id="0" name="图片 2537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5188" y="2822278"/>
                        <a:ext cx="8763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88" name="矩形 12"/>
          <p:cNvSpPr>
            <a:spLocks noChangeArrowheads="1"/>
          </p:cNvSpPr>
          <p:nvPr/>
        </p:nvSpPr>
        <p:spPr bwMode="auto">
          <a:xfrm>
            <a:off x="1936318" y="3861048"/>
            <a:ext cx="392126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lnSpc>
                <a:spcPct val="90000"/>
              </a:lnSpc>
            </a:pPr>
            <a:r>
              <a:rPr lang="en-US" altLang="zh-CN" sz="2400" dirty="0">
                <a:latin typeface="Times New Roman" panose="02020603050405020304" pitchFamily="18" charset="0"/>
                <a:cs typeface="Times New Roman" panose="02020603050405020304" pitchFamily="18" charset="0"/>
              </a:rPr>
              <a:t>3.</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物质的量浓度</a:t>
            </a:r>
            <a:r>
              <a:rPr lang="en-US" altLang="zh-CN" sz="2400" dirty="0">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rPr>
              <a:t>c</a:t>
            </a:r>
            <a:r>
              <a:rPr lang="en-US" altLang="zh-CN" sz="2400" i="1" dirty="0">
                <a:solidFill>
                  <a:schemeClr val="hlink"/>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(mol·L</a:t>
            </a:r>
            <a:r>
              <a:rPr lang="en-US" altLang="zh-CN" sz="2400" baseline="30000" dirty="0">
                <a:latin typeface="Times New Roman" panose="02020603050405020304" pitchFamily="18" charset="0"/>
                <a:cs typeface="Times New Roman" panose="02020603050405020304" pitchFamily="18" charset="0"/>
              </a:rPr>
              <a:t>-1</a:t>
            </a:r>
            <a:r>
              <a:rPr lang="en-US" altLang="zh-CN" sz="2400" dirty="0">
                <a:latin typeface="Times New Roman" panose="02020603050405020304" pitchFamily="18" charset="0"/>
                <a:cs typeface="Times New Roman" panose="02020603050405020304" pitchFamily="18" charset="0"/>
              </a:rPr>
              <a:t>)</a:t>
            </a:r>
          </a:p>
        </p:txBody>
      </p:sp>
      <p:sp>
        <p:nvSpPr>
          <p:cNvPr id="3089" name="Rectangle 9"/>
          <p:cNvSpPr>
            <a:spLocks noChangeArrowheads="1"/>
          </p:cNvSpPr>
          <p:nvPr/>
        </p:nvSpPr>
        <p:spPr bwMode="auto">
          <a:xfrm>
            <a:off x="5041900" y="28665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graphicFrame>
        <p:nvGraphicFramePr>
          <p:cNvPr id="3077" name="对象 14"/>
          <p:cNvGraphicFramePr>
            <a:graphicFrameLocks noChangeAspect="1"/>
          </p:cNvGraphicFramePr>
          <p:nvPr/>
        </p:nvGraphicFramePr>
        <p:xfrm>
          <a:off x="7629032" y="4174877"/>
          <a:ext cx="969963" cy="723900"/>
        </p:xfrm>
        <a:graphic>
          <a:graphicData uri="http://schemas.openxmlformats.org/presentationml/2006/ole">
            <mc:AlternateContent xmlns:mc="http://schemas.openxmlformats.org/markup-compatibility/2006">
              <mc:Choice xmlns:v="urn:schemas-microsoft-com:vml" Requires="v">
                <p:oleObj spid="_x0000_s253845" name="公式" r:id="rId6" imgW="520700" imgH="393700" progId="Equation.3">
                  <p:embed/>
                </p:oleObj>
              </mc:Choice>
              <mc:Fallback>
                <p:oleObj name="公式" r:id="rId6" imgW="520700" imgH="393700" progId="Equation.3">
                  <p:embed/>
                  <p:pic>
                    <p:nvPicPr>
                      <p:cNvPr id="0" name="图片 25378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9032" y="4174877"/>
                        <a:ext cx="96996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91" name="Rectangle 11"/>
          <p:cNvSpPr>
            <a:spLocks noChangeArrowheads="1"/>
          </p:cNvSpPr>
          <p:nvPr/>
        </p:nvSpPr>
        <p:spPr bwMode="auto">
          <a:xfrm>
            <a:off x="7653338" y="88228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sp>
        <p:nvSpPr>
          <p:cNvPr id="3092" name="Rectangle 13"/>
          <p:cNvSpPr>
            <a:spLocks noChangeArrowheads="1"/>
          </p:cNvSpPr>
          <p:nvPr/>
        </p:nvSpPr>
        <p:spPr bwMode="auto">
          <a:xfrm>
            <a:off x="4084638" y="40222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sp>
        <p:nvSpPr>
          <p:cNvPr id="21" name="Rectangle 12"/>
          <p:cNvSpPr>
            <a:spLocks noChangeArrowheads="1"/>
          </p:cNvSpPr>
          <p:nvPr/>
        </p:nvSpPr>
        <p:spPr bwMode="auto">
          <a:xfrm>
            <a:off x="499477" y="397281"/>
            <a:ext cx="5068888" cy="523875"/>
          </a:xfrm>
          <a:prstGeom prst="rect">
            <a:avLst/>
          </a:prstGeom>
          <a:solidFill>
            <a:schemeClr val="bg1">
              <a:lumMod val="95000"/>
            </a:schemeClr>
          </a:solidFill>
          <a:ln>
            <a:noFill/>
          </a:ln>
          <a:effec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defRPr/>
            </a:pPr>
            <a:r>
              <a:rPr lang="en-US" altLang="zh-CN" sz="2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3.5.2</a:t>
            </a:r>
            <a:r>
              <a:rPr lang="en-US" altLang="zh-CN" sz="2800" dirty="0">
                <a:solidFill>
                  <a:srgbClr val="C00000"/>
                </a:solidFill>
                <a:latin typeface="+mn-lt"/>
                <a:ea typeface="微软雅黑" panose="020B0503020204020204" pitchFamily="34" charset="-122"/>
                <a:cs typeface="Times New Roman" panose="02020603050405020304" pitchFamily="18" charset="0"/>
              </a:rPr>
              <a:t>  </a:t>
            </a:r>
            <a:r>
              <a:rPr lang="zh-CN" altLang="en-US" sz="2800" dirty="0">
                <a:solidFill>
                  <a:srgbClr val="C00000"/>
                </a:solidFill>
                <a:latin typeface="+mn-lt"/>
                <a:ea typeface="微软雅黑" panose="020B0503020204020204" pitchFamily="34" charset="-122"/>
                <a:cs typeface="Times New Roman" panose="02020603050405020304" pitchFamily="18" charset="0"/>
              </a:rPr>
              <a:t>标准溶液浓度的表示方法</a:t>
            </a:r>
            <a:endParaRPr lang="zh-CN" altLang="en-US" sz="2800" dirty="0">
              <a:solidFill>
                <a:srgbClr val="C00000"/>
              </a:solidFill>
              <a:latin typeface="+mn-lt"/>
              <a:ea typeface="微软雅黑" panose="020B0503020204020204" pitchFamily="34" charset="-122"/>
            </a:endParaRPr>
          </a:p>
        </p:txBody>
      </p:sp>
      <p:sp>
        <p:nvSpPr>
          <p:cNvPr id="26" name="TextBox 25"/>
          <p:cNvSpPr txBox="1"/>
          <p:nvPr/>
        </p:nvSpPr>
        <p:spPr>
          <a:xfrm>
            <a:off x="4799857" y="5079757"/>
            <a:ext cx="6849417" cy="494238"/>
          </a:xfrm>
          <a:prstGeom prst="rect">
            <a:avLst/>
          </a:prstGeom>
          <a:noFill/>
        </p:spPr>
        <p:txBody>
          <a:bodyPr wrap="square" rtlCol="0">
            <a:spAutoFit/>
          </a:bodyPr>
          <a:lstStyle/>
          <a:p>
            <a:pPr>
              <a:lnSpc>
                <a:spcPct val="150000"/>
              </a:lnSpc>
            </a:pPr>
            <a:r>
              <a:rPr lang="en-US" altLang="zh-CN" sz="2000" i="1" dirty="0" err="1"/>
              <a:t>n</a:t>
            </a:r>
            <a:r>
              <a:rPr lang="en-US" altLang="zh-CN" sz="2000" i="1" baseline="-25000" dirty="0" err="1"/>
              <a:t>B</a:t>
            </a:r>
            <a:r>
              <a:rPr lang="zh-CN" altLang="en-US" sz="2000" dirty="0"/>
              <a:t>：溶液中溶质</a:t>
            </a:r>
            <a:r>
              <a:rPr lang="en-US" altLang="zh-CN" sz="2000" dirty="0"/>
              <a:t>B</a:t>
            </a:r>
            <a:r>
              <a:rPr lang="zh-CN" altLang="en-US" sz="2000" dirty="0"/>
              <a:t>的物质的量     </a:t>
            </a:r>
            <a:r>
              <a:rPr lang="en-US" altLang="zh-CN" sz="2000" i="1" dirty="0"/>
              <a:t>V</a:t>
            </a:r>
            <a:r>
              <a:rPr lang="en-US" altLang="zh-CN" sz="2000" dirty="0"/>
              <a:t> </a:t>
            </a:r>
            <a:r>
              <a:rPr lang="zh-CN" altLang="en-US" sz="2000" dirty="0"/>
              <a:t>：溶液的体积</a:t>
            </a:r>
          </a:p>
        </p:txBody>
      </p:sp>
      <p:sp>
        <p:nvSpPr>
          <p:cNvPr id="3" name="TextBox 2"/>
          <p:cNvSpPr txBox="1"/>
          <p:nvPr/>
        </p:nvSpPr>
        <p:spPr>
          <a:xfrm>
            <a:off x="8457678" y="2959330"/>
            <a:ext cx="2209259" cy="646331"/>
          </a:xfrm>
          <a:prstGeom prst="rect">
            <a:avLst/>
          </a:prstGeom>
          <a:noFill/>
        </p:spPr>
        <p:txBody>
          <a:bodyPr wrap="none" rtlCol="0">
            <a:spAutoFit/>
          </a:bodyPr>
          <a:lstStyle/>
          <a:p>
            <a:pPr lvl="0">
              <a:lnSpc>
                <a:spcPct val="90000"/>
              </a:lnSpc>
            </a:pPr>
            <a:r>
              <a:rPr lang="en-US" altLang="zh-CN" i="1" dirty="0">
                <a:latin typeface="Times New Roman" panose="02020603050405020304" pitchFamily="18" charset="0"/>
                <a:cs typeface="Times New Roman" panose="02020603050405020304" pitchFamily="18" charset="0"/>
              </a:rPr>
              <a:t>M</a:t>
            </a:r>
            <a:r>
              <a:rPr lang="en-US" altLang="zh-CN" dirty="0">
                <a:latin typeface="Times New Roman" panose="02020603050405020304" pitchFamily="18" charset="0"/>
                <a:cs typeface="Times New Roman" panose="02020603050405020304" pitchFamily="18" charset="0"/>
              </a:rPr>
              <a:t> </a:t>
            </a:r>
            <a:r>
              <a:rPr lang="en-US" altLang="zh-CN" baseline="-25000" dirty="0" err="1">
                <a:latin typeface="Times New Roman" panose="02020603050405020304" pitchFamily="18" charset="0"/>
                <a:cs typeface="Times New Roman" panose="02020603050405020304" pitchFamily="18" charset="0"/>
              </a:rPr>
              <a:t>HCl</a:t>
            </a:r>
            <a:r>
              <a:rPr lang="en-US" altLang="zh-CN" dirty="0">
                <a:latin typeface="Times New Roman" panose="02020603050405020304" pitchFamily="18" charset="0"/>
                <a:cs typeface="Times New Roman" panose="02020603050405020304" pitchFamily="18" charset="0"/>
              </a:rPr>
              <a:t> =36.46 </a:t>
            </a:r>
            <a:r>
              <a:rPr lang="en-US" altLang="zh-CN" sz="2000" dirty="0">
                <a:solidFill>
                  <a:prstClr val="black"/>
                </a:solidFill>
                <a:latin typeface="Times New Roman" panose="02020603050405020304" pitchFamily="18" charset="0"/>
                <a:cs typeface="Times New Roman" panose="02020603050405020304" pitchFamily="18" charset="0"/>
              </a:rPr>
              <a:t>g·mol</a:t>
            </a:r>
            <a:r>
              <a:rPr lang="en-US" altLang="zh-CN" sz="2000" baseline="30000" dirty="0">
                <a:solidFill>
                  <a:prstClr val="black"/>
                </a:solidFill>
                <a:latin typeface="Times New Roman" panose="02020603050405020304" pitchFamily="18" charset="0"/>
                <a:cs typeface="Times New Roman" panose="02020603050405020304" pitchFamily="18" charset="0"/>
              </a:rPr>
              <a:t>-1</a:t>
            </a:r>
            <a:endParaRPr lang="en-US" altLang="zh-CN" sz="2000" dirty="0">
              <a:solidFill>
                <a:prstClr val="black"/>
              </a:solidFill>
              <a:latin typeface="Times New Roman" panose="02020603050405020304" pitchFamily="18" charset="0"/>
              <a:cs typeface="Times New Roman" panose="02020603050405020304" pitchFamily="18" charset="0"/>
            </a:endParaRPr>
          </a:p>
          <a:p>
            <a:endParaRPr lang="zh-CN" altLang="en-US" dirty="0"/>
          </a:p>
        </p:txBody>
      </p:sp>
      <p:sp>
        <p:nvSpPr>
          <p:cNvPr id="4" name="矩形 3"/>
          <p:cNvSpPr/>
          <p:nvPr/>
        </p:nvSpPr>
        <p:spPr>
          <a:xfrm>
            <a:off x="1936318" y="1526439"/>
            <a:ext cx="9036496" cy="587853"/>
          </a:xfrm>
          <a:prstGeom prst="rect">
            <a:avLst/>
          </a:prstGeom>
        </p:spPr>
        <p:txBody>
          <a:bodyPr wrap="square">
            <a:spAutoFit/>
          </a:bodyPr>
          <a:lstStyle/>
          <a:p>
            <a:pPr lvl="0">
              <a:lnSpc>
                <a:spcPct val="150000"/>
              </a:lnSpc>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国际单位制中</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个基本物理量之一，表示物质所含粒子数目的多少</a:t>
            </a:r>
            <a:r>
              <a:rPr lang="zh-CN" altLang="en-US" sz="2400" dirty="0">
                <a:solidFill>
                  <a:prstClr val="black"/>
                </a:solidFill>
                <a:latin typeface="Times New Roman" panose="02020603050405020304" pitchFamily="18" charset="0"/>
                <a:cs typeface="Times New Roman" panose="02020603050405020304" pitchFamily="18" charset="0"/>
              </a:rPr>
              <a:t>。</a:t>
            </a:r>
            <a:endParaRPr lang="en-US" altLang="zh-CN" sz="2400" dirty="0">
              <a:solidFill>
                <a:prstClr val="black"/>
              </a:solidFill>
              <a:latin typeface="Times New Roman" panose="02020603050405020304" pitchFamily="18" charset="0"/>
              <a:cs typeface="Times New Roman" panose="02020603050405020304" pitchFamily="18" charset="0"/>
            </a:endParaRPr>
          </a:p>
        </p:txBody>
      </p:sp>
      <p:sp>
        <p:nvSpPr>
          <p:cNvPr id="5" name="矩形 4"/>
          <p:cNvSpPr/>
          <p:nvPr/>
        </p:nvSpPr>
        <p:spPr>
          <a:xfrm>
            <a:off x="2109157" y="3051176"/>
            <a:ext cx="4850939" cy="46166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单位物质的量的物质所具有的质量</a:t>
            </a:r>
          </a:p>
        </p:txBody>
      </p:sp>
      <p:sp>
        <p:nvSpPr>
          <p:cNvPr id="6" name="矩形 5"/>
          <p:cNvSpPr/>
          <p:nvPr/>
        </p:nvSpPr>
        <p:spPr>
          <a:xfrm>
            <a:off x="2104241" y="4437113"/>
            <a:ext cx="4801314" cy="461665"/>
          </a:xfrm>
          <a:prstGeom prst="rect">
            <a:avLst/>
          </a:prstGeom>
        </p:spPr>
        <p:txBody>
          <a:bodyPr wrap="none">
            <a:spAutoFit/>
          </a:bodyPr>
          <a:lstStyle/>
          <a:p>
            <a:r>
              <a:rPr lang="zh-CN" altLang="en-US" sz="2400" dirty="0">
                <a:solidFill>
                  <a:srgbClr val="333333"/>
                </a:solidFill>
                <a:latin typeface="微软雅黑" panose="020B0503020204020204" pitchFamily="34" charset="-122"/>
                <a:ea typeface="微软雅黑" panose="020B0503020204020204" pitchFamily="34" charset="-122"/>
              </a:rPr>
              <a:t>单位体积溶液所含溶质的物质的量</a:t>
            </a:r>
            <a:endParaRPr lang="zh-CN" altLang="en-US" sz="2400"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D4F6ABAC-40CA-4E34-B6DC-3543163CEB63}"/>
              </a:ext>
            </a:extLst>
          </p:cNvPr>
          <p:cNvSpPr txBox="1"/>
          <p:nvPr/>
        </p:nvSpPr>
        <p:spPr>
          <a:xfrm>
            <a:off x="1744586" y="5989952"/>
            <a:ext cx="9228228" cy="400110"/>
          </a:xfrm>
          <a:prstGeom prst="rect">
            <a:avLst/>
          </a:prstGeom>
          <a:noFill/>
        </p:spPr>
        <p:txBody>
          <a:bodyPr wrap="square">
            <a:spAutoFit/>
          </a:bodyPr>
          <a:lstStyle/>
          <a:p>
            <a:r>
              <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M</a:t>
            </a:r>
            <a:r>
              <a:rPr lang="en-US" altLang="zh-CN" sz="2000" b="1" dirty="0">
                <a:solidFill>
                  <a:srgbClr val="C00000"/>
                </a:solidFill>
                <a:latin typeface="Times New Roman" panose="02020603050405020304" pitchFamily="18" charset="0"/>
                <a:cs typeface="Times New Roman" panose="02020603050405020304" pitchFamily="18" charset="0"/>
              </a:rPr>
              <a:t> (mol·L</a:t>
            </a:r>
            <a:r>
              <a:rPr lang="en-US" altLang="zh-CN" sz="2000" b="1" baseline="30000" dirty="0">
                <a:solidFill>
                  <a:srgbClr val="C00000"/>
                </a:solidFill>
                <a:latin typeface="Times New Roman" panose="02020603050405020304" pitchFamily="18" charset="0"/>
                <a:cs typeface="Times New Roman" panose="02020603050405020304" pitchFamily="18" charset="0"/>
              </a:rPr>
              <a:t>-1</a:t>
            </a:r>
            <a:r>
              <a:rPr lang="en-US" altLang="zh-CN" sz="2000" b="1" dirty="0">
                <a:solidFill>
                  <a:srgbClr val="C00000"/>
                </a:solidFill>
                <a:latin typeface="Times New Roman" panose="02020603050405020304" pitchFamily="18" charset="0"/>
                <a:cs typeface="Times New Roman" panose="02020603050405020304" pitchFamily="18" charset="0"/>
              </a:rPr>
              <a:t>) </a:t>
            </a:r>
            <a:r>
              <a:rPr kumimoji="0" lang="zh-C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mM</a:t>
            </a:r>
            <a:r>
              <a:rPr lang="en-US" altLang="zh-CN" sz="2000" b="1" dirty="0">
                <a:solidFill>
                  <a:srgbClr val="C00000"/>
                </a:solidFill>
                <a:latin typeface="Times New Roman" panose="02020603050405020304" pitchFamily="18" charset="0"/>
                <a:cs typeface="Times New Roman" panose="02020603050405020304" pitchFamily="18" charset="0"/>
              </a:rPr>
              <a:t> (mmol·L</a:t>
            </a:r>
            <a:r>
              <a:rPr lang="en-US" altLang="zh-CN" sz="2000" b="1" baseline="30000" dirty="0">
                <a:solidFill>
                  <a:srgbClr val="C00000"/>
                </a:solidFill>
                <a:latin typeface="Times New Roman" panose="02020603050405020304" pitchFamily="18" charset="0"/>
                <a:cs typeface="Times New Roman" panose="02020603050405020304" pitchFamily="18" charset="0"/>
              </a:rPr>
              <a:t>-1</a:t>
            </a:r>
            <a:r>
              <a:rPr lang="en-US" altLang="zh-CN" sz="2000" b="1" dirty="0">
                <a:solidFill>
                  <a:srgbClr val="C00000"/>
                </a:solidFill>
                <a:latin typeface="Times New Roman" panose="02020603050405020304" pitchFamily="18" charset="0"/>
                <a:cs typeface="Times New Roman" panose="02020603050405020304" pitchFamily="18" charset="0"/>
              </a:rPr>
              <a:t>) </a:t>
            </a:r>
            <a:r>
              <a:rPr kumimoji="0" lang="zh-C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l-GR"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μ</a:t>
            </a:r>
            <a:r>
              <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M</a:t>
            </a:r>
            <a:r>
              <a:rPr lang="en-US" altLang="zh-CN" sz="2000" b="1" dirty="0">
                <a:solidFill>
                  <a:srgbClr val="C00000"/>
                </a:solidFill>
                <a:latin typeface="Times New Roman" panose="02020603050405020304" pitchFamily="18" charset="0"/>
                <a:cs typeface="Times New Roman" panose="02020603050405020304" pitchFamily="18" charset="0"/>
              </a:rPr>
              <a:t> (</a:t>
            </a:r>
            <a:r>
              <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10</a:t>
            </a:r>
            <a:r>
              <a:rPr kumimoji="0" lang="en-US" altLang="zh-CN" sz="2000" b="1" i="0" u="none" strike="noStrike" kern="1200" cap="none" spc="0" normalizeH="0" baseline="3000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-6</a:t>
            </a:r>
            <a:r>
              <a:rPr kumimoji="0" lang="el-GR"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mol·L</a:t>
            </a:r>
            <a:r>
              <a:rPr lang="en-US" altLang="zh-CN" sz="2000" b="1" baseline="30000" dirty="0">
                <a:solidFill>
                  <a:srgbClr val="C00000"/>
                </a:solidFill>
                <a:latin typeface="Times New Roman" panose="02020603050405020304" pitchFamily="18" charset="0"/>
                <a:cs typeface="Times New Roman" panose="02020603050405020304" pitchFamily="18" charset="0"/>
              </a:rPr>
              <a:t>-1</a:t>
            </a:r>
            <a:r>
              <a:rPr lang="en-US" altLang="zh-CN" sz="2000" b="1" dirty="0">
                <a:solidFill>
                  <a:srgbClr val="C00000"/>
                </a:solidFill>
                <a:latin typeface="Times New Roman" panose="02020603050405020304" pitchFamily="18" charset="0"/>
                <a:cs typeface="Times New Roman" panose="02020603050405020304" pitchFamily="18" charset="0"/>
              </a:rPr>
              <a:t>) </a:t>
            </a:r>
            <a:r>
              <a:rPr kumimoji="0" lang="zh-CN" alt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2000" b="1" i="0" u="none" strike="noStrike" kern="1200" cap="none" spc="0" normalizeH="0" baseline="0" noProof="0" dirty="0" err="1">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nM</a:t>
            </a:r>
            <a:r>
              <a:rPr lang="en-US" altLang="zh-CN" sz="2000" b="1" dirty="0">
                <a:solidFill>
                  <a:srgbClr val="C00000"/>
                </a:solidFill>
                <a:latin typeface="Times New Roman" panose="02020603050405020304" pitchFamily="18" charset="0"/>
                <a:cs typeface="Times New Roman" panose="02020603050405020304" pitchFamily="18" charset="0"/>
              </a:rPr>
              <a:t> (</a:t>
            </a:r>
            <a:r>
              <a:rPr kumimoji="0" lang="en-US"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10</a:t>
            </a:r>
            <a:r>
              <a:rPr kumimoji="0" lang="en-US" altLang="zh-CN" sz="2000" b="1" i="0" u="none" strike="noStrike" kern="1200" cap="none" spc="0" normalizeH="0" baseline="3000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-9</a:t>
            </a:r>
            <a:r>
              <a:rPr kumimoji="0" lang="el-GR" altLang="zh-CN" sz="2000" b="1" i="0" u="none" strike="noStrike" kern="120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lang="en-US" altLang="zh-CN" sz="2000" b="1" dirty="0">
                <a:solidFill>
                  <a:srgbClr val="C00000"/>
                </a:solidFill>
                <a:latin typeface="Times New Roman" panose="02020603050405020304" pitchFamily="18" charset="0"/>
                <a:cs typeface="Times New Roman" panose="02020603050405020304" pitchFamily="18" charset="0"/>
              </a:rPr>
              <a:t>mol·L</a:t>
            </a:r>
            <a:r>
              <a:rPr lang="en-US" altLang="zh-CN" sz="2000" b="1" baseline="30000" dirty="0">
                <a:solidFill>
                  <a:srgbClr val="C00000"/>
                </a:solidFill>
                <a:latin typeface="Times New Roman" panose="02020603050405020304" pitchFamily="18" charset="0"/>
                <a:cs typeface="Times New Roman" panose="02020603050405020304" pitchFamily="18" charset="0"/>
              </a:rPr>
              <a:t>-1</a:t>
            </a:r>
            <a:r>
              <a:rPr lang="en-US" altLang="zh-CN" sz="2000" b="1" dirty="0">
                <a:solidFill>
                  <a:srgbClr val="C00000"/>
                </a:solidFill>
                <a:latin typeface="Times New Roman" panose="02020603050405020304" pitchFamily="18" charset="0"/>
                <a:cs typeface="Times New Roman" panose="02020603050405020304" pitchFamily="18" charset="0"/>
              </a:rPr>
              <a:t>) </a:t>
            </a:r>
            <a:endParaRPr lang="zh-CN" altLang="en-US" sz="2000" b="1" dirty="0">
              <a:solidFill>
                <a:srgbClr val="C00000"/>
              </a:solidFill>
            </a:endParaRP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61357"/>
    </mc:Choice>
    <mc:Fallback xmlns="">
      <p:transition spd="slow" advTm="61357"/>
    </mc:Fallback>
  </mc:AlternateContent>
  <p:extLst>
    <p:ext uri="{3A86A75C-4F4B-4683-9AE1-C65F6400EC91}">
      <p14:laserTraceLst xmlns:p14="http://schemas.microsoft.com/office/powerpoint/2010/main">
        <p14:tracePtLst>
          <p14:tracePt t="35161" x="10955338" y="4418013"/>
          <p14:tracePt t="35591" x="0" y="0"/>
        </p14:tracePtLst>
      </p14:laserTraceLst>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矩形 1"/>
          <p:cNvSpPr>
            <a:spLocks noChangeArrowheads="1"/>
          </p:cNvSpPr>
          <p:nvPr/>
        </p:nvSpPr>
        <p:spPr bwMode="auto">
          <a:xfrm>
            <a:off x="1532919" y="1241580"/>
            <a:ext cx="6477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lgn="just"/>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待测组分的含量用质量分数</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表示</a:t>
            </a:r>
          </a:p>
        </p:txBody>
      </p:sp>
      <mc:AlternateContent xmlns:mc="http://schemas.openxmlformats.org/markup-compatibility/2006" xmlns:a14="http://schemas.microsoft.com/office/drawing/2010/main">
        <mc:Choice Requires="a14">
          <p:sp>
            <p:nvSpPr>
              <p:cNvPr id="2" name="矩形 1"/>
              <p:cNvSpPr/>
              <p:nvPr/>
            </p:nvSpPr>
            <p:spPr>
              <a:xfrm>
                <a:off x="3287688" y="2554854"/>
                <a:ext cx="4674678" cy="796115"/>
              </a:xfrm>
              <a:prstGeom prst="rect">
                <a:avLst/>
              </a:prstGeom>
            </p:spPr>
            <p:txBody>
              <a:bodyPr wrap="none">
                <a:spAutoFit/>
              </a:bodyPr>
              <a:lstStyle/>
              <a:p>
                <a:r>
                  <a:rPr lang="zh-CN" altLang="en-US" sz="2400" b="1" dirty="0">
                    <a:solidFill>
                      <a:schemeClr val="tx1"/>
                    </a:solidFill>
                    <a:latin typeface="Times New Roman" panose="02020603050405020304" pitchFamily="18" charset="0"/>
                    <a:ea typeface="微软雅黑" panose="020B0503020204020204" pitchFamily="34" charset="-122"/>
                  </a:rPr>
                  <a:t>质量分数</a:t>
                </a:r>
                <a:r>
                  <a:rPr lang="en-US" altLang="zh-CN" sz="2400"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CN" sz="2400" b="1" i="1">
                            <a:solidFill>
                              <a:schemeClr val="tx1"/>
                            </a:solidFill>
                            <a:latin typeface="Cambria Math" panose="02040503050406030204" pitchFamily="18" charset="0"/>
                            <a:cs typeface="Times New Roman" panose="02020603050405020304" pitchFamily="18" charset="0"/>
                          </a:rPr>
                        </m:ctrlPr>
                      </m:fPr>
                      <m:num>
                        <m:r>
                          <a:rPr lang="zh-CN" altLang="en-US" sz="2400" b="1" i="1">
                            <a:solidFill>
                              <a:schemeClr val="tx1"/>
                            </a:solidFill>
                            <a:latin typeface="Cambria Math" panose="02040503050406030204"/>
                            <a:cs typeface="Times New Roman" panose="02020603050405020304" pitchFamily="18" charset="0"/>
                          </a:rPr>
                          <m:t>待测组分的质量</m:t>
                        </m:r>
                      </m:num>
                      <m:den>
                        <m:r>
                          <a:rPr lang="zh-CN" altLang="en-US" sz="2400" b="1" i="1">
                            <a:solidFill>
                              <a:schemeClr val="tx1"/>
                            </a:solidFill>
                            <a:latin typeface="Cambria Math" panose="02040503050406030204"/>
                            <a:cs typeface="Times New Roman" panose="02020603050405020304" pitchFamily="18" charset="0"/>
                          </a:rPr>
                          <m:t>样品的质量</m:t>
                        </m:r>
                      </m:den>
                    </m:f>
                  </m:oMath>
                </a14:m>
                <a:r>
                  <a:rPr lang="zh-CN" altLang="en-US" b="1" dirty="0">
                    <a:solidFill>
                      <a:schemeClr val="tx1"/>
                    </a:solidFill>
                  </a:rPr>
                  <a:t> </a:t>
                </a:r>
                <a:r>
                  <a:rPr lang="en-US" altLang="zh-CN" b="1" dirty="0">
                    <a:solidFill>
                      <a:schemeClr val="tx1"/>
                    </a:solidFill>
                  </a:rPr>
                  <a:t>x 100%</a:t>
                </a:r>
                <a:endParaRPr lang="zh-CN" altLang="en-US" b="1" dirty="0">
                  <a:solidFill>
                    <a:schemeClr val="tx1"/>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3287688" y="2554854"/>
                <a:ext cx="4674678" cy="796115"/>
              </a:xfrm>
              <a:prstGeom prst="rect">
                <a:avLst/>
              </a:prstGeom>
              <a:blipFill>
                <a:blip r:embed="rId3"/>
                <a:stretch>
                  <a:fillRect l="-1956" r="-130"/>
                </a:stretch>
              </a:blipFill>
            </p:spPr>
            <p:txBody>
              <a:bodyPr/>
              <a:lstStyle/>
              <a:p>
                <a:r>
                  <a:rPr lang="zh-CN" altLang="en-US">
                    <a:noFill/>
                  </a:rPr>
                  <a:t> </a:t>
                </a:r>
              </a:p>
            </p:txBody>
          </p:sp>
        </mc:Fallback>
      </mc:AlternateContent>
      <p:pic>
        <p:nvPicPr>
          <p:cNvPr id="236760" name="Picture 216"/>
          <p:cNvPicPr>
            <a:picLocks noChangeAspect="1" noChangeArrowheads="1"/>
          </p:cNvPicPr>
          <p:nvPr/>
        </p:nvPicPr>
        <p:blipFill rotWithShape="1">
          <a:blip r:embed="rId4">
            <a:extLst>
              <a:ext uri="{28A0092B-C50C-407E-A947-70E740481C1C}">
                <a14:useLocalDpi xmlns:a14="http://schemas.microsoft.com/office/drawing/2010/main" val="0"/>
              </a:ext>
            </a:extLst>
          </a:blip>
          <a:srcRect r="54539" b="66263"/>
          <a:stretch>
            <a:fillRect/>
          </a:stretch>
        </p:blipFill>
        <p:spPr bwMode="auto">
          <a:xfrm>
            <a:off x="4079777" y="3356992"/>
            <a:ext cx="2178049" cy="108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12"/>
          <p:cNvSpPr>
            <a:spLocks noChangeArrowheads="1"/>
          </p:cNvSpPr>
          <p:nvPr/>
        </p:nvSpPr>
        <p:spPr bwMode="auto">
          <a:xfrm>
            <a:off x="1991545" y="476672"/>
            <a:ext cx="165301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lnSpc>
                <a:spcPct val="90000"/>
              </a:lnSpc>
            </a:pPr>
            <a:r>
              <a:rPr lang="en-US" altLang="zh-CN" sz="2400" dirty="0">
                <a:latin typeface="Times New Roman" panose="02020603050405020304" pitchFamily="18" charset="0"/>
                <a:cs typeface="Times New Roman" panose="02020603050405020304" pitchFamily="18" charset="0"/>
              </a:rPr>
              <a:t>4.</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质量分数</a:t>
            </a:r>
            <a:endParaRPr lang="en-US" altLang="zh-CN" sz="24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advTm="20559">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ChangeArrowheads="1"/>
          </p:cNvSpPr>
          <p:nvPr/>
        </p:nvSpPr>
        <p:spPr bwMode="auto">
          <a:xfrm>
            <a:off x="7629525" y="6059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sp>
        <p:nvSpPr>
          <p:cNvPr id="4101" name="Rectangle 5"/>
          <p:cNvSpPr>
            <a:spLocks noChangeArrowheads="1"/>
          </p:cNvSpPr>
          <p:nvPr/>
        </p:nvSpPr>
        <p:spPr bwMode="auto">
          <a:xfrm>
            <a:off x="5041900" y="12297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sp>
        <p:nvSpPr>
          <p:cNvPr id="4102" name="Rectangle 9"/>
          <p:cNvSpPr>
            <a:spLocks noChangeArrowheads="1"/>
          </p:cNvSpPr>
          <p:nvPr/>
        </p:nvSpPr>
        <p:spPr bwMode="auto">
          <a:xfrm>
            <a:off x="5041900" y="28665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sp>
        <p:nvSpPr>
          <p:cNvPr id="4103" name="Rectangle 11"/>
          <p:cNvSpPr>
            <a:spLocks noChangeArrowheads="1"/>
          </p:cNvSpPr>
          <p:nvPr/>
        </p:nvSpPr>
        <p:spPr bwMode="auto">
          <a:xfrm>
            <a:off x="7653338" y="88228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sp>
        <p:nvSpPr>
          <p:cNvPr id="4104" name="Rectangle 13"/>
          <p:cNvSpPr>
            <a:spLocks noChangeArrowheads="1"/>
          </p:cNvSpPr>
          <p:nvPr/>
        </p:nvSpPr>
        <p:spPr bwMode="auto">
          <a:xfrm>
            <a:off x="4084638" y="40222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endParaRPr lang="zh-CN" altLang="en-US"/>
          </a:p>
        </p:txBody>
      </p:sp>
      <p:sp>
        <p:nvSpPr>
          <p:cNvPr id="25" name="Rectangle 2"/>
          <p:cNvSpPr txBox="1">
            <a:spLocks noChangeArrowheads="1"/>
          </p:cNvSpPr>
          <p:nvPr/>
        </p:nvSpPr>
        <p:spPr>
          <a:xfrm>
            <a:off x="209337" y="217981"/>
            <a:ext cx="4953000" cy="576263"/>
          </a:xfrm>
          <a:prstGeom prst="rect">
            <a:avLst/>
          </a:prstGeom>
          <a:solidFill>
            <a:srgbClr val="009999"/>
          </a:solidFill>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hangingPunct="1">
              <a:defRPr/>
            </a:pPr>
            <a:r>
              <a:rPr lang="en-US" altLang="zh-CN" sz="3200" kern="0" dirty="0">
                <a:solidFill>
                  <a:schemeClr val="bg1"/>
                </a:solidFill>
                <a:latin typeface="Times New Roman" panose="02020603050405020304" pitchFamily="18" charset="0"/>
                <a:ea typeface="微软雅黑" panose="020B0503020204020204" pitchFamily="34" charset="-122"/>
              </a:rPr>
              <a:t>3.6   </a:t>
            </a:r>
            <a:r>
              <a:rPr lang="zh-CN" altLang="en-US" sz="3200" kern="0" dirty="0">
                <a:solidFill>
                  <a:schemeClr val="bg1"/>
                </a:solidFill>
                <a:latin typeface="Times New Roman" panose="02020603050405020304" pitchFamily="18" charset="0"/>
                <a:ea typeface="微软雅黑" panose="020B0503020204020204" pitchFamily="34" charset="-122"/>
              </a:rPr>
              <a:t>滴定分析结果的计算</a:t>
            </a:r>
          </a:p>
        </p:txBody>
      </p:sp>
      <p:sp>
        <p:nvSpPr>
          <p:cNvPr id="26" name="Rectangle 12"/>
          <p:cNvSpPr>
            <a:spLocks noChangeArrowheads="1"/>
          </p:cNvSpPr>
          <p:nvPr/>
        </p:nvSpPr>
        <p:spPr bwMode="auto">
          <a:xfrm>
            <a:off x="1770063" y="1000126"/>
            <a:ext cx="2544762" cy="523875"/>
          </a:xfrm>
          <a:prstGeom prst="rect">
            <a:avLst/>
          </a:prstGeom>
          <a:solidFill>
            <a:schemeClr val="bg1">
              <a:lumMod val="95000"/>
            </a:schemeClr>
          </a:solidFill>
          <a:ln>
            <a:noFill/>
          </a:ln>
          <a:effec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defRPr/>
            </a:pPr>
            <a:r>
              <a:rPr lang="en-US" altLang="zh-CN" sz="2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3.6.1</a:t>
            </a:r>
            <a:r>
              <a:rPr lang="en-US" altLang="zh-CN" sz="2800" dirty="0">
                <a:solidFill>
                  <a:srgbClr val="C00000"/>
                </a:solidFill>
                <a:latin typeface="+mn-lt"/>
                <a:ea typeface="微软雅黑" panose="020B0503020204020204" pitchFamily="34" charset="-122"/>
                <a:cs typeface="Times New Roman" panose="02020603050405020304" pitchFamily="18" charset="0"/>
              </a:rPr>
              <a:t>  </a:t>
            </a:r>
            <a:r>
              <a:rPr lang="zh-CN" altLang="en-US" sz="2800" dirty="0">
                <a:solidFill>
                  <a:srgbClr val="C00000"/>
                </a:solidFill>
                <a:latin typeface="+mn-lt"/>
                <a:ea typeface="微软雅黑" panose="020B0503020204020204" pitchFamily="34" charset="-122"/>
                <a:cs typeface="Times New Roman" panose="02020603050405020304" pitchFamily="18" charset="0"/>
              </a:rPr>
              <a:t>计算方法</a:t>
            </a:r>
            <a:endParaRPr lang="zh-CN" altLang="en-US" sz="2800" dirty="0">
              <a:solidFill>
                <a:srgbClr val="C00000"/>
              </a:solidFill>
              <a:latin typeface="+mn-lt"/>
              <a:ea typeface="微软雅黑" panose="020B0503020204020204" pitchFamily="34" charset="-122"/>
            </a:endParaRPr>
          </a:p>
        </p:txBody>
      </p:sp>
      <p:sp>
        <p:nvSpPr>
          <p:cNvPr id="4107" name="矩形 1"/>
          <p:cNvSpPr>
            <a:spLocks noChangeArrowheads="1"/>
          </p:cNvSpPr>
          <p:nvPr/>
        </p:nvSpPr>
        <p:spPr bwMode="auto">
          <a:xfrm>
            <a:off x="2351802" y="1838325"/>
            <a:ext cx="34307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tabLst>
                <a:tab pos="228600" algn="l"/>
              </a:tabLst>
              <a:defRPr b="1">
                <a:solidFill>
                  <a:schemeClr val="tx1"/>
                </a:solidFill>
                <a:latin typeface="Arial" panose="020B0604020202020204" pitchFamily="34" charset="0"/>
                <a:ea typeface="楷体_GB2312" pitchFamily="49" charset="-122"/>
              </a:defRPr>
            </a:lvl1pPr>
            <a:lvl2pPr marL="742950" indent="-285750">
              <a:tabLst>
                <a:tab pos="228600" algn="l"/>
              </a:tabLst>
              <a:defRPr b="1">
                <a:solidFill>
                  <a:schemeClr val="tx1"/>
                </a:solidFill>
                <a:latin typeface="Arial" panose="020B0604020202020204" pitchFamily="34" charset="0"/>
                <a:ea typeface="楷体_GB2312" pitchFamily="49" charset="-122"/>
              </a:defRPr>
            </a:lvl2pPr>
            <a:lvl3pPr marL="1143000" indent="-228600">
              <a:tabLst>
                <a:tab pos="228600" algn="l"/>
              </a:tabLst>
              <a:defRPr b="1">
                <a:solidFill>
                  <a:schemeClr val="tx1"/>
                </a:solidFill>
                <a:latin typeface="Arial" panose="020B0604020202020204" pitchFamily="34" charset="0"/>
                <a:ea typeface="楷体_GB2312" pitchFamily="49" charset="-122"/>
              </a:defRPr>
            </a:lvl3pPr>
            <a:lvl4pPr marL="1600200" indent="-228600">
              <a:tabLst>
                <a:tab pos="228600" algn="l"/>
              </a:tabLst>
              <a:defRPr b="1">
                <a:solidFill>
                  <a:schemeClr val="tx1"/>
                </a:solidFill>
                <a:latin typeface="Arial" panose="020B0604020202020204" pitchFamily="34" charset="0"/>
                <a:ea typeface="楷体_GB2312" pitchFamily="49" charset="-122"/>
              </a:defRPr>
            </a:lvl4pPr>
            <a:lvl5pPr marL="2057400" indent="-228600">
              <a:tabLst>
                <a:tab pos="228600" algn="l"/>
              </a:tabLst>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tabLst>
                <a:tab pos="228600" algn="l"/>
              </a:tabLs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tabLst>
                <a:tab pos="228600" algn="l"/>
              </a:tabLs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tabLst>
                <a:tab pos="228600" algn="l"/>
              </a:tabLs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tabLst>
                <a:tab pos="228600" algn="l"/>
              </a:tabLst>
              <a:defRPr b="1">
                <a:solidFill>
                  <a:schemeClr val="tx1"/>
                </a:solidFill>
                <a:latin typeface="Arial" panose="020B0604020202020204" pitchFamily="34" charset="0"/>
                <a:ea typeface="楷体_GB2312" pitchFamily="49" charset="-122"/>
              </a:defRPr>
            </a:lvl9pPr>
          </a:lstStyle>
          <a:p>
            <a:pPr marL="0" indent="0" algn="just">
              <a:spcBef>
                <a:spcPts val="600"/>
              </a:spcBef>
            </a:pPr>
            <a:r>
              <a:rPr lang="zh-CN" altLang="zh-CN" sz="2800" dirty="0">
                <a:latin typeface="微软雅黑" panose="020B0503020204020204" pitchFamily="34" charset="-122"/>
                <a:ea typeface="微软雅黑" panose="020B0503020204020204" pitchFamily="34" charset="-122"/>
              </a:rPr>
              <a:t>按化学计量关系</a:t>
            </a:r>
            <a:r>
              <a:rPr lang="zh-CN" altLang="en-US" sz="2800" dirty="0">
                <a:latin typeface="微软雅黑" panose="020B0503020204020204" pitchFamily="34" charset="-122"/>
                <a:ea typeface="微软雅黑" panose="020B0503020204020204" pitchFamily="34" charset="-122"/>
              </a:rPr>
              <a:t>计算</a:t>
            </a:r>
            <a:endParaRPr lang="zh-CN" altLang="zh-CN" sz="2800" dirty="0">
              <a:latin typeface="微软雅黑" panose="020B0503020204020204" pitchFamily="34" charset="-122"/>
              <a:ea typeface="微软雅黑" panose="020B0503020204020204" pitchFamily="34" charset="-122"/>
            </a:endParaRPr>
          </a:p>
        </p:txBody>
      </p:sp>
      <p:pic>
        <p:nvPicPr>
          <p:cNvPr id="234920" name="Picture 424"/>
          <p:cNvPicPr>
            <a:picLocks noChangeAspect="1" noChangeArrowheads="1"/>
          </p:cNvPicPr>
          <p:nvPr/>
        </p:nvPicPr>
        <p:blipFill rotWithShape="1">
          <a:blip r:embed="rId3">
            <a:extLst>
              <a:ext uri="{28A0092B-C50C-407E-A947-70E740481C1C}">
                <a14:useLocalDpi xmlns:a14="http://schemas.microsoft.com/office/drawing/2010/main" val="0"/>
              </a:ext>
            </a:extLst>
          </a:blip>
          <a:srcRect b="75770"/>
          <a:stretch>
            <a:fillRect/>
          </a:stretch>
        </p:blipFill>
        <p:spPr bwMode="auto">
          <a:xfrm>
            <a:off x="3215681" y="2424962"/>
            <a:ext cx="2390775" cy="856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4921" name="Picture 425"/>
          <p:cNvPicPr>
            <a:picLocks noChangeAspect="1" noChangeArrowheads="1"/>
          </p:cNvPicPr>
          <p:nvPr/>
        </p:nvPicPr>
        <p:blipFill rotWithShape="1">
          <a:blip r:embed="rId4">
            <a:extLst>
              <a:ext uri="{28A0092B-C50C-407E-A947-70E740481C1C}">
                <a14:useLocalDpi xmlns:a14="http://schemas.microsoft.com/office/drawing/2010/main" val="0"/>
              </a:ext>
            </a:extLst>
          </a:blip>
          <a:srcRect t="20391" b="56691"/>
          <a:stretch>
            <a:fillRect/>
          </a:stretch>
        </p:blipFill>
        <p:spPr bwMode="auto">
          <a:xfrm>
            <a:off x="3431705" y="3281178"/>
            <a:ext cx="2389187" cy="810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4922" name="Picture 426"/>
          <p:cNvPicPr>
            <a:picLocks noChangeAspect="1" noChangeArrowheads="1"/>
          </p:cNvPicPr>
          <p:nvPr/>
        </p:nvPicPr>
        <p:blipFill rotWithShape="1">
          <a:blip r:embed="rId4">
            <a:extLst>
              <a:ext uri="{28A0092B-C50C-407E-A947-70E740481C1C}">
                <a14:useLocalDpi xmlns:a14="http://schemas.microsoft.com/office/drawing/2010/main" val="0"/>
              </a:ext>
            </a:extLst>
          </a:blip>
          <a:srcRect t="46988" b="31404"/>
          <a:stretch>
            <a:fillRect/>
          </a:stretch>
        </p:blipFill>
        <p:spPr bwMode="auto">
          <a:xfrm>
            <a:off x="3431705" y="4178462"/>
            <a:ext cx="2389187" cy="763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4923" name="Picture 427"/>
          <p:cNvPicPr>
            <a:picLocks noChangeAspect="1" noChangeArrowheads="1"/>
          </p:cNvPicPr>
          <p:nvPr/>
        </p:nvPicPr>
        <p:blipFill rotWithShape="1">
          <a:blip r:embed="rId5">
            <a:extLst>
              <a:ext uri="{28A0092B-C50C-407E-A947-70E740481C1C}">
                <a14:useLocalDpi xmlns:a14="http://schemas.microsoft.com/office/drawing/2010/main" val="0"/>
              </a:ext>
            </a:extLst>
          </a:blip>
          <a:srcRect t="66955"/>
          <a:stretch>
            <a:fillRect/>
          </a:stretch>
        </p:blipFill>
        <p:spPr bwMode="auto">
          <a:xfrm>
            <a:off x="3230399" y="4942390"/>
            <a:ext cx="2389187" cy="116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789841" y="2486052"/>
            <a:ext cx="1460656" cy="957250"/>
          </a:xfrm>
          <a:prstGeom prst="rect">
            <a:avLst/>
          </a:prstGeom>
          <a:noFill/>
        </p:spPr>
        <p:txBody>
          <a:bodyPr wrap="none" rtlCol="0">
            <a:spAutoFit/>
          </a:bodyPr>
          <a:lstStyle/>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X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被测组分</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滴定剂</a:t>
            </a:r>
          </a:p>
        </p:txBody>
      </p:sp>
      <p:sp>
        <p:nvSpPr>
          <p:cNvPr id="5" name="文本框 4"/>
          <p:cNvSpPr txBox="1"/>
          <p:nvPr/>
        </p:nvSpPr>
        <p:spPr>
          <a:xfrm>
            <a:off x="5878977" y="4287640"/>
            <a:ext cx="1348446" cy="461665"/>
          </a:xfrm>
          <a:prstGeom prst="rect">
            <a:avLst/>
          </a:prstGeom>
          <a:noFill/>
        </p:spPr>
        <p:txBody>
          <a:bodyPr wrap="none" rtlCol="0">
            <a:spAutoFit/>
          </a:bodyPr>
          <a:lstStyle/>
          <a:p>
            <a:r>
              <a:rPr lang="en-US" altLang="zh-CN" sz="2400" i="1" dirty="0" err="1">
                <a:latin typeface="Times New Roman" panose="02020603050405020304" pitchFamily="18" charset="0"/>
                <a:cs typeface="Times New Roman" panose="02020603050405020304" pitchFamily="18" charset="0"/>
              </a:rPr>
              <a:t>n</a:t>
            </a:r>
            <a:r>
              <a:rPr lang="en-US" altLang="zh-CN" sz="2400" baseline="-25000" dirty="0" err="1">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rPr>
              <a:t> = </a:t>
            </a:r>
            <a:r>
              <a:rPr lang="en-US" altLang="zh-CN" sz="2400" i="1" dirty="0" err="1">
                <a:latin typeface="Times New Roman" panose="02020603050405020304" pitchFamily="18" charset="0"/>
                <a:cs typeface="Times New Roman" panose="02020603050405020304" pitchFamily="18" charset="0"/>
              </a:rPr>
              <a:t>c</a:t>
            </a:r>
            <a:r>
              <a:rPr lang="en-US" altLang="zh-CN" sz="2400" baseline="-25000" dirty="0" err="1">
                <a:latin typeface="Times New Roman" panose="02020603050405020304" pitchFamily="18" charset="0"/>
                <a:cs typeface="Times New Roman" panose="02020603050405020304" pitchFamily="18" charset="0"/>
              </a:rPr>
              <a:t>x</a:t>
            </a:r>
            <a:r>
              <a:rPr lang="en-US" altLang="zh-CN" sz="2400" i="1" dirty="0" err="1">
                <a:latin typeface="Times New Roman" panose="02020603050405020304" pitchFamily="18" charset="0"/>
                <a:cs typeface="Times New Roman" panose="02020603050405020304" pitchFamily="18" charset="0"/>
              </a:rPr>
              <a:t>V</a:t>
            </a:r>
            <a:r>
              <a:rPr lang="en-US" altLang="zh-CN" sz="2400" baseline="-25000" dirty="0" err="1">
                <a:latin typeface="Times New Roman" panose="02020603050405020304" pitchFamily="18" charset="0"/>
                <a:cs typeface="Times New Roman" panose="02020603050405020304" pitchFamily="18" charset="0"/>
              </a:rPr>
              <a:t>x</a:t>
            </a:r>
            <a:endParaRPr lang="zh-CN" altLang="en-US" sz="2400" baseline="-25000" dirty="0">
              <a:latin typeface="Times New Roman" panose="02020603050405020304" pitchFamily="18" charset="0"/>
              <a:cs typeface="Times New Roman" panose="02020603050405020304" pitchFamily="18" charset="0"/>
            </a:endParaRPr>
          </a:p>
        </p:txBody>
      </p:sp>
      <p:sp>
        <p:nvSpPr>
          <p:cNvPr id="18" name="文本框 17"/>
          <p:cNvSpPr txBox="1"/>
          <p:nvPr/>
        </p:nvSpPr>
        <p:spPr>
          <a:xfrm>
            <a:off x="7626062" y="4287640"/>
            <a:ext cx="1162498" cy="461665"/>
          </a:xfrm>
          <a:prstGeom prst="rect">
            <a:avLst/>
          </a:prstGeom>
          <a:noFill/>
        </p:spPr>
        <p:txBody>
          <a:bodyPr wrap="none" rtlCol="0">
            <a:spAutoFit/>
          </a:bodyPr>
          <a:lstStyle/>
          <a:p>
            <a:r>
              <a:rPr lang="en-US" altLang="zh-CN" sz="2400" i="1" dirty="0" err="1">
                <a:latin typeface="Times New Roman" panose="02020603050405020304" pitchFamily="18" charset="0"/>
                <a:cs typeface="Times New Roman" panose="02020603050405020304" pitchFamily="18" charset="0"/>
              </a:rPr>
              <a:t>n</a:t>
            </a:r>
            <a:r>
              <a:rPr lang="en-US" altLang="zh-CN" sz="2400" baseline="-25000" dirty="0" err="1">
                <a:latin typeface="Times New Roman" panose="02020603050405020304" pitchFamily="18" charset="0"/>
                <a:cs typeface="Times New Roman" panose="02020603050405020304" pitchFamily="18" charset="0"/>
              </a:rPr>
              <a:t>t</a:t>
            </a:r>
            <a:r>
              <a:rPr lang="en-US" altLang="zh-CN" sz="2400" dirty="0">
                <a:latin typeface="Times New Roman" panose="02020603050405020304" pitchFamily="18" charset="0"/>
                <a:cs typeface="Times New Roman" panose="02020603050405020304" pitchFamily="18" charset="0"/>
              </a:rPr>
              <a:t> = </a:t>
            </a:r>
            <a:r>
              <a:rPr lang="en-US" altLang="zh-CN" sz="2400" i="1" dirty="0" err="1">
                <a:latin typeface="Times New Roman" panose="02020603050405020304" pitchFamily="18" charset="0"/>
                <a:cs typeface="Times New Roman" panose="02020603050405020304" pitchFamily="18" charset="0"/>
              </a:rPr>
              <a:t>c</a:t>
            </a:r>
            <a:r>
              <a:rPr lang="en-US" altLang="zh-CN" sz="2400" baseline="-25000" dirty="0" err="1">
                <a:latin typeface="Times New Roman" panose="02020603050405020304" pitchFamily="18" charset="0"/>
                <a:cs typeface="Times New Roman" panose="02020603050405020304" pitchFamily="18" charset="0"/>
              </a:rPr>
              <a:t>t</a:t>
            </a:r>
            <a:r>
              <a:rPr lang="en-US" altLang="zh-CN" sz="2400" i="1" dirty="0" err="1">
                <a:latin typeface="Times New Roman" panose="02020603050405020304" pitchFamily="18" charset="0"/>
                <a:cs typeface="Times New Roman" panose="02020603050405020304" pitchFamily="18" charset="0"/>
              </a:rPr>
              <a:t>V</a:t>
            </a:r>
            <a:r>
              <a:rPr lang="en-US" altLang="zh-CN" sz="2400" baseline="-25000" dirty="0" err="1">
                <a:latin typeface="Times New Roman" panose="02020603050405020304" pitchFamily="18" charset="0"/>
                <a:cs typeface="Times New Roman" panose="02020603050405020304" pitchFamily="18" charset="0"/>
              </a:rPr>
              <a:t>t</a:t>
            </a:r>
            <a:endParaRPr lang="zh-CN" altLang="en-US" sz="2400" baseline="-250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042"/>
    </mc:Choice>
    <mc:Fallback xmlns="">
      <p:transition spd="slow" advTm="904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
          <p:cNvSpPr>
            <a:spLocks noChangeArrowheads="1"/>
          </p:cNvSpPr>
          <p:nvPr/>
        </p:nvSpPr>
        <p:spPr bwMode="auto">
          <a:xfrm>
            <a:off x="1124843" y="92239"/>
            <a:ext cx="2544762" cy="523875"/>
          </a:xfrm>
          <a:prstGeom prst="rect">
            <a:avLst/>
          </a:prstGeom>
          <a:solidFill>
            <a:schemeClr val="bg1">
              <a:lumMod val="95000"/>
            </a:schemeClr>
          </a:solidFill>
          <a:ln>
            <a:noFill/>
          </a:ln>
          <a:effectLst/>
        </p:spPr>
        <p:txBody>
          <a:bodyPr wrap="none" anchor="ctr">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a:defRPr/>
            </a:pPr>
            <a:r>
              <a:rPr lang="en-US" altLang="zh-CN" sz="2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3.6.2</a:t>
            </a:r>
            <a:r>
              <a:rPr lang="en-US" altLang="zh-CN" sz="2800" dirty="0">
                <a:solidFill>
                  <a:srgbClr val="C00000"/>
                </a:solidFill>
                <a:latin typeface="+mn-lt"/>
                <a:ea typeface="微软雅黑" panose="020B0503020204020204" pitchFamily="34" charset="-122"/>
                <a:cs typeface="Times New Roman" panose="02020603050405020304" pitchFamily="18" charset="0"/>
              </a:rPr>
              <a:t>  </a:t>
            </a:r>
            <a:r>
              <a:rPr lang="zh-CN" altLang="en-US" sz="2800" dirty="0">
                <a:solidFill>
                  <a:srgbClr val="C00000"/>
                </a:solidFill>
                <a:latin typeface="+mn-lt"/>
                <a:ea typeface="微软雅黑" panose="020B0503020204020204" pitchFamily="34" charset="-122"/>
                <a:cs typeface="Times New Roman" panose="02020603050405020304" pitchFamily="18" charset="0"/>
              </a:rPr>
              <a:t>计算示例</a:t>
            </a:r>
            <a:endParaRPr lang="zh-CN" altLang="en-US" sz="2800" dirty="0">
              <a:solidFill>
                <a:srgbClr val="C00000"/>
              </a:solidFill>
              <a:latin typeface="+mn-lt"/>
              <a:ea typeface="微软雅黑" panose="020B0503020204020204" pitchFamily="34" charset="-122"/>
            </a:endParaRPr>
          </a:p>
        </p:txBody>
      </p:sp>
      <p:sp>
        <p:nvSpPr>
          <p:cNvPr id="10" name="文本框 9"/>
          <p:cNvSpPr txBox="1"/>
          <p:nvPr/>
        </p:nvSpPr>
        <p:spPr>
          <a:xfrm>
            <a:off x="2408452" y="2494770"/>
            <a:ext cx="4679950" cy="369888"/>
          </a:xfrm>
          <a:prstGeom prst="rect">
            <a:avLst/>
          </a:prstGeom>
          <a:noFill/>
        </p:spPr>
        <p:txBody>
          <a:bodyPr wrap="none">
            <a:spAutoFit/>
          </a:bodyPr>
          <a:lstStyle/>
          <a:p>
            <a:pPr>
              <a:defRPr/>
            </a:pPr>
            <a:r>
              <a:rPr lang="zh-CN" altLang="zh-CN" kern="100" dirty="0">
                <a:latin typeface="Times New Roman" panose="02020603050405020304" pitchFamily="18" charset="0"/>
                <a:ea typeface="宋体" panose="02010600030101010101" pitchFamily="2" charset="-122"/>
              </a:rPr>
              <a:t>解：</a:t>
            </a:r>
            <a:r>
              <a:rPr lang="en-US" altLang="zh-CN" kern="100" dirty="0">
                <a:latin typeface="Times New Roman" panose="02020603050405020304" pitchFamily="18" charset="0"/>
                <a:ea typeface="宋体" panose="02010600030101010101" pitchFamily="2" charset="-122"/>
              </a:rPr>
              <a:t>  </a:t>
            </a:r>
            <a:r>
              <a:rPr lang="en-US" altLang="zh-CN" b="1" kern="100" dirty="0">
                <a:latin typeface="Times New Roman" panose="02020603050405020304" pitchFamily="18" charset="0"/>
                <a:ea typeface="宋体" panose="02010600030101010101" pitchFamily="2" charset="-122"/>
              </a:rPr>
              <a:t>2HCl + Na</a:t>
            </a:r>
            <a:r>
              <a:rPr lang="en-US" altLang="zh-CN" b="1" kern="100" baseline="-25000" dirty="0">
                <a:latin typeface="Times New Roman" panose="02020603050405020304" pitchFamily="18" charset="0"/>
                <a:ea typeface="宋体" panose="02010600030101010101" pitchFamily="2" charset="-122"/>
              </a:rPr>
              <a:t>2</a:t>
            </a:r>
            <a:r>
              <a:rPr lang="en-US" altLang="zh-CN" b="1" kern="100" dirty="0">
                <a:latin typeface="Times New Roman" panose="02020603050405020304" pitchFamily="18" charset="0"/>
                <a:ea typeface="宋体" panose="02010600030101010101" pitchFamily="2" charset="-122"/>
              </a:rPr>
              <a:t>CO</a:t>
            </a:r>
            <a:r>
              <a:rPr lang="en-US" altLang="zh-CN" b="1" kern="100" baseline="-25000" dirty="0">
                <a:latin typeface="Times New Roman" panose="02020603050405020304" pitchFamily="18" charset="0"/>
                <a:ea typeface="宋体" panose="02010600030101010101" pitchFamily="2" charset="-122"/>
              </a:rPr>
              <a:t>3</a:t>
            </a:r>
            <a:r>
              <a:rPr lang="en-US" altLang="zh-CN" b="1" kern="100" dirty="0">
                <a:latin typeface="Times New Roman" panose="02020603050405020304" pitchFamily="18" charset="0"/>
                <a:ea typeface="宋体" panose="02010600030101010101" pitchFamily="2" charset="-122"/>
              </a:rPr>
              <a:t> == 2NaCl + CO</a:t>
            </a:r>
            <a:r>
              <a:rPr lang="en-US" altLang="zh-CN" b="1" kern="100" baseline="-25000" dirty="0">
                <a:latin typeface="Times New Roman" panose="02020603050405020304" pitchFamily="18" charset="0"/>
                <a:ea typeface="宋体" panose="02010600030101010101" pitchFamily="2" charset="-122"/>
              </a:rPr>
              <a:t>2</a:t>
            </a:r>
            <a:r>
              <a:rPr lang="en-US" altLang="zh-CN" b="1" kern="100" dirty="0">
                <a:latin typeface="Times New Roman" panose="02020603050405020304" pitchFamily="18" charset="0"/>
                <a:ea typeface="宋体" panose="02010600030101010101" pitchFamily="2" charset="-122"/>
              </a:rPr>
              <a:t> + H</a:t>
            </a:r>
            <a:r>
              <a:rPr lang="en-US" altLang="zh-CN" b="1" kern="100" baseline="-25000" dirty="0">
                <a:latin typeface="Times New Roman" panose="02020603050405020304" pitchFamily="18" charset="0"/>
                <a:ea typeface="宋体" panose="02010600030101010101" pitchFamily="2" charset="-122"/>
              </a:rPr>
              <a:t>2</a:t>
            </a:r>
            <a:r>
              <a:rPr lang="en-US" altLang="zh-CN" b="1" kern="100" dirty="0">
                <a:latin typeface="Times New Roman" panose="02020603050405020304" pitchFamily="18" charset="0"/>
                <a:ea typeface="宋体" panose="02010600030101010101" pitchFamily="2" charset="-122"/>
              </a:rPr>
              <a:t>O</a:t>
            </a:r>
            <a:endParaRPr lang="zh-CN" altLang="en-US" b="1" dirty="0">
              <a:latin typeface="Arial" panose="020B0604020202020204" pitchFamily="34" charset="0"/>
            </a:endParaRPr>
          </a:p>
        </p:txBody>
      </p:sp>
      <p:sp>
        <p:nvSpPr>
          <p:cNvPr id="11" name="文本框 10"/>
          <p:cNvSpPr txBox="1"/>
          <p:nvPr/>
        </p:nvSpPr>
        <p:spPr>
          <a:xfrm>
            <a:off x="551385" y="718101"/>
            <a:ext cx="10019568" cy="1684244"/>
          </a:xfrm>
          <a:prstGeom prst="rect">
            <a:avLst/>
          </a:prstGeom>
          <a:noFill/>
        </p:spPr>
        <p:txBody>
          <a:bodyPr wrap="square">
            <a:spAutoFit/>
          </a:bodyPr>
          <a:lstStyle/>
          <a:p>
            <a:pPr algn="just">
              <a:lnSpc>
                <a:spcPct val="150000"/>
              </a:lnSpc>
              <a:defRPr/>
            </a:pP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3-1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用无水碳酸钠标定某盐酸溶液，称取无水</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Na</a:t>
            </a:r>
            <a:r>
              <a:rPr lang="en-US" altLang="zh-CN" sz="240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CO</a:t>
            </a:r>
            <a:r>
              <a:rPr lang="en-US" altLang="zh-CN" sz="2400" baseline="-30000" dirty="0">
                <a:latin typeface="Times New Roman" panose="02020603050405020304" pitchFamily="18" charset="0"/>
                <a:ea typeface="微软雅黑" panose="020B0503020204020204" pitchFamily="34" charset="-122"/>
                <a:cs typeface="Times New Roman" panose="02020603050405020304" pitchFamily="18" charset="0"/>
              </a:rPr>
              <a:t>3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1.2587 g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溶于水，转移至</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250 mL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容量瓶中，取</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25.00 mL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该溶液于锥形瓶中，用</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HCl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溶液滴定消耗</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23.63 mL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，计算</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HCl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溶液的浓度</a:t>
            </a:r>
            <a:r>
              <a:rPr lang="zh-CN" altLang="en-US" sz="2400" dirty="0">
                <a:latin typeface="宋体" panose="02010600030101010101" pitchFamily="2" charset="-122"/>
                <a:cs typeface="Times New Roman" panose="02020603050405020304" pitchFamily="18" charset="0"/>
              </a:rPr>
              <a:t>。</a:t>
            </a:r>
            <a:r>
              <a:rPr lang="zh-CN" altLang="en-US" sz="2400" dirty="0"/>
              <a:t> </a:t>
            </a:r>
          </a:p>
        </p:txBody>
      </p:sp>
      <p:grpSp>
        <p:nvGrpSpPr>
          <p:cNvPr id="17" name="组合 16"/>
          <p:cNvGrpSpPr/>
          <p:nvPr/>
        </p:nvGrpSpPr>
        <p:grpSpPr>
          <a:xfrm>
            <a:off x="7180857" y="2654289"/>
            <a:ext cx="2081367" cy="564898"/>
            <a:chOff x="2231978" y="2961885"/>
            <a:chExt cx="2081367" cy="564898"/>
          </a:xfrm>
        </p:grpSpPr>
        <mc:AlternateContent xmlns:mc="http://schemas.openxmlformats.org/markup-compatibility/2006" xmlns:a14="http://schemas.microsoft.com/office/drawing/2010/main">
          <mc:Choice Requires="a14">
            <p:sp>
              <p:nvSpPr>
                <p:cNvPr id="3" name="TextBox 2"/>
                <p:cNvSpPr txBox="1"/>
                <p:nvPr/>
              </p:nvSpPr>
              <p:spPr>
                <a:xfrm>
                  <a:off x="2231978" y="2961885"/>
                  <a:ext cx="685701"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a:rPr>
                                  <m:t>𝑛</m:t>
                                </m:r>
                              </m:e>
                              <m:sub>
                                <m:r>
                                  <m:rPr>
                                    <m:sty m:val="p"/>
                                  </m:rPr>
                                  <a:rPr lang="en-US" altLang="zh-CN" b="0" i="0" smtClean="0">
                                    <a:latin typeface="Cambria Math" panose="02040503050406030204"/>
                                  </a:rPr>
                                  <m:t>HCl</m:t>
                                </m:r>
                              </m:sub>
                            </m:sSub>
                          </m:num>
                          <m:den>
                            <m:r>
                              <a:rPr lang="en-US" altLang="zh-CN" b="0" i="1" smtClean="0">
                                <a:latin typeface="Cambria Math" panose="02040503050406030204"/>
                              </a:rPr>
                              <m:t>2</m:t>
                            </m:r>
                          </m:den>
                        </m:f>
                      </m:oMath>
                    </m:oMathPara>
                  </a14:m>
                  <a:endParaRPr lang="zh-CN" alt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2231978" y="2961885"/>
                  <a:ext cx="685701" cy="564898"/>
                </a:xfrm>
                <a:prstGeom prst="rect">
                  <a:avLst/>
                </a:prstGeom>
                <a:blipFill rotWithShape="1">
                  <a:blip r:embed="rId6"/>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341669" y="2961885"/>
                  <a:ext cx="971676"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a:rPr>
                                  <m:t>𝑛</m:t>
                                </m:r>
                              </m:e>
                              <m:sub>
                                <m:r>
                                  <m:rPr>
                                    <m:sty m:val="p"/>
                                  </m:rPr>
                                  <a:rPr lang="en-US" altLang="zh-CN" b="0" i="0" smtClean="0">
                                    <a:latin typeface="Cambria Math" panose="02040503050406030204"/>
                                  </a:rPr>
                                  <m:t>Na</m:t>
                                </m:r>
                                <m:r>
                                  <a:rPr lang="en-US" altLang="zh-CN" b="0" i="0" baseline="-25000" smtClean="0">
                                    <a:latin typeface="Cambria Math" panose="02040503050406030204"/>
                                  </a:rPr>
                                  <m:t>2</m:t>
                                </m:r>
                                <m:r>
                                  <m:rPr>
                                    <m:sty m:val="p"/>
                                  </m:rPr>
                                  <a:rPr lang="en-US" altLang="zh-CN" b="0" i="0" smtClean="0">
                                    <a:latin typeface="Cambria Math" panose="02040503050406030204"/>
                                  </a:rPr>
                                  <m:t>CO</m:t>
                                </m:r>
                                <m:r>
                                  <a:rPr lang="en-US" altLang="zh-CN" b="0" i="0" baseline="-25000" smtClean="0">
                                    <a:latin typeface="Cambria Math" panose="02040503050406030204"/>
                                  </a:rPr>
                                  <m:t>3</m:t>
                                </m:r>
                              </m:sub>
                            </m:sSub>
                          </m:num>
                          <m:den>
                            <m:r>
                              <a:rPr lang="en-US" altLang="zh-CN" b="0" i="1" smtClean="0">
                                <a:latin typeface="Cambria Math" panose="02040503050406030204"/>
                              </a:rPr>
                              <m:t>1</m:t>
                            </m:r>
                          </m:den>
                        </m:f>
                      </m:oMath>
                    </m:oMathPara>
                  </a14:m>
                  <a:endParaRPr lang="zh-CN" alt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3341669" y="2961885"/>
                  <a:ext cx="971676" cy="564898"/>
                </a:xfrm>
                <a:prstGeom prst="rect">
                  <a:avLst/>
                </a:prstGeom>
                <a:blipFill rotWithShape="1">
                  <a:blip r:embed="rId7"/>
                </a:blipFill>
              </p:spPr>
              <p:txBody>
                <a:bodyPr/>
                <a:lstStyle/>
                <a:p>
                  <a:r>
                    <a:rPr lang="zh-CN" altLang="en-US">
                      <a:noFill/>
                    </a:rPr>
                    <a:t> </a:t>
                  </a:r>
                  <a:endParaRPr lang="zh-CN" altLang="en-US">
                    <a:noFill/>
                  </a:endParaRPr>
                </a:p>
              </p:txBody>
            </p:sp>
          </mc:Fallback>
        </mc:AlternateContent>
        <p:sp>
          <p:nvSpPr>
            <p:cNvPr id="5" name="TextBox 4"/>
            <p:cNvSpPr txBox="1"/>
            <p:nvPr/>
          </p:nvSpPr>
          <p:spPr>
            <a:xfrm>
              <a:off x="2917679" y="3059668"/>
              <a:ext cx="319318" cy="369332"/>
            </a:xfrm>
            <a:prstGeom prst="rect">
              <a:avLst/>
            </a:prstGeom>
            <a:noFill/>
          </p:spPr>
          <p:txBody>
            <a:bodyPr wrap="none" rtlCol="0">
              <a:spAutoFit/>
            </a:bodyPr>
            <a:lstStyle/>
            <a:p>
              <a:r>
                <a:rPr lang="en-US" altLang="zh-CN" dirty="0"/>
                <a:t>=</a:t>
              </a:r>
              <a:endParaRPr lang="zh-CN" altLang="en-US" dirty="0"/>
            </a:p>
          </p:txBody>
        </p:sp>
      </p:grpSp>
      <p:sp>
        <p:nvSpPr>
          <p:cNvPr id="7" name="TextBox 6"/>
          <p:cNvSpPr txBox="1"/>
          <p:nvPr/>
        </p:nvSpPr>
        <p:spPr>
          <a:xfrm>
            <a:off x="2160859" y="3585967"/>
            <a:ext cx="1527982" cy="369332"/>
          </a:xfrm>
          <a:prstGeom prst="rect">
            <a:avLst/>
          </a:prstGeom>
          <a:noFill/>
        </p:spPr>
        <p:txBody>
          <a:bodyPr wrap="none" rtlCol="0">
            <a:spAutoFit/>
          </a:bodyPr>
          <a:lstStyle/>
          <a:p>
            <a:r>
              <a:rPr lang="en-US" altLang="zh-CN" i="1" dirty="0" err="1">
                <a:latin typeface="Times New Roman" panose="02020603050405020304" pitchFamily="18" charset="0"/>
                <a:cs typeface="Times New Roman" panose="02020603050405020304" pitchFamily="18" charset="0"/>
              </a:rPr>
              <a:t>n</a:t>
            </a:r>
            <a:r>
              <a:rPr lang="en-US" altLang="zh-CN" baseline="-25000" dirty="0" err="1">
                <a:latin typeface="Times New Roman" panose="02020603050405020304" pitchFamily="18" charset="0"/>
                <a:cs typeface="Times New Roman" panose="02020603050405020304" pitchFamily="18" charset="0"/>
              </a:rPr>
              <a:t>HCl</a:t>
            </a:r>
            <a:r>
              <a:rPr lang="en-US" altLang="zh-CN" baseline="-25000"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b="1" i="1" dirty="0" err="1">
                <a:solidFill>
                  <a:srgbClr val="FF0000"/>
                </a:solidFill>
                <a:latin typeface="Times New Roman" panose="02020603050405020304" pitchFamily="18" charset="0"/>
                <a:cs typeface="Times New Roman" panose="02020603050405020304" pitchFamily="18" charset="0"/>
              </a:rPr>
              <a:t>c</a:t>
            </a:r>
            <a:r>
              <a:rPr lang="en-US" altLang="zh-CN" b="1" baseline="-25000" dirty="0" err="1">
                <a:solidFill>
                  <a:srgbClr val="FF0000"/>
                </a:solidFill>
                <a:latin typeface="Times New Roman" panose="02020603050405020304" pitchFamily="18" charset="0"/>
                <a:cs typeface="Times New Roman" panose="02020603050405020304" pitchFamily="18" charset="0"/>
              </a:rPr>
              <a:t>HCl</a:t>
            </a:r>
            <a:r>
              <a:rPr lang="en-US" altLang="zh-CN" i="1" dirty="0" err="1">
                <a:latin typeface="Times New Roman" panose="02020603050405020304" pitchFamily="18" charset="0"/>
                <a:cs typeface="Times New Roman" panose="02020603050405020304" pitchFamily="18" charset="0"/>
              </a:rPr>
              <a:t>V</a:t>
            </a:r>
            <a:r>
              <a:rPr lang="en-US" altLang="zh-CN" baseline="-25000" dirty="0" err="1">
                <a:latin typeface="Times New Roman" panose="02020603050405020304" pitchFamily="18" charset="0"/>
                <a:cs typeface="Times New Roman" panose="02020603050405020304" pitchFamily="18" charset="0"/>
              </a:rPr>
              <a:t>HCl</a:t>
            </a:r>
            <a:endParaRPr lang="zh-CN" altLang="en-US" baseline="-250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2160859" y="3079253"/>
            <a:ext cx="1508746" cy="369332"/>
          </a:xfrm>
          <a:prstGeom prst="rect">
            <a:avLst/>
          </a:prstGeom>
          <a:noFill/>
        </p:spPr>
        <p:txBody>
          <a:bodyPr wrap="none" rtlCol="0">
            <a:spAutoFit/>
          </a:bodyPr>
          <a:lstStyle/>
          <a:p>
            <a:r>
              <a:rPr lang="en-US" altLang="zh-CN" i="1" dirty="0" err="1">
                <a:latin typeface="Times New Roman" panose="02020603050405020304" pitchFamily="18" charset="0"/>
                <a:cs typeface="Times New Roman" panose="02020603050405020304" pitchFamily="18" charset="0"/>
              </a:rPr>
              <a:t>n</a:t>
            </a:r>
            <a:r>
              <a:rPr lang="en-US" altLang="zh-CN" baseline="-25000" dirty="0" err="1">
                <a:latin typeface="Times New Roman" panose="02020603050405020304" pitchFamily="18" charset="0"/>
                <a:cs typeface="Times New Roman" panose="02020603050405020304" pitchFamily="18" charset="0"/>
              </a:rPr>
              <a:t>HCl</a:t>
            </a:r>
            <a:r>
              <a:rPr lang="en-US" altLang="zh-CN" baseline="-25000"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2</a:t>
            </a:r>
            <a:r>
              <a:rPr lang="en-US" altLang="zh-CN" i="1" dirty="0">
                <a:latin typeface="Times New Roman" panose="02020603050405020304" pitchFamily="18" charset="0"/>
                <a:cs typeface="Times New Roman" panose="02020603050405020304" pitchFamily="18" charset="0"/>
              </a:rPr>
              <a:t>n</a:t>
            </a:r>
            <a:r>
              <a:rPr lang="en-US" altLang="zh-CN" baseline="-25000" dirty="0">
                <a:latin typeface="Times New Roman" panose="02020603050405020304" pitchFamily="18" charset="0"/>
                <a:cs typeface="Times New Roman" panose="02020603050405020304" pitchFamily="18" charset="0"/>
              </a:rPr>
              <a:t>Na</a:t>
            </a:r>
            <a:r>
              <a:rPr lang="en-US" altLang="zh-CN" sz="1200" baseline="-45000" dirty="0">
                <a:latin typeface="Times New Roman" panose="02020603050405020304" pitchFamily="18" charset="0"/>
                <a:cs typeface="Times New Roman" panose="02020603050405020304" pitchFamily="18" charset="0"/>
              </a:rPr>
              <a:t>2</a:t>
            </a:r>
            <a:r>
              <a:rPr lang="en-US" altLang="zh-CN" baseline="-25000" dirty="0">
                <a:latin typeface="Times New Roman" panose="02020603050405020304" pitchFamily="18" charset="0"/>
                <a:cs typeface="Times New Roman" panose="02020603050405020304" pitchFamily="18" charset="0"/>
              </a:rPr>
              <a:t>CO</a:t>
            </a:r>
            <a:r>
              <a:rPr lang="en-US" altLang="zh-CN" sz="1200" baseline="-45000" dirty="0">
                <a:latin typeface="Times New Roman" panose="02020603050405020304" pitchFamily="18" charset="0"/>
                <a:cs typeface="Times New Roman" panose="02020603050405020304" pitchFamily="18" charset="0"/>
              </a:rPr>
              <a:t>3</a:t>
            </a:r>
            <a:endParaRPr lang="zh-CN" altLang="en-US" sz="1200" baseline="-45000"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3882412" y="3581799"/>
            <a:ext cx="2257349" cy="369332"/>
          </a:xfrm>
          <a:prstGeom prst="rect">
            <a:avLst/>
          </a:prstGeom>
          <a:noFill/>
        </p:spPr>
        <p:txBody>
          <a:bodyPr wrap="none" rtlCol="0">
            <a:spAutoFit/>
          </a:bodyPr>
          <a:lstStyle/>
          <a:p>
            <a:r>
              <a:rPr lang="en-US" altLang="zh-CN" i="1" dirty="0">
                <a:latin typeface="Times New Roman" panose="02020603050405020304" pitchFamily="18" charset="0"/>
                <a:cs typeface="Times New Roman" panose="02020603050405020304" pitchFamily="18" charset="0"/>
              </a:rPr>
              <a:t>n</a:t>
            </a:r>
            <a:r>
              <a:rPr lang="en-US" altLang="zh-CN" baseline="-25000" dirty="0">
                <a:latin typeface="Times New Roman" panose="02020603050405020304" pitchFamily="18" charset="0"/>
                <a:cs typeface="Times New Roman" panose="02020603050405020304" pitchFamily="18" charset="0"/>
              </a:rPr>
              <a:t>Na</a:t>
            </a:r>
            <a:r>
              <a:rPr lang="en-US" altLang="zh-CN" sz="1200" baseline="-45000" dirty="0">
                <a:latin typeface="Times New Roman" panose="02020603050405020304" pitchFamily="18" charset="0"/>
                <a:cs typeface="Times New Roman" panose="02020603050405020304" pitchFamily="18" charset="0"/>
              </a:rPr>
              <a:t>2</a:t>
            </a:r>
            <a:r>
              <a:rPr lang="en-US" altLang="zh-CN" baseline="-25000" dirty="0">
                <a:latin typeface="Times New Roman" panose="02020603050405020304" pitchFamily="18" charset="0"/>
                <a:cs typeface="Times New Roman" panose="02020603050405020304" pitchFamily="18" charset="0"/>
              </a:rPr>
              <a:t>CO</a:t>
            </a:r>
            <a:r>
              <a:rPr lang="en-US" altLang="zh-CN" sz="1200" baseline="-45000" dirty="0">
                <a:latin typeface="Times New Roman" panose="02020603050405020304" pitchFamily="18" charset="0"/>
                <a:cs typeface="Times New Roman" panose="02020603050405020304" pitchFamily="18" charset="0"/>
              </a:rPr>
              <a:t>3 </a:t>
            </a:r>
            <a:r>
              <a:rPr lang="en-US" altLang="zh-CN" sz="1200" dirty="0">
                <a:latin typeface="Times New Roman" panose="02020603050405020304" pitchFamily="18" charset="0"/>
                <a:cs typeface="Times New Roman" panose="02020603050405020304" pitchFamily="18" charset="0"/>
              </a:rPr>
              <a:t>=</a:t>
            </a:r>
            <a:r>
              <a:rPr lang="en-US" altLang="zh-CN" i="1" dirty="0">
                <a:solidFill>
                  <a:prstClr val="black"/>
                </a:solidFill>
                <a:latin typeface="Times New Roman" panose="02020603050405020304" pitchFamily="18" charset="0"/>
                <a:cs typeface="Times New Roman" panose="02020603050405020304" pitchFamily="18" charset="0"/>
              </a:rPr>
              <a:t> c</a:t>
            </a:r>
            <a:r>
              <a:rPr lang="en-US" altLang="zh-CN" baseline="-25000" dirty="0">
                <a:solidFill>
                  <a:prstClr val="black"/>
                </a:solidFill>
                <a:latin typeface="Times New Roman" panose="02020603050405020304" pitchFamily="18" charset="0"/>
                <a:cs typeface="Times New Roman" panose="02020603050405020304" pitchFamily="18" charset="0"/>
              </a:rPr>
              <a:t>Na</a:t>
            </a:r>
            <a:r>
              <a:rPr lang="en-US" altLang="zh-CN" sz="1200" baseline="-45000" dirty="0">
                <a:solidFill>
                  <a:prstClr val="black"/>
                </a:solidFill>
                <a:latin typeface="Times New Roman" panose="02020603050405020304" pitchFamily="18" charset="0"/>
                <a:cs typeface="Times New Roman" panose="02020603050405020304" pitchFamily="18" charset="0"/>
              </a:rPr>
              <a:t>2</a:t>
            </a:r>
            <a:r>
              <a:rPr lang="en-US" altLang="zh-CN" baseline="-25000" dirty="0">
                <a:solidFill>
                  <a:prstClr val="black"/>
                </a:solidFill>
                <a:latin typeface="Times New Roman" panose="02020603050405020304" pitchFamily="18" charset="0"/>
                <a:cs typeface="Times New Roman" panose="02020603050405020304" pitchFamily="18" charset="0"/>
              </a:rPr>
              <a:t>CO</a:t>
            </a:r>
            <a:r>
              <a:rPr lang="en-US" altLang="zh-CN" sz="1200" baseline="-45000" dirty="0">
                <a:solidFill>
                  <a:prstClr val="black"/>
                </a:solidFill>
                <a:latin typeface="Times New Roman" panose="02020603050405020304" pitchFamily="18" charset="0"/>
                <a:cs typeface="Times New Roman" panose="02020603050405020304" pitchFamily="18" charset="0"/>
              </a:rPr>
              <a:t>3</a:t>
            </a:r>
            <a:r>
              <a:rPr lang="en-US" altLang="zh-CN" i="1" dirty="0">
                <a:solidFill>
                  <a:prstClr val="black"/>
                </a:solidFill>
                <a:latin typeface="Times New Roman" panose="02020603050405020304" pitchFamily="18" charset="0"/>
                <a:cs typeface="Times New Roman" panose="02020603050405020304" pitchFamily="18" charset="0"/>
              </a:rPr>
              <a:t> V</a:t>
            </a:r>
            <a:r>
              <a:rPr lang="en-US" altLang="zh-CN" baseline="-25000" dirty="0">
                <a:solidFill>
                  <a:prstClr val="black"/>
                </a:solidFill>
                <a:latin typeface="Times New Roman" panose="02020603050405020304" pitchFamily="18" charset="0"/>
                <a:cs typeface="Times New Roman" panose="02020603050405020304" pitchFamily="18" charset="0"/>
              </a:rPr>
              <a:t>Na</a:t>
            </a:r>
            <a:r>
              <a:rPr lang="en-US" altLang="zh-CN" sz="1200" baseline="-45000" dirty="0">
                <a:solidFill>
                  <a:prstClr val="black"/>
                </a:solidFill>
                <a:latin typeface="Times New Roman" panose="02020603050405020304" pitchFamily="18" charset="0"/>
                <a:cs typeface="Times New Roman" panose="02020603050405020304" pitchFamily="18" charset="0"/>
              </a:rPr>
              <a:t>2</a:t>
            </a:r>
            <a:r>
              <a:rPr lang="en-US" altLang="zh-CN" baseline="-25000" dirty="0">
                <a:solidFill>
                  <a:prstClr val="black"/>
                </a:solidFill>
                <a:latin typeface="Times New Roman" panose="02020603050405020304" pitchFamily="18" charset="0"/>
                <a:cs typeface="Times New Roman" panose="02020603050405020304" pitchFamily="18" charset="0"/>
              </a:rPr>
              <a:t>CO</a:t>
            </a:r>
            <a:r>
              <a:rPr lang="en-US" altLang="zh-CN" sz="1200" baseline="-45000" dirty="0">
                <a:solidFill>
                  <a:prstClr val="black"/>
                </a:solidFill>
                <a:latin typeface="Times New Roman" panose="02020603050405020304" pitchFamily="18" charset="0"/>
                <a:cs typeface="Times New Roman" panose="02020603050405020304" pitchFamily="18" charset="0"/>
              </a:rPr>
              <a:t>3</a:t>
            </a:r>
            <a:endParaRPr lang="zh-CN" altLang="en-US" sz="1200" dirty="0">
              <a:latin typeface="Times New Roman" panose="02020603050405020304" pitchFamily="18" charset="0"/>
              <a:cs typeface="Times New Roman" panose="02020603050405020304" pitchFamily="18" charset="0"/>
            </a:endParaRPr>
          </a:p>
        </p:txBody>
      </p:sp>
      <p:sp>
        <p:nvSpPr>
          <p:cNvPr id="15" name="矩形 14"/>
          <p:cNvSpPr/>
          <p:nvPr/>
        </p:nvSpPr>
        <p:spPr>
          <a:xfrm>
            <a:off x="2160859" y="4137314"/>
            <a:ext cx="2587568" cy="369332"/>
          </a:xfrm>
          <a:prstGeom prst="rect">
            <a:avLst/>
          </a:prstGeom>
        </p:spPr>
        <p:txBody>
          <a:bodyPr wrap="none">
            <a:spAutoFit/>
          </a:bodyPr>
          <a:lstStyle/>
          <a:p>
            <a:pPr lvl="0"/>
            <a:r>
              <a:rPr lang="en-US" altLang="zh-CN" b="1" i="1" dirty="0" err="1">
                <a:solidFill>
                  <a:srgbClr val="FF0000"/>
                </a:solidFill>
                <a:latin typeface="Times New Roman" panose="02020603050405020304" pitchFamily="18" charset="0"/>
                <a:cs typeface="Times New Roman" panose="02020603050405020304" pitchFamily="18" charset="0"/>
              </a:rPr>
              <a:t>c</a:t>
            </a:r>
            <a:r>
              <a:rPr lang="en-US" altLang="zh-CN" b="1" baseline="-25000" dirty="0" err="1">
                <a:solidFill>
                  <a:srgbClr val="FF0000"/>
                </a:solidFill>
                <a:latin typeface="Times New Roman" panose="02020603050405020304" pitchFamily="18" charset="0"/>
                <a:cs typeface="Times New Roman" panose="02020603050405020304" pitchFamily="18" charset="0"/>
              </a:rPr>
              <a:t>HCl</a:t>
            </a:r>
            <a:r>
              <a:rPr lang="en-US" altLang="zh-CN" i="1" dirty="0" err="1">
                <a:solidFill>
                  <a:prstClr val="black"/>
                </a:solidFill>
                <a:latin typeface="Times New Roman" panose="02020603050405020304" pitchFamily="18" charset="0"/>
                <a:cs typeface="Times New Roman" panose="02020603050405020304" pitchFamily="18" charset="0"/>
              </a:rPr>
              <a:t>V</a:t>
            </a:r>
            <a:r>
              <a:rPr lang="en-US" altLang="zh-CN" baseline="-25000" dirty="0" err="1">
                <a:solidFill>
                  <a:prstClr val="black"/>
                </a:solidFill>
                <a:latin typeface="Times New Roman" panose="02020603050405020304" pitchFamily="18" charset="0"/>
                <a:cs typeface="Times New Roman" panose="02020603050405020304" pitchFamily="18" charset="0"/>
              </a:rPr>
              <a:t>HCl</a:t>
            </a:r>
            <a:r>
              <a:rPr lang="en-US" altLang="zh-CN" sz="1200" dirty="0">
                <a:solidFill>
                  <a:prstClr val="black"/>
                </a:solidFill>
                <a:latin typeface="Times New Roman" panose="02020603050405020304" pitchFamily="18" charset="0"/>
                <a:cs typeface="Times New Roman" panose="02020603050405020304" pitchFamily="18" charset="0"/>
              </a:rPr>
              <a:t> =</a:t>
            </a:r>
            <a:r>
              <a:rPr lang="en-US" altLang="zh-CN" i="1" dirty="0">
                <a:solidFill>
                  <a:prstClr val="black"/>
                </a:solidFill>
                <a:latin typeface="Times New Roman" panose="02020603050405020304" pitchFamily="18" charset="0"/>
                <a:cs typeface="Times New Roman" panose="02020603050405020304" pitchFamily="18" charset="0"/>
              </a:rPr>
              <a:t> 2c</a:t>
            </a:r>
            <a:r>
              <a:rPr lang="en-US" altLang="zh-CN" baseline="-25000" dirty="0">
                <a:solidFill>
                  <a:prstClr val="black"/>
                </a:solidFill>
                <a:latin typeface="Times New Roman" panose="02020603050405020304" pitchFamily="18" charset="0"/>
                <a:cs typeface="Times New Roman" panose="02020603050405020304" pitchFamily="18" charset="0"/>
              </a:rPr>
              <a:t>Na</a:t>
            </a:r>
            <a:r>
              <a:rPr lang="en-US" altLang="zh-CN" sz="1200" baseline="-45000" dirty="0">
                <a:solidFill>
                  <a:prstClr val="black"/>
                </a:solidFill>
                <a:latin typeface="Times New Roman" panose="02020603050405020304" pitchFamily="18" charset="0"/>
                <a:cs typeface="Times New Roman" panose="02020603050405020304" pitchFamily="18" charset="0"/>
              </a:rPr>
              <a:t>2</a:t>
            </a:r>
            <a:r>
              <a:rPr lang="en-US" altLang="zh-CN" baseline="-25000" dirty="0">
                <a:solidFill>
                  <a:prstClr val="black"/>
                </a:solidFill>
                <a:latin typeface="Times New Roman" panose="02020603050405020304" pitchFamily="18" charset="0"/>
                <a:cs typeface="Times New Roman" panose="02020603050405020304" pitchFamily="18" charset="0"/>
              </a:rPr>
              <a:t>CO</a:t>
            </a:r>
            <a:r>
              <a:rPr lang="en-US" altLang="zh-CN" sz="1200" baseline="-45000" dirty="0">
                <a:solidFill>
                  <a:prstClr val="black"/>
                </a:solidFill>
                <a:latin typeface="Times New Roman" panose="02020603050405020304" pitchFamily="18" charset="0"/>
                <a:cs typeface="Times New Roman" panose="02020603050405020304" pitchFamily="18" charset="0"/>
              </a:rPr>
              <a:t>3</a:t>
            </a:r>
            <a:r>
              <a:rPr lang="en-US" altLang="zh-CN" i="1" dirty="0">
                <a:solidFill>
                  <a:prstClr val="black"/>
                </a:solidFill>
                <a:latin typeface="Times New Roman" panose="02020603050405020304" pitchFamily="18" charset="0"/>
                <a:cs typeface="Times New Roman" panose="02020603050405020304" pitchFamily="18" charset="0"/>
              </a:rPr>
              <a:t> V</a:t>
            </a:r>
            <a:r>
              <a:rPr lang="en-US" altLang="zh-CN" baseline="-25000" dirty="0">
                <a:solidFill>
                  <a:prstClr val="black"/>
                </a:solidFill>
                <a:latin typeface="Times New Roman" panose="02020603050405020304" pitchFamily="18" charset="0"/>
                <a:cs typeface="Times New Roman" panose="02020603050405020304" pitchFamily="18" charset="0"/>
              </a:rPr>
              <a:t>Na</a:t>
            </a:r>
            <a:r>
              <a:rPr lang="en-US" altLang="zh-CN" sz="1200" baseline="-45000" dirty="0">
                <a:solidFill>
                  <a:prstClr val="black"/>
                </a:solidFill>
                <a:latin typeface="Times New Roman" panose="02020603050405020304" pitchFamily="18" charset="0"/>
                <a:cs typeface="Times New Roman" panose="02020603050405020304" pitchFamily="18" charset="0"/>
              </a:rPr>
              <a:t>2</a:t>
            </a:r>
            <a:r>
              <a:rPr lang="en-US" altLang="zh-CN" baseline="-25000" dirty="0">
                <a:solidFill>
                  <a:prstClr val="black"/>
                </a:solidFill>
                <a:latin typeface="Times New Roman" panose="02020603050405020304" pitchFamily="18" charset="0"/>
                <a:cs typeface="Times New Roman" panose="02020603050405020304" pitchFamily="18" charset="0"/>
              </a:rPr>
              <a:t>CO</a:t>
            </a:r>
            <a:r>
              <a:rPr lang="en-US" altLang="zh-CN" sz="1200" baseline="-45000" dirty="0">
                <a:solidFill>
                  <a:prstClr val="black"/>
                </a:solidFill>
                <a:latin typeface="Times New Roman" panose="02020603050405020304" pitchFamily="18" charset="0"/>
                <a:cs typeface="Times New Roman" panose="02020603050405020304" pitchFamily="18" charset="0"/>
              </a:rPr>
              <a:t>3</a:t>
            </a:r>
            <a:r>
              <a:rPr lang="en-US" altLang="zh-CN" sz="1200" dirty="0">
                <a:solidFill>
                  <a:prstClr val="black"/>
                </a:solidFill>
                <a:latin typeface="Times New Roman" panose="02020603050405020304" pitchFamily="18" charset="0"/>
                <a:cs typeface="Times New Roman" panose="02020603050405020304" pitchFamily="18" charset="0"/>
              </a:rPr>
              <a:t> </a:t>
            </a:r>
            <a:endParaRPr lang="zh-CN" altLang="en-US" baseline="-25000" dirty="0">
              <a:solidFill>
                <a:prstClr val="black"/>
              </a:solidFill>
              <a:latin typeface="Times New Roman" panose="02020603050405020304" pitchFamily="18" charset="0"/>
              <a:cs typeface="Times New Roman" panose="02020603050405020304" pitchFamily="18" charset="0"/>
            </a:endParaRPr>
          </a:p>
        </p:txBody>
      </p:sp>
      <p:sp>
        <p:nvSpPr>
          <p:cNvPr id="30" name="矩形 29"/>
          <p:cNvSpPr/>
          <p:nvPr/>
        </p:nvSpPr>
        <p:spPr>
          <a:xfrm>
            <a:off x="5659699" y="4769323"/>
            <a:ext cx="2630848" cy="369332"/>
          </a:xfrm>
          <a:prstGeom prst="rect">
            <a:avLst/>
          </a:prstGeom>
        </p:spPr>
        <p:txBody>
          <a:bodyPr wrap="none">
            <a:spAutoFit/>
          </a:bodyPr>
          <a:lstStyle/>
          <a:p>
            <a:pPr lvl="0"/>
            <a:r>
              <a:rPr lang="en-US" altLang="zh-CN" b="1" i="1" dirty="0" err="1">
                <a:solidFill>
                  <a:srgbClr val="FF0000"/>
                </a:solidFill>
                <a:latin typeface="Times New Roman" panose="02020603050405020304" pitchFamily="18" charset="0"/>
                <a:cs typeface="Times New Roman" panose="02020603050405020304" pitchFamily="18" charset="0"/>
              </a:rPr>
              <a:t>c</a:t>
            </a:r>
            <a:r>
              <a:rPr lang="en-US" altLang="zh-CN" b="1" baseline="-25000" dirty="0" err="1">
                <a:solidFill>
                  <a:srgbClr val="FF0000"/>
                </a:solidFill>
                <a:latin typeface="Times New Roman" panose="02020603050405020304" pitchFamily="18" charset="0"/>
                <a:cs typeface="Times New Roman" panose="02020603050405020304" pitchFamily="18" charset="0"/>
              </a:rPr>
              <a:t>HCl</a:t>
            </a:r>
            <a:r>
              <a:rPr lang="en-US" altLang="zh-CN" sz="1200" dirty="0">
                <a:solidFill>
                  <a:prstClr val="black"/>
                </a:solidFill>
                <a:latin typeface="Times New Roman" panose="02020603050405020304" pitchFamily="18" charset="0"/>
                <a:cs typeface="Times New Roman" panose="02020603050405020304" pitchFamily="18" charset="0"/>
              </a:rPr>
              <a:t> =</a:t>
            </a:r>
            <a:r>
              <a:rPr lang="en-US" altLang="zh-CN" i="1" dirty="0">
                <a:solidFill>
                  <a:prstClr val="black"/>
                </a:solidFill>
                <a:latin typeface="Times New Roman" panose="02020603050405020304" pitchFamily="18" charset="0"/>
                <a:cs typeface="Times New Roman" panose="02020603050405020304" pitchFamily="18" charset="0"/>
              </a:rPr>
              <a:t> 2c</a:t>
            </a:r>
            <a:r>
              <a:rPr lang="en-US" altLang="zh-CN" baseline="-25000" dirty="0">
                <a:solidFill>
                  <a:prstClr val="black"/>
                </a:solidFill>
                <a:latin typeface="Times New Roman" panose="02020603050405020304" pitchFamily="18" charset="0"/>
                <a:cs typeface="Times New Roman" panose="02020603050405020304" pitchFamily="18" charset="0"/>
              </a:rPr>
              <a:t>Na</a:t>
            </a:r>
            <a:r>
              <a:rPr lang="en-US" altLang="zh-CN" sz="1200" baseline="-45000" dirty="0">
                <a:solidFill>
                  <a:prstClr val="black"/>
                </a:solidFill>
                <a:latin typeface="Times New Roman" panose="02020603050405020304" pitchFamily="18" charset="0"/>
                <a:cs typeface="Times New Roman" panose="02020603050405020304" pitchFamily="18" charset="0"/>
              </a:rPr>
              <a:t>2</a:t>
            </a:r>
            <a:r>
              <a:rPr lang="en-US" altLang="zh-CN" baseline="-25000" dirty="0">
                <a:solidFill>
                  <a:prstClr val="black"/>
                </a:solidFill>
                <a:latin typeface="Times New Roman" panose="02020603050405020304" pitchFamily="18" charset="0"/>
                <a:cs typeface="Times New Roman" panose="02020603050405020304" pitchFamily="18" charset="0"/>
              </a:rPr>
              <a:t>CO</a:t>
            </a:r>
            <a:r>
              <a:rPr lang="en-US" altLang="zh-CN" sz="1200" baseline="-45000" dirty="0">
                <a:solidFill>
                  <a:prstClr val="black"/>
                </a:solidFill>
                <a:latin typeface="Times New Roman" panose="02020603050405020304" pitchFamily="18" charset="0"/>
                <a:cs typeface="Times New Roman" panose="02020603050405020304" pitchFamily="18" charset="0"/>
              </a:rPr>
              <a:t>3</a:t>
            </a:r>
            <a:r>
              <a:rPr lang="en-US" altLang="zh-CN" i="1" dirty="0">
                <a:solidFill>
                  <a:prstClr val="black"/>
                </a:solidFill>
                <a:latin typeface="Times New Roman" panose="02020603050405020304" pitchFamily="18" charset="0"/>
                <a:cs typeface="Times New Roman" panose="02020603050405020304" pitchFamily="18" charset="0"/>
              </a:rPr>
              <a:t> V</a:t>
            </a:r>
            <a:r>
              <a:rPr lang="en-US" altLang="zh-CN" baseline="-25000" dirty="0">
                <a:solidFill>
                  <a:prstClr val="black"/>
                </a:solidFill>
                <a:latin typeface="Times New Roman" panose="02020603050405020304" pitchFamily="18" charset="0"/>
                <a:cs typeface="Times New Roman" panose="02020603050405020304" pitchFamily="18" charset="0"/>
              </a:rPr>
              <a:t>Na</a:t>
            </a:r>
            <a:r>
              <a:rPr lang="en-US" altLang="zh-CN" sz="1200" baseline="-45000" dirty="0">
                <a:solidFill>
                  <a:prstClr val="black"/>
                </a:solidFill>
                <a:latin typeface="Times New Roman" panose="02020603050405020304" pitchFamily="18" charset="0"/>
                <a:cs typeface="Times New Roman" panose="02020603050405020304" pitchFamily="18" charset="0"/>
              </a:rPr>
              <a:t>2</a:t>
            </a:r>
            <a:r>
              <a:rPr lang="en-US" altLang="zh-CN" baseline="-25000" dirty="0">
                <a:solidFill>
                  <a:prstClr val="black"/>
                </a:solidFill>
                <a:latin typeface="Times New Roman" panose="02020603050405020304" pitchFamily="18" charset="0"/>
                <a:cs typeface="Times New Roman" panose="02020603050405020304" pitchFamily="18" charset="0"/>
              </a:rPr>
              <a:t>CO</a:t>
            </a:r>
            <a:r>
              <a:rPr lang="en-US" altLang="zh-CN" sz="1200" baseline="-45000" dirty="0">
                <a:solidFill>
                  <a:prstClr val="black"/>
                </a:solidFill>
                <a:latin typeface="Times New Roman" panose="02020603050405020304" pitchFamily="18" charset="0"/>
                <a:cs typeface="Times New Roman" panose="02020603050405020304" pitchFamily="18" charset="0"/>
              </a:rPr>
              <a:t>3</a:t>
            </a:r>
            <a:r>
              <a:rPr lang="en-US" altLang="zh-CN" dirty="0">
                <a:solidFill>
                  <a:prstClr val="black"/>
                </a:solidFill>
                <a:latin typeface="Times New Roman" panose="02020603050405020304" pitchFamily="18" charset="0"/>
                <a:cs typeface="Times New Roman" panose="02020603050405020304" pitchFamily="18" charset="0"/>
              </a:rPr>
              <a:t>/</a:t>
            </a:r>
            <a:r>
              <a:rPr lang="en-US" altLang="zh-CN" i="1" dirty="0" err="1">
                <a:solidFill>
                  <a:prstClr val="black"/>
                </a:solidFill>
                <a:latin typeface="Times New Roman" panose="02020603050405020304" pitchFamily="18" charset="0"/>
                <a:cs typeface="Times New Roman" panose="02020603050405020304" pitchFamily="18" charset="0"/>
              </a:rPr>
              <a:t>V</a:t>
            </a:r>
            <a:r>
              <a:rPr lang="en-US" altLang="zh-CN" baseline="-25000" dirty="0" err="1">
                <a:solidFill>
                  <a:prstClr val="black"/>
                </a:solidFill>
                <a:latin typeface="Times New Roman" panose="02020603050405020304" pitchFamily="18" charset="0"/>
                <a:cs typeface="Times New Roman" panose="02020603050405020304" pitchFamily="18" charset="0"/>
              </a:rPr>
              <a:t>HCl</a:t>
            </a:r>
            <a:r>
              <a:rPr lang="en-US" altLang="zh-CN" sz="1200" dirty="0">
                <a:solidFill>
                  <a:prstClr val="black"/>
                </a:solidFill>
                <a:latin typeface="Times New Roman" panose="02020603050405020304" pitchFamily="18" charset="0"/>
                <a:cs typeface="Times New Roman" panose="02020603050405020304" pitchFamily="18" charset="0"/>
              </a:rPr>
              <a:t> </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1" name="矩形 20"/>
          <p:cNvSpPr/>
          <p:nvPr/>
        </p:nvSpPr>
        <p:spPr>
          <a:xfrm>
            <a:off x="2277770" y="4845144"/>
            <a:ext cx="938077" cy="369332"/>
          </a:xfrm>
          <a:prstGeom prst="rect">
            <a:avLst/>
          </a:prstGeom>
        </p:spPr>
        <p:txBody>
          <a:bodyPr wrap="none">
            <a:spAutoFit/>
          </a:bodyPr>
          <a:lstStyle/>
          <a:p>
            <a:r>
              <a:rPr lang="en-US" altLang="zh-CN" i="1" dirty="0">
                <a:solidFill>
                  <a:prstClr val="black"/>
                </a:solidFill>
                <a:latin typeface="Times New Roman" panose="02020603050405020304" pitchFamily="18" charset="0"/>
                <a:cs typeface="Times New Roman" panose="02020603050405020304" pitchFamily="18" charset="0"/>
              </a:rPr>
              <a:t>c</a:t>
            </a:r>
            <a:r>
              <a:rPr lang="en-US" altLang="zh-CN" baseline="-25000" dirty="0">
                <a:solidFill>
                  <a:prstClr val="black"/>
                </a:solidFill>
                <a:latin typeface="Times New Roman" panose="02020603050405020304" pitchFamily="18" charset="0"/>
                <a:cs typeface="Times New Roman" panose="02020603050405020304" pitchFamily="18" charset="0"/>
              </a:rPr>
              <a:t>Na</a:t>
            </a:r>
            <a:r>
              <a:rPr lang="en-US" altLang="zh-CN" sz="1200" baseline="-45000" dirty="0">
                <a:solidFill>
                  <a:prstClr val="black"/>
                </a:solidFill>
                <a:latin typeface="Times New Roman" panose="02020603050405020304" pitchFamily="18" charset="0"/>
                <a:cs typeface="Times New Roman" panose="02020603050405020304" pitchFamily="18" charset="0"/>
              </a:rPr>
              <a:t>2</a:t>
            </a:r>
            <a:r>
              <a:rPr lang="en-US" altLang="zh-CN" baseline="-25000" dirty="0">
                <a:solidFill>
                  <a:prstClr val="black"/>
                </a:solidFill>
                <a:latin typeface="Times New Roman" panose="02020603050405020304" pitchFamily="18" charset="0"/>
                <a:cs typeface="Times New Roman" panose="02020603050405020304" pitchFamily="18" charset="0"/>
              </a:rPr>
              <a:t>CO</a:t>
            </a:r>
            <a:r>
              <a:rPr lang="en-US" altLang="zh-CN" sz="1200" baseline="-45000" dirty="0">
                <a:solidFill>
                  <a:prstClr val="black"/>
                </a:solidFill>
                <a:latin typeface="Times New Roman" panose="02020603050405020304" pitchFamily="18" charset="0"/>
                <a:cs typeface="Times New Roman" panose="02020603050405020304" pitchFamily="18" charset="0"/>
              </a:rPr>
              <a:t>3 </a:t>
            </a:r>
            <a:r>
              <a:rPr lang="en-US" altLang="zh-CN" dirty="0">
                <a:solidFill>
                  <a:prstClr val="black"/>
                </a:solidFill>
                <a:latin typeface="Times New Roman" panose="02020603050405020304" pitchFamily="18" charset="0"/>
                <a:cs typeface="Times New Roman" panose="02020603050405020304" pitchFamily="18" charset="0"/>
              </a:rPr>
              <a:t>=</a:t>
            </a:r>
            <a:endParaRPr lang="zh-CN" altLang="en-US" dirty="0"/>
          </a:p>
        </p:txBody>
      </p:sp>
      <p:grpSp>
        <p:nvGrpSpPr>
          <p:cNvPr id="32" name="组合 31"/>
          <p:cNvGrpSpPr/>
          <p:nvPr/>
        </p:nvGrpSpPr>
        <p:grpSpPr>
          <a:xfrm>
            <a:off x="3263760" y="4579435"/>
            <a:ext cx="2054890" cy="901794"/>
            <a:chOff x="6157136" y="3340159"/>
            <a:chExt cx="2054890" cy="901794"/>
          </a:xfrm>
        </p:grpSpPr>
        <p:sp>
          <p:nvSpPr>
            <p:cNvPr id="33" name="矩形 32"/>
            <p:cNvSpPr/>
            <p:nvPr/>
          </p:nvSpPr>
          <p:spPr>
            <a:xfrm>
              <a:off x="6157136" y="3340159"/>
              <a:ext cx="1694695" cy="369332"/>
            </a:xfrm>
            <a:prstGeom prst="rect">
              <a:avLst/>
            </a:prstGeom>
          </p:spPr>
          <p:txBody>
            <a:bodyPr wrap="none">
              <a:spAutoFit/>
            </a:bodyPr>
            <a:lstStyle/>
            <a:p>
              <a:r>
                <a:rPr lang="en-US" altLang="zh-CN" i="1" dirty="0">
                  <a:solidFill>
                    <a:prstClr val="black"/>
                  </a:solidFill>
                  <a:latin typeface="Times New Roman" panose="02020603050405020304" pitchFamily="18" charset="0"/>
                  <a:cs typeface="Times New Roman" panose="02020603050405020304" pitchFamily="18" charset="0"/>
                </a:rPr>
                <a:t>m</a:t>
              </a:r>
              <a:r>
                <a:rPr lang="en-US" altLang="zh-CN" baseline="-25000" dirty="0">
                  <a:solidFill>
                    <a:prstClr val="black"/>
                  </a:solidFill>
                  <a:latin typeface="Times New Roman" panose="02020603050405020304" pitchFamily="18" charset="0"/>
                  <a:cs typeface="Times New Roman" panose="02020603050405020304" pitchFamily="18" charset="0"/>
                </a:rPr>
                <a:t>Na</a:t>
              </a:r>
              <a:r>
                <a:rPr lang="en-US" altLang="zh-CN" sz="1200" baseline="-45000" dirty="0">
                  <a:solidFill>
                    <a:prstClr val="black"/>
                  </a:solidFill>
                  <a:latin typeface="Times New Roman" panose="02020603050405020304" pitchFamily="18" charset="0"/>
                  <a:cs typeface="Times New Roman" panose="02020603050405020304" pitchFamily="18" charset="0"/>
                </a:rPr>
                <a:t>2</a:t>
              </a:r>
              <a:r>
                <a:rPr lang="en-US" altLang="zh-CN" baseline="-25000" dirty="0">
                  <a:solidFill>
                    <a:prstClr val="black"/>
                  </a:solidFill>
                  <a:latin typeface="Times New Roman" panose="02020603050405020304" pitchFamily="18" charset="0"/>
                  <a:cs typeface="Times New Roman" panose="02020603050405020304" pitchFamily="18" charset="0"/>
                </a:rPr>
                <a:t>CO</a:t>
              </a:r>
              <a:r>
                <a:rPr lang="en-US" altLang="zh-CN" sz="1200" baseline="-45000" dirty="0">
                  <a:solidFill>
                    <a:prstClr val="black"/>
                  </a:solidFill>
                  <a:latin typeface="Times New Roman" panose="02020603050405020304" pitchFamily="18" charset="0"/>
                  <a:cs typeface="Times New Roman" panose="02020603050405020304" pitchFamily="18" charset="0"/>
                </a:rPr>
                <a:t>3</a:t>
              </a:r>
              <a:r>
                <a:rPr lang="en-US" altLang="zh-CN" i="1" dirty="0">
                  <a:solidFill>
                    <a:prstClr val="black"/>
                  </a:solidFill>
                  <a:latin typeface="Times New Roman" panose="02020603050405020304" pitchFamily="18" charset="0"/>
                  <a:cs typeface="Times New Roman" panose="02020603050405020304" pitchFamily="18" charset="0"/>
                </a:rPr>
                <a:t> /M</a:t>
              </a:r>
              <a:r>
                <a:rPr lang="en-US" altLang="zh-CN" baseline="-25000" dirty="0">
                  <a:solidFill>
                    <a:prstClr val="black"/>
                  </a:solidFill>
                  <a:latin typeface="Times New Roman" panose="02020603050405020304" pitchFamily="18" charset="0"/>
                  <a:cs typeface="Times New Roman" panose="02020603050405020304" pitchFamily="18" charset="0"/>
                </a:rPr>
                <a:t>Na</a:t>
              </a:r>
              <a:r>
                <a:rPr lang="en-US" altLang="zh-CN" sz="1200" baseline="-45000" dirty="0">
                  <a:solidFill>
                    <a:prstClr val="black"/>
                  </a:solidFill>
                  <a:latin typeface="Times New Roman" panose="02020603050405020304" pitchFamily="18" charset="0"/>
                  <a:cs typeface="Times New Roman" panose="02020603050405020304" pitchFamily="18" charset="0"/>
                </a:rPr>
                <a:t>2</a:t>
              </a:r>
              <a:r>
                <a:rPr lang="en-US" altLang="zh-CN" baseline="-25000" dirty="0">
                  <a:solidFill>
                    <a:prstClr val="black"/>
                  </a:solidFill>
                  <a:latin typeface="Times New Roman" panose="02020603050405020304" pitchFamily="18" charset="0"/>
                  <a:cs typeface="Times New Roman" panose="02020603050405020304" pitchFamily="18" charset="0"/>
                </a:rPr>
                <a:t>CO</a:t>
              </a:r>
              <a:r>
                <a:rPr lang="en-US" altLang="zh-CN" sz="1200" baseline="-45000" dirty="0">
                  <a:solidFill>
                    <a:prstClr val="black"/>
                  </a:solidFill>
                  <a:latin typeface="Times New Roman" panose="02020603050405020304" pitchFamily="18" charset="0"/>
                  <a:cs typeface="Times New Roman" panose="02020603050405020304" pitchFamily="18" charset="0"/>
                </a:rPr>
                <a:t>3</a:t>
              </a:r>
              <a:r>
                <a:rPr lang="en-US" altLang="zh-CN" sz="1200" dirty="0">
                  <a:solidFill>
                    <a:prstClr val="black"/>
                  </a:solidFill>
                  <a:latin typeface="Times New Roman" panose="02020603050405020304" pitchFamily="18" charset="0"/>
                  <a:cs typeface="Times New Roman" panose="02020603050405020304" pitchFamily="18" charset="0"/>
                </a:rPr>
                <a:t> </a:t>
              </a:r>
              <a:endParaRPr lang="zh-CN" altLang="en-US" dirty="0"/>
            </a:p>
          </p:txBody>
        </p:sp>
        <p:cxnSp>
          <p:nvCxnSpPr>
            <p:cNvPr id="34" name="直接连接符 33"/>
            <p:cNvCxnSpPr/>
            <p:nvPr/>
          </p:nvCxnSpPr>
          <p:spPr>
            <a:xfrm>
              <a:off x="6157136" y="3770633"/>
              <a:ext cx="1800200" cy="0"/>
            </a:xfrm>
            <a:prstGeom prst="line">
              <a:avLst/>
            </a:prstGeom>
          </p:spPr>
          <p:style>
            <a:lnRef idx="1">
              <a:schemeClr val="dk1"/>
            </a:lnRef>
            <a:fillRef idx="0">
              <a:schemeClr val="dk1"/>
            </a:fillRef>
            <a:effectRef idx="0">
              <a:schemeClr val="dk1"/>
            </a:effectRef>
            <a:fontRef idx="minor">
              <a:schemeClr val="tx1"/>
            </a:fontRef>
          </p:style>
        </p:cxnSp>
        <p:sp>
          <p:nvSpPr>
            <p:cNvPr id="35" name="TextBox 34"/>
            <p:cNvSpPr txBox="1"/>
            <p:nvPr/>
          </p:nvSpPr>
          <p:spPr>
            <a:xfrm>
              <a:off x="6344687" y="3872621"/>
              <a:ext cx="131959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250 x 10</a:t>
              </a:r>
              <a:r>
                <a:rPr lang="en-US" altLang="zh-CN" baseline="30000" dirty="0">
                  <a:latin typeface="Times New Roman" panose="02020603050405020304" pitchFamily="18" charset="0"/>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rPr>
                <a:t> L</a:t>
              </a:r>
              <a:endParaRPr lang="zh-CN" altLang="en-US"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8027295" y="3559224"/>
              <a:ext cx="184731" cy="369332"/>
            </a:xfrm>
            <a:prstGeom prst="rect">
              <a:avLst/>
            </a:prstGeom>
            <a:noFill/>
          </p:spPr>
          <p:txBody>
            <a:bodyPr wrap="none" rtlCol="0">
              <a:spAutoFit/>
            </a:bodyPr>
            <a:lstStyle/>
            <a:p>
              <a:endParaRPr lang="zh-CN" altLang="en-US" dirty="0">
                <a:latin typeface="Times New Roman" panose="02020603050405020304" pitchFamily="18" charset="0"/>
                <a:cs typeface="Times New Roman" panose="02020603050405020304" pitchFamily="18" charset="0"/>
              </a:endParaRPr>
            </a:p>
          </p:txBody>
        </p:sp>
      </p:grpSp>
      <p:grpSp>
        <p:nvGrpSpPr>
          <p:cNvPr id="37" name="组合 36"/>
          <p:cNvGrpSpPr/>
          <p:nvPr/>
        </p:nvGrpSpPr>
        <p:grpSpPr>
          <a:xfrm>
            <a:off x="3014753" y="5555549"/>
            <a:ext cx="4737431" cy="924847"/>
            <a:chOff x="6157136" y="3340159"/>
            <a:chExt cx="3860382" cy="924847"/>
          </a:xfrm>
        </p:grpSpPr>
        <p:sp>
          <p:nvSpPr>
            <p:cNvPr id="38" name="矩形 37"/>
            <p:cNvSpPr/>
            <p:nvPr/>
          </p:nvSpPr>
          <p:spPr>
            <a:xfrm>
              <a:off x="6157136" y="3340159"/>
              <a:ext cx="3526628" cy="369332"/>
            </a:xfrm>
            <a:prstGeom prst="rect">
              <a:avLst/>
            </a:prstGeom>
          </p:spPr>
          <p:txBody>
            <a:bodyPr wrap="none">
              <a:spAutoFit/>
            </a:bodyPr>
            <a:lstStyle/>
            <a:p>
              <a:r>
                <a:rPr lang="en-US" altLang="zh-CN" dirty="0">
                  <a:solidFill>
                    <a:prstClr val="black"/>
                  </a:solidFill>
                  <a:latin typeface="Times New Roman" panose="02020603050405020304" pitchFamily="18" charset="0"/>
                  <a:cs typeface="Times New Roman" panose="02020603050405020304" pitchFamily="18" charset="0"/>
                </a:rPr>
                <a:t>(2 x 1.2587g</a:t>
              </a:r>
              <a:r>
                <a:rPr lang="en-US" altLang="zh-CN" i="1" dirty="0">
                  <a:solidFill>
                    <a:prstClr val="black"/>
                  </a:solidFill>
                  <a:latin typeface="Times New Roman" panose="02020603050405020304" pitchFamily="18" charset="0"/>
                  <a:cs typeface="Times New Roman" panose="02020603050405020304" pitchFamily="18" charset="0"/>
                </a:rPr>
                <a:t> /</a:t>
              </a:r>
              <a:r>
                <a:rPr lang="en-US" altLang="zh-CN" dirty="0">
                  <a:solidFill>
                    <a:prstClr val="black"/>
                  </a:solidFill>
                  <a:latin typeface="Times New Roman" panose="02020603050405020304" pitchFamily="18" charset="0"/>
                  <a:cs typeface="Times New Roman" panose="02020603050405020304" pitchFamily="18" charset="0"/>
                </a:rPr>
                <a:t>106.0g</a:t>
              </a:r>
              <a:r>
                <a:rPr lang="en-US" altLang="zh-CN" dirty="0">
                  <a:solidFill>
                    <a:prstClr val="black"/>
                  </a:solidFill>
                  <a:latin typeface="Times New Roman" panose="02020603050405020304"/>
                  <a:cs typeface="Times New Roman" panose="02020603050405020304"/>
                </a:rPr>
                <a:t>•</a:t>
              </a:r>
              <a:r>
                <a:rPr lang="en-US" altLang="zh-CN" dirty="0">
                  <a:solidFill>
                    <a:prstClr val="black"/>
                  </a:solidFill>
                  <a:latin typeface="Times New Roman" panose="02020603050405020304" pitchFamily="18" charset="0"/>
                  <a:cs typeface="Times New Roman" panose="02020603050405020304" pitchFamily="18" charset="0"/>
                </a:rPr>
                <a:t> mol</a:t>
              </a:r>
              <a:r>
                <a:rPr lang="en-US" altLang="zh-CN" baseline="30000" dirty="0">
                  <a:solidFill>
                    <a:prstClr val="black"/>
                  </a:solidFill>
                  <a:latin typeface="Times New Roman" panose="02020603050405020304" pitchFamily="18" charset="0"/>
                  <a:cs typeface="Times New Roman" panose="02020603050405020304" pitchFamily="18" charset="0"/>
                </a:rPr>
                <a:t>-1</a:t>
              </a:r>
              <a:r>
                <a:rPr lang="en-US" altLang="zh-CN" dirty="0">
                  <a:solidFill>
                    <a:prstClr val="black"/>
                  </a:solidFill>
                  <a:latin typeface="Times New Roman" panose="02020603050405020304" pitchFamily="18" charset="0"/>
                  <a:cs typeface="Times New Roman" panose="02020603050405020304" pitchFamily="18" charset="0"/>
                </a:rPr>
                <a:t> )x </a:t>
              </a:r>
              <a:r>
                <a:rPr lang="en-US" altLang="zh-CN" dirty="0">
                  <a:latin typeface="Times New Roman" panose="02020603050405020304" pitchFamily="18" charset="0"/>
                  <a:cs typeface="Times New Roman" panose="02020603050405020304" pitchFamily="18" charset="0"/>
                </a:rPr>
                <a:t>25.00x10</a:t>
              </a:r>
              <a:r>
                <a:rPr lang="en-US" altLang="zh-CN" baseline="30000" dirty="0">
                  <a:latin typeface="Times New Roman" panose="02020603050405020304" pitchFamily="18" charset="0"/>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rPr>
                <a:t> L</a:t>
              </a:r>
              <a:r>
                <a:rPr lang="en-US" altLang="zh-CN" dirty="0">
                  <a:solidFill>
                    <a:prstClr val="black"/>
                  </a:solidFill>
                  <a:latin typeface="Times New Roman" panose="02020603050405020304" pitchFamily="18" charset="0"/>
                  <a:cs typeface="Times New Roman" panose="02020603050405020304" pitchFamily="18" charset="0"/>
                </a:rPr>
                <a:t> </a:t>
              </a:r>
              <a:r>
                <a:rPr lang="en-US" altLang="zh-CN" sz="1200" dirty="0">
                  <a:solidFill>
                    <a:prstClr val="black"/>
                  </a:solidFill>
                  <a:latin typeface="Times New Roman" panose="02020603050405020304" pitchFamily="18" charset="0"/>
                  <a:cs typeface="Times New Roman" panose="02020603050405020304" pitchFamily="18" charset="0"/>
                </a:rPr>
                <a:t> </a:t>
              </a:r>
              <a:endParaRPr lang="zh-CN" altLang="en-US" dirty="0"/>
            </a:p>
          </p:txBody>
        </p:sp>
        <p:cxnSp>
          <p:nvCxnSpPr>
            <p:cNvPr id="39" name="直接连接符 38"/>
            <p:cNvCxnSpPr>
              <a:cxnSpLocks/>
            </p:cNvCxnSpPr>
            <p:nvPr/>
          </p:nvCxnSpPr>
          <p:spPr>
            <a:xfrm flipV="1">
              <a:off x="6157136" y="3743890"/>
              <a:ext cx="3860382" cy="26743"/>
            </a:xfrm>
            <a:prstGeom prst="line">
              <a:avLst/>
            </a:prstGeom>
          </p:spPr>
          <p:style>
            <a:lnRef idx="1">
              <a:schemeClr val="dk1"/>
            </a:lnRef>
            <a:fillRef idx="0">
              <a:schemeClr val="dk1"/>
            </a:fillRef>
            <a:effectRef idx="0">
              <a:schemeClr val="dk1"/>
            </a:effectRef>
            <a:fontRef idx="minor">
              <a:schemeClr val="tx1"/>
            </a:fontRef>
          </p:style>
        </p:cxnSp>
        <p:sp>
          <p:nvSpPr>
            <p:cNvPr id="40" name="TextBox 39"/>
            <p:cNvSpPr txBox="1"/>
            <p:nvPr/>
          </p:nvSpPr>
          <p:spPr>
            <a:xfrm>
              <a:off x="6266920" y="3895674"/>
              <a:ext cx="122159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250 x 10</a:t>
              </a:r>
              <a:r>
                <a:rPr lang="en-US" altLang="zh-CN" baseline="30000" dirty="0">
                  <a:latin typeface="Times New Roman" panose="02020603050405020304" pitchFamily="18" charset="0"/>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rPr>
                <a:t> mL</a:t>
              </a:r>
              <a:endParaRPr lang="zh-CN" altLang="en-US" dirty="0">
                <a:latin typeface="Times New Roman" panose="02020603050405020304" pitchFamily="18" charset="0"/>
                <a:cs typeface="Times New Roman" panose="02020603050405020304" pitchFamily="18" charset="0"/>
              </a:endParaRPr>
            </a:p>
          </p:txBody>
        </p:sp>
        <p:sp>
          <p:nvSpPr>
            <p:cNvPr id="41" name="TextBox 40"/>
            <p:cNvSpPr txBox="1"/>
            <p:nvPr/>
          </p:nvSpPr>
          <p:spPr>
            <a:xfrm>
              <a:off x="8027295" y="3559224"/>
              <a:ext cx="150531" cy="369332"/>
            </a:xfrm>
            <a:prstGeom prst="rect">
              <a:avLst/>
            </a:prstGeom>
            <a:noFill/>
          </p:spPr>
          <p:txBody>
            <a:bodyPr wrap="none" rtlCol="0">
              <a:spAutoFit/>
            </a:bodyPr>
            <a:lstStyle/>
            <a:p>
              <a:endParaRPr lang="zh-CN" altLang="en-US" dirty="0">
                <a:latin typeface="Times New Roman" panose="02020603050405020304" pitchFamily="18" charset="0"/>
                <a:cs typeface="Times New Roman" panose="02020603050405020304" pitchFamily="18" charset="0"/>
              </a:endParaRPr>
            </a:p>
          </p:txBody>
        </p:sp>
      </p:grpSp>
      <p:sp>
        <p:nvSpPr>
          <p:cNvPr id="23" name="矩形 22"/>
          <p:cNvSpPr/>
          <p:nvPr/>
        </p:nvSpPr>
        <p:spPr>
          <a:xfrm>
            <a:off x="2074798" y="5649450"/>
            <a:ext cx="744114" cy="369332"/>
          </a:xfrm>
          <a:prstGeom prst="rect">
            <a:avLst/>
          </a:prstGeom>
        </p:spPr>
        <p:txBody>
          <a:bodyPr wrap="none">
            <a:spAutoFit/>
          </a:bodyPr>
          <a:lstStyle/>
          <a:p>
            <a:r>
              <a:rPr lang="en-US" altLang="zh-CN" b="1" i="1" dirty="0" err="1">
                <a:solidFill>
                  <a:srgbClr val="FF0000"/>
                </a:solidFill>
                <a:latin typeface="Times New Roman" panose="02020603050405020304" pitchFamily="18" charset="0"/>
                <a:cs typeface="Times New Roman" panose="02020603050405020304" pitchFamily="18" charset="0"/>
              </a:rPr>
              <a:t>c</a:t>
            </a:r>
            <a:r>
              <a:rPr lang="en-US" altLang="zh-CN" b="1" baseline="-25000" dirty="0" err="1">
                <a:solidFill>
                  <a:srgbClr val="FF0000"/>
                </a:solidFill>
                <a:latin typeface="Times New Roman" panose="02020603050405020304" pitchFamily="18" charset="0"/>
                <a:cs typeface="Times New Roman" panose="02020603050405020304" pitchFamily="18" charset="0"/>
              </a:rPr>
              <a:t>HCl</a:t>
            </a:r>
            <a:r>
              <a:rPr lang="en-US" altLang="zh-CN" sz="1200" dirty="0">
                <a:solidFill>
                  <a:prstClr val="black"/>
                </a:solidFill>
                <a:latin typeface="Times New Roman" panose="02020603050405020304" pitchFamily="18" charset="0"/>
                <a:cs typeface="Times New Roman" panose="02020603050405020304" pitchFamily="18" charset="0"/>
              </a:rPr>
              <a:t> =</a:t>
            </a:r>
            <a:r>
              <a:rPr lang="en-US" altLang="zh-CN" i="1" dirty="0">
                <a:solidFill>
                  <a:prstClr val="black"/>
                </a:solidFill>
                <a:latin typeface="Times New Roman" panose="02020603050405020304" pitchFamily="18" charset="0"/>
                <a:cs typeface="Times New Roman" panose="02020603050405020304" pitchFamily="18" charset="0"/>
              </a:rPr>
              <a:t> </a:t>
            </a:r>
            <a:endParaRPr lang="zh-CN" altLang="en-US" dirty="0"/>
          </a:p>
        </p:txBody>
      </p:sp>
      <p:sp>
        <p:nvSpPr>
          <p:cNvPr id="28" name="TextBox 27"/>
          <p:cNvSpPr txBox="1"/>
          <p:nvPr/>
        </p:nvSpPr>
        <p:spPr>
          <a:xfrm>
            <a:off x="7820421" y="5741732"/>
            <a:ext cx="1927131"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 0.1005 mol</a:t>
            </a:r>
            <a:r>
              <a:rPr lang="en-US" altLang="zh-CN" dirty="0">
                <a:solidFill>
                  <a:prstClr val="black"/>
                </a:solidFill>
                <a:latin typeface="Times New Roman" panose="02020603050405020304"/>
                <a:cs typeface="Times New Roman" panose="02020603050405020304"/>
              </a:rPr>
              <a:t> •</a:t>
            </a:r>
            <a:r>
              <a:rPr lang="en-US" altLang="zh-CN" dirty="0">
                <a:solidFill>
                  <a:prstClr val="black"/>
                </a:solidFill>
                <a:latin typeface="Times New Roman" panose="02020603050405020304" pitchFamily="18" charset="0"/>
                <a:cs typeface="Times New Roman" panose="02020603050405020304" pitchFamily="18" charset="0"/>
              </a:rPr>
              <a:t> L</a:t>
            </a:r>
            <a:r>
              <a:rPr lang="en-US" altLang="zh-CN" baseline="30000" dirty="0">
                <a:solidFill>
                  <a:prstClr val="black"/>
                </a:solidFill>
                <a:latin typeface="Times New Roman" panose="02020603050405020304" pitchFamily="18" charset="0"/>
                <a:cs typeface="Times New Roman" panose="02020603050405020304" pitchFamily="18" charset="0"/>
              </a:rPr>
              <a:t>-1</a:t>
            </a:r>
            <a:r>
              <a:rPr lang="en-US" altLang="zh-CN" sz="1200" dirty="0">
                <a:solidFill>
                  <a:prstClr val="black"/>
                </a:solidFill>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EC4E2C54-DCD0-4FC5-A338-4E5917B2598A}"/>
              </a:ext>
            </a:extLst>
          </p:cNvPr>
          <p:cNvSpPr txBox="1"/>
          <p:nvPr/>
        </p:nvSpPr>
        <p:spPr>
          <a:xfrm>
            <a:off x="4583832" y="6098252"/>
            <a:ext cx="6123962" cy="369332"/>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x 23.63 x 10</a:t>
            </a:r>
            <a:r>
              <a:rPr lang="en-US" altLang="zh-CN" baseline="30000" dirty="0">
                <a:latin typeface="Times New Roman" panose="02020603050405020304" pitchFamily="18" charset="0"/>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rPr>
              <a:t> L</a:t>
            </a:r>
            <a:endParaRPr lang="zh-CN" altLang="en-US" dirty="0"/>
          </a:p>
        </p:txBody>
      </p:sp>
    </p:spTree>
    <p:custDataLst>
      <p:tags r:id="rId1"/>
    </p:custDataLst>
  </p:cSld>
  <p:clrMapOvr>
    <a:masterClrMapping/>
  </p:clrMapOvr>
  <p:transition advTm="109515">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1928" y="336986"/>
            <a:ext cx="1620957" cy="523220"/>
          </a:xfrm>
          <a:prstGeom prst="rect">
            <a:avLst/>
          </a:prstGeom>
          <a:noFill/>
        </p:spPr>
        <p:txBody>
          <a:bodyPr wrap="none" rtlCol="0">
            <a:spAutoFit/>
          </a:bodyPr>
          <a:lstStyle/>
          <a:p>
            <a:r>
              <a:rPr lang="zh-CN" altLang="en-US" sz="2800" dirty="0">
                <a:solidFill>
                  <a:srgbClr val="000000"/>
                </a:solidFill>
                <a:latin typeface="微软雅黑" panose="020B0503020204020204" pitchFamily="34" charset="-122"/>
                <a:ea typeface="微软雅黑" panose="020B0503020204020204" pitchFamily="34" charset="-122"/>
              </a:rPr>
              <a:t>课程小结</a:t>
            </a:r>
          </a:p>
        </p:txBody>
      </p:sp>
      <p:sp>
        <p:nvSpPr>
          <p:cNvPr id="4" name="矩形 3"/>
          <p:cNvSpPr/>
          <p:nvPr/>
        </p:nvSpPr>
        <p:spPr>
          <a:xfrm>
            <a:off x="1938224" y="5292848"/>
            <a:ext cx="8664672" cy="577081"/>
          </a:xfrm>
          <a:prstGeom prst="rect">
            <a:avLst/>
          </a:prstGeom>
        </p:spPr>
        <p:txBody>
          <a:bodyPr wrap="square">
            <a:spAutoFit/>
          </a:bodyPr>
          <a:lstStyle/>
          <a:p>
            <a:pPr>
              <a:lnSpc>
                <a:spcPct val="150000"/>
              </a:lnSpc>
            </a:pPr>
            <a:r>
              <a:rPr lang="en-US" altLang="zh-CN" sz="2400" b="1" dirty="0">
                <a:solidFill>
                  <a:srgbClr val="C00000"/>
                </a:solidFill>
                <a:latin typeface="微软雅黑" panose="020B0503020204020204" pitchFamily="34" charset="-122"/>
                <a:ea typeface="微软雅黑" panose="020B0503020204020204" pitchFamily="34" charset="-122"/>
              </a:rPr>
              <a:t>5.</a:t>
            </a:r>
            <a:r>
              <a:rPr lang="zh-CN" altLang="en-US" sz="2400" b="1" dirty="0">
                <a:solidFill>
                  <a:srgbClr val="C00000"/>
                </a:solidFill>
                <a:latin typeface="微软雅黑" panose="020B0503020204020204" pitchFamily="34" charset="-122"/>
                <a:ea typeface="微软雅黑" panose="020B0503020204020204" pitchFamily="34" charset="-122"/>
              </a:rPr>
              <a:t>滴定分析法计算</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化学计量关系</a:t>
            </a:r>
            <a:r>
              <a:rPr lang="en-US" altLang="zh-CN" sz="2400" b="1" dirty="0">
                <a:solidFill>
                  <a:srgbClr val="C00000"/>
                </a:solidFill>
                <a:latin typeface="微软雅黑" panose="020B0503020204020204" pitchFamily="34" charset="-122"/>
                <a:ea typeface="微软雅黑" panose="020B0503020204020204" pitchFamily="34" charset="-122"/>
              </a:rPr>
              <a:t>)</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5" name="矩形 4"/>
          <p:cNvSpPr/>
          <p:nvPr/>
        </p:nvSpPr>
        <p:spPr>
          <a:xfrm>
            <a:off x="1922063" y="1443840"/>
            <a:ext cx="7813623" cy="830997"/>
          </a:xfrm>
          <a:prstGeom prst="rect">
            <a:avLst/>
          </a:prstGeom>
        </p:spPr>
        <p:txBody>
          <a:bodyPr wrap="square">
            <a:spAutoFit/>
          </a:bodyPr>
          <a:lstStyle/>
          <a:p>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滴定分析基本概念：标准溶液、化学计量点、 指示剂、 滴定终点、 终点误差。</a:t>
            </a:r>
            <a:endParaRPr lang="en-US" altLang="zh-CN" sz="2400" dirty="0">
              <a:latin typeface="微软雅黑" panose="020B0503020204020204" pitchFamily="34" charset="-122"/>
              <a:ea typeface="微软雅黑" panose="020B0503020204020204" pitchFamily="34" charset="-122"/>
            </a:endParaRPr>
          </a:p>
        </p:txBody>
      </p:sp>
      <p:sp>
        <p:nvSpPr>
          <p:cNvPr id="6" name="矩形 5"/>
          <p:cNvSpPr/>
          <p:nvPr/>
        </p:nvSpPr>
        <p:spPr>
          <a:xfrm>
            <a:off x="1922062" y="2684703"/>
            <a:ext cx="4483920" cy="577081"/>
          </a:xfrm>
          <a:prstGeom prst="rect">
            <a:avLst/>
          </a:prstGeom>
        </p:spPr>
        <p:txBody>
          <a:bodyPr wrap="none">
            <a:spAutoFit/>
          </a:bodyPr>
          <a:lstStyle/>
          <a:p>
            <a:pPr>
              <a:lnSpc>
                <a:spcPct val="150000"/>
              </a:lnSpc>
            </a:pPr>
            <a:r>
              <a:rPr lang="en-US" altLang="zh-CN" sz="2400" b="1" dirty="0">
                <a:solidFill>
                  <a:srgbClr val="C00000"/>
                </a:solidFill>
                <a:latin typeface="微软雅黑" panose="020B0503020204020204" pitchFamily="34" charset="-122"/>
                <a:ea typeface="微软雅黑" panose="020B0503020204020204" pitchFamily="34" charset="-122"/>
              </a:rPr>
              <a:t>2.</a:t>
            </a:r>
            <a:r>
              <a:rPr lang="zh-CN" altLang="en-US" sz="2400" b="1" dirty="0">
                <a:solidFill>
                  <a:srgbClr val="C00000"/>
                </a:solidFill>
                <a:latin typeface="微软雅黑" panose="020B0503020204020204" pitchFamily="34" charset="-122"/>
                <a:ea typeface="微软雅黑" panose="020B0503020204020204" pitchFamily="34" charset="-122"/>
              </a:rPr>
              <a:t>滴定分析法对化学反应的要求</a:t>
            </a:r>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7" name="矩形 6"/>
          <p:cNvSpPr/>
          <p:nvPr/>
        </p:nvSpPr>
        <p:spPr>
          <a:xfrm>
            <a:off x="1938225" y="3445549"/>
            <a:ext cx="8414063" cy="1131079"/>
          </a:xfrm>
          <a:prstGeom prst="rect">
            <a:avLst/>
          </a:prstGeom>
        </p:spPr>
        <p:txBody>
          <a:bodyPr wrap="square">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滴定分析法分类：直接滴定法、 返滴定法、 </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置换滴定法、 间接滴定法</a:t>
            </a:r>
            <a:endParaRPr lang="en-US" altLang="zh-CN" sz="2400" dirty="0">
              <a:latin typeface="微软雅黑" panose="020B0503020204020204" pitchFamily="34" charset="-122"/>
              <a:ea typeface="微软雅黑" panose="020B0503020204020204" pitchFamily="34" charset="-122"/>
            </a:endParaRPr>
          </a:p>
        </p:txBody>
      </p:sp>
      <p:sp>
        <p:nvSpPr>
          <p:cNvPr id="8" name="矩形 7"/>
          <p:cNvSpPr/>
          <p:nvPr/>
        </p:nvSpPr>
        <p:spPr>
          <a:xfrm>
            <a:off x="1922062" y="4511261"/>
            <a:ext cx="3555782" cy="577081"/>
          </a:xfrm>
          <a:prstGeom prst="rect">
            <a:avLst/>
          </a:prstGeom>
        </p:spPr>
        <p:txBody>
          <a:bodyPr wrap="none">
            <a:spAutoFit/>
          </a:bodyPr>
          <a:lstStyle/>
          <a:p>
            <a:pPr>
              <a:lnSpc>
                <a:spcPct val="150000"/>
              </a:lnSpc>
            </a:pPr>
            <a:r>
              <a:rPr lang="en-US" altLang="zh-CN" sz="2400" b="1" dirty="0">
                <a:solidFill>
                  <a:srgbClr val="C00000"/>
                </a:solidFill>
                <a:latin typeface="微软雅黑" panose="020B0503020204020204" pitchFamily="34" charset="-122"/>
                <a:ea typeface="微软雅黑" panose="020B0503020204020204" pitchFamily="34" charset="-122"/>
              </a:rPr>
              <a:t>4.</a:t>
            </a:r>
            <a:r>
              <a:rPr lang="zh-CN" altLang="en-US" sz="2400" b="1" dirty="0">
                <a:solidFill>
                  <a:srgbClr val="C00000"/>
                </a:solidFill>
                <a:latin typeface="微软雅黑" panose="020B0503020204020204" pitchFamily="34" charset="-122"/>
                <a:ea typeface="微软雅黑" panose="020B0503020204020204" pitchFamily="34" charset="-122"/>
              </a:rPr>
              <a:t>基准物质应具备的条件</a:t>
            </a:r>
            <a:endParaRPr lang="en-US" altLang="zh-CN" sz="2400" b="1" dirty="0">
              <a:solidFill>
                <a:srgbClr val="C0000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434"/>
    </mc:Choice>
    <mc:Fallback xmlns="">
      <p:transition spd="slow" advTm="564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WordArt 3"/>
          <p:cNvSpPr>
            <a:spLocks noChangeArrowheads="1" noChangeShapeType="1" noTextEdit="1"/>
          </p:cNvSpPr>
          <p:nvPr/>
        </p:nvSpPr>
        <p:spPr bwMode="gray">
          <a:xfrm>
            <a:off x="3505200" y="3048000"/>
            <a:ext cx="4953000" cy="609600"/>
          </a:xfrm>
          <a:prstGeom prst="rect">
            <a:avLst/>
          </a:prstGeom>
          <a:extLst>
            <a:ext uri="{AF507438-7753-43E0-B8FC-AC1667EBCBE1}">
              <a14:hiddenEffects xmlns:a14="http://schemas.microsoft.com/office/drawing/2010/main">
                <a:effectLst/>
              </a14:hiddenEffects>
            </a:ext>
          </a:extLst>
        </p:spPr>
        <p:txBody>
          <a:bodyPr wrap="none" fromWordArt="1">
            <a:prstTxWarp prst="textDeflate">
              <a:avLst>
                <a:gd name="adj" fmla="val 0"/>
              </a:avLst>
            </a:prstTxWarp>
          </a:bodyPr>
          <a:lstStyle/>
          <a:p>
            <a:pPr algn="ctr"/>
            <a:r>
              <a:rPr lang="en-US" altLang="zh-CN" sz="5400" b="1" kern="10">
                <a:ln w="28575">
                  <a:solidFill>
                    <a:schemeClr val="bg1"/>
                  </a:solidFill>
                  <a:round/>
                </a:ln>
                <a:gradFill rotWithShape="1">
                  <a:gsLst>
                    <a:gs pos="0">
                      <a:schemeClr val="tx2"/>
                    </a:gs>
                    <a:gs pos="100000">
                      <a:schemeClr val="accent1"/>
                    </a:gs>
                  </a:gsLst>
                  <a:lin ang="5400000" scaled="1"/>
                </a:gradFill>
                <a:latin typeface="Verdana" panose="020B0604030504040204"/>
                <a:ea typeface="Verdana" panose="020B0604030504040204"/>
                <a:cs typeface="Verdana" panose="020B0604030504040204"/>
              </a:rPr>
              <a:t>Thank You !</a:t>
            </a:r>
            <a:endParaRPr lang="zh-CN" altLang="en-US" sz="5400" b="1" kern="10">
              <a:ln w="28575">
                <a:solidFill>
                  <a:schemeClr val="bg1"/>
                </a:solidFill>
                <a:round/>
              </a:ln>
              <a:gradFill rotWithShape="1">
                <a:gsLst>
                  <a:gs pos="0">
                    <a:schemeClr val="tx2"/>
                  </a:gs>
                  <a:gs pos="100000">
                    <a:schemeClr val="accent1"/>
                  </a:gs>
                </a:gsLst>
                <a:lin ang="5400000" scaled="1"/>
              </a:gradFill>
              <a:latin typeface="Verdana" panose="020B0604030504040204"/>
              <a:cs typeface="Verdana" panose="020B0604030504040204"/>
            </a:endParaRPr>
          </a:p>
        </p:txBody>
      </p:sp>
      <p:pic>
        <p:nvPicPr>
          <p:cNvPr id="2" name="音频 1">
            <a:hlinkClick r:id="" action="ppaction://media"/>
            <a:extLst>
              <a:ext uri="{FF2B5EF4-FFF2-40B4-BE49-F238E27FC236}">
                <a16:creationId xmlns:a16="http://schemas.microsoft.com/office/drawing/2014/main" id="{4DE75537-65BD-4B5F-8B16-BA691B245D8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366500" y="603250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730"/>
    </mc:Choice>
    <mc:Fallback xmlns="">
      <p:transition spd="slow" advTm="4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29.7|8.8|21"/>
</p:tagLst>
</file>

<file path=ppt/tags/tag2.xml><?xml version="1.0" encoding="utf-8"?>
<p:tagLst xmlns:a="http://schemas.openxmlformats.org/drawingml/2006/main" xmlns:r="http://schemas.openxmlformats.org/officeDocument/2006/relationships" xmlns:p="http://schemas.openxmlformats.org/presentationml/2006/main">
  <p:tag name="TIMING" val="|6.2|1.7|1|1"/>
</p:tagLst>
</file>

<file path=ppt/tags/tag3.xml><?xml version="1.0" encoding="utf-8"?>
<p:tagLst xmlns:a="http://schemas.openxmlformats.org/drawingml/2006/main" xmlns:r="http://schemas.openxmlformats.org/officeDocument/2006/relationships" xmlns:p="http://schemas.openxmlformats.org/presentationml/2006/main">
  <p:tag name="TIMING" val="|41.8"/>
</p:tagLst>
</file>

<file path=ppt/tags/tag4.xml><?xml version="1.0" encoding="utf-8"?>
<p:tagLst xmlns:a="http://schemas.openxmlformats.org/drawingml/2006/main" xmlns:r="http://schemas.openxmlformats.org/officeDocument/2006/relationships" xmlns:p="http://schemas.openxmlformats.org/presentationml/2006/main">
  <p:tag name="TIMING" val="|7.8|5.1|9.7|11.3|9.9"/>
</p:tagLst>
</file>

<file path=ppt/tags/tag5.xml><?xml version="1.0" encoding="utf-8"?>
<p:tagLst xmlns:a="http://schemas.openxmlformats.org/drawingml/2006/main" xmlns:r="http://schemas.openxmlformats.org/officeDocument/2006/relationships" xmlns:p="http://schemas.openxmlformats.org/presentationml/2006/main">
  <p:tag name="TIMING" val="|14.9|17.7|33.4"/>
</p:tagLst>
</file>

<file path=ppt/tags/tag6.xml><?xml version="1.0" encoding="utf-8"?>
<p:tagLst xmlns:a="http://schemas.openxmlformats.org/drawingml/2006/main" xmlns:r="http://schemas.openxmlformats.org/officeDocument/2006/relationships" xmlns:p="http://schemas.openxmlformats.org/presentationml/2006/main">
  <p:tag name="TIMING" val="|2.3|1.2|10.3|12.1|30|1"/>
</p:tagLst>
</file>

<file path=ppt/tags/tag7.xml><?xml version="1.0" encoding="utf-8"?>
<p:tagLst xmlns:a="http://schemas.openxmlformats.org/drawingml/2006/main" xmlns:r="http://schemas.openxmlformats.org/officeDocument/2006/relationships" xmlns:p="http://schemas.openxmlformats.org/presentationml/2006/main">
  <p:tag name="TIMING" val="|23.3|22|25.1|12.1"/>
</p:tagLst>
</file>

<file path=ppt/tags/tag8.xml><?xml version="1.0" encoding="utf-8"?>
<p:tagLst xmlns:a="http://schemas.openxmlformats.org/drawingml/2006/main" xmlns:r="http://schemas.openxmlformats.org/officeDocument/2006/relationships" xmlns:p="http://schemas.openxmlformats.org/presentationml/2006/main">
  <p:tag name="TIMING" val="|12.5|10.6|9.7"/>
</p:tagLst>
</file>

<file path=ppt/tags/tag9.xml><?xml version="1.0" encoding="utf-8"?>
<p:tagLst xmlns:a="http://schemas.openxmlformats.org/drawingml/2006/main" xmlns:r="http://schemas.openxmlformats.org/officeDocument/2006/relationships" xmlns:p="http://schemas.openxmlformats.org/presentationml/2006/main">
  <p:tag name="TIMING" val="|30.6|1.5|17.2|12.5|2.2|12.3|7.5|24.6|27.3"/>
</p:tagLst>
</file>

<file path=ppt/tags/tag10.xml><?xml version="1.0" encoding="utf-8"?>
<p:tagLst xmlns:a="http://schemas.openxmlformats.org/drawingml/2006/main" xmlns:r="http://schemas.openxmlformats.org/officeDocument/2006/relationships" xmlns:p="http://schemas.openxmlformats.org/presentationml/2006/main">
  <p:tag name="TIMING" val="|17.5|27.5"/>
</p:tagLst>
</file>

<file path=ppt/tags/tag11.xml><?xml version="1.0" encoding="utf-8"?>
<p:tagLst xmlns:a="http://schemas.openxmlformats.org/drawingml/2006/main" xmlns:r="http://schemas.openxmlformats.org/officeDocument/2006/relationships" xmlns:p="http://schemas.openxmlformats.org/presentationml/2006/main">
  <p:tag name="TIMING" val="|5.8|0.7|0.7|0.7|0.5|5.4|14.6|1|8.2|3.1|18.9"/>
</p:tagLst>
</file>

<file path=ppt/tags/tag12.xml><?xml version="1.0" encoding="utf-8"?>
<p:tagLst xmlns:a="http://schemas.openxmlformats.org/drawingml/2006/main" xmlns:r="http://schemas.openxmlformats.org/officeDocument/2006/relationships" xmlns:p="http://schemas.openxmlformats.org/presentationml/2006/main">
  <p:tag name="TIMING" val="|0.4|7|8|3.9"/>
</p:tagLst>
</file>

<file path=ppt/tags/tag13.xml><?xml version="1.0" encoding="utf-8"?>
<p:tagLst xmlns:a="http://schemas.openxmlformats.org/drawingml/2006/main" xmlns:r="http://schemas.openxmlformats.org/officeDocument/2006/relationships" xmlns:p="http://schemas.openxmlformats.org/presentationml/2006/main">
  <p:tag name="TIMING" val="|7.3|0.6|0.8|1.2|0.6|0.6|0.8"/>
</p:tagLst>
</file>

<file path=ppt/tags/tag14.xml><?xml version="1.0" encoding="utf-8"?>
<p:tagLst xmlns:a="http://schemas.openxmlformats.org/drawingml/2006/main" xmlns:r="http://schemas.openxmlformats.org/officeDocument/2006/relationships" xmlns:p="http://schemas.openxmlformats.org/presentationml/2006/main">
  <p:tag name="TIMING" val="|32.3|6.1|1.9|5.9|5.9|5.1|7|5.1|13.1|6.5|1.1|1.9"/>
</p:tagLst>
</file>

<file path=ppt/tags/tag15.xml><?xml version="1.0" encoding="utf-8"?>
<p:tagLst xmlns:a="http://schemas.openxmlformats.org/drawingml/2006/main" xmlns:r="http://schemas.openxmlformats.org/officeDocument/2006/relationships" xmlns:p="http://schemas.openxmlformats.org/presentationml/2006/main">
  <p:tag name="TIMING" val="|3.7|17.4|7.2|11.4|8.7"/>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206TGp_winter_light</Template>
  <TotalTime>1118</TotalTime>
  <Words>1241</Words>
  <Application>Microsoft Office PowerPoint</Application>
  <PresentationFormat>宽屏</PresentationFormat>
  <Paragraphs>148</Paragraphs>
  <Slides>18</Slides>
  <Notes>7</Notes>
  <HiddenSlides>0</HiddenSlides>
  <MMClips>1</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3</vt:i4>
      </vt:variant>
      <vt:variant>
        <vt:lpstr>幻灯片标题</vt:lpstr>
      </vt:variant>
      <vt:variant>
        <vt:i4>18</vt:i4>
      </vt:variant>
    </vt:vector>
  </HeadingPairs>
  <TitlesOfParts>
    <vt:vector size="34" baseType="lpstr">
      <vt:lpstr>宋体</vt:lpstr>
      <vt:lpstr>微软雅黑</vt:lpstr>
      <vt:lpstr>Arial</vt:lpstr>
      <vt:lpstr>Arial Black</vt:lpstr>
      <vt:lpstr>Calibri</vt:lpstr>
      <vt:lpstr>Calibri Light</vt:lpstr>
      <vt:lpstr>Cambria Math</vt:lpstr>
      <vt:lpstr>Tahoma</vt:lpstr>
      <vt:lpstr>Times New Roman</vt:lpstr>
      <vt:lpstr>Verdana</vt:lpstr>
      <vt:lpstr>Wingdings</vt:lpstr>
      <vt:lpstr>Office 主题​​</vt:lpstr>
      <vt:lpstr>1_Office 主题​​</vt:lpstr>
      <vt:lpstr>CS ChemDraw Drawing</vt:lpstr>
      <vt:lpstr>Equation.DSMT4</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   标准溶液</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JLU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Huang Zhenzhen</dc:creator>
  <cp:lastModifiedBy> </cp:lastModifiedBy>
  <cp:revision>670</cp:revision>
  <dcterms:created xsi:type="dcterms:W3CDTF">2015-02-27T12:54:00Z</dcterms:created>
  <dcterms:modified xsi:type="dcterms:W3CDTF">2026-03-18T08:41:46Z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385CB4252336478AA9FE81B24FF149D5</vt:lpwstr>
  </property>
  <property fmtid="{D5CDD505-2E9C-101B-9397-08002B2CF9AE}" pid="3" name="KSOProductBuildVer">
    <vt:lpwstr>2052-11.1.0.10314</vt:lpwstr>
  </property>
</Properties>
</file>